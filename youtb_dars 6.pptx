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Oswald" panose="020F0502020204030204" pitchFamily="2" charset="-52"/>
      <p:regular r:id="rId10"/>
    </p:embeddedFont>
    <p:embeddedFont>
      <p:font typeface="Oswald Bold" panose="020B0604020202020204" charset="-52"/>
      <p:regular r:id="rId11"/>
    </p:embeddedFont>
    <p:embeddedFont>
      <p:font typeface="Poppi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ln w="19050" cap="rnd">
              <a:solidFill>
                <a:srgbClr val="CD4146"/>
              </a:solidFill>
              <a:prstDash val="solid"/>
              <a:round/>
            </a:ln>
          </p:spPr>
          <p:txBody>
            <a:bodyPr/>
            <a:lstStyle/>
            <a:p>
              <a:endParaRPr lang="en-US"/>
            </a:p>
          </p:txBody>
        </p:sp>
        <p:sp>
          <p:nvSpPr>
            <p:cNvPr id="5" name="TextBox 5"/>
            <p:cNvSpPr txBox="1"/>
            <p:nvPr/>
          </p:nvSpPr>
          <p:spPr>
            <a:xfrm>
              <a:off x="0" y="-57150"/>
              <a:ext cx="4274726" cy="2224617"/>
            </a:xfrm>
            <a:prstGeom prst="rect">
              <a:avLst/>
            </a:prstGeom>
          </p:spPr>
          <p:txBody>
            <a:bodyPr lIns="50800" tIns="50800" rIns="50800" bIns="50800" rtlCol="0" anchor="ctr"/>
            <a:lstStyle/>
            <a:p>
              <a:pPr algn="ctr">
                <a:lnSpc>
                  <a:spcPts val="2940"/>
                </a:lnSpc>
              </a:pPr>
              <a:endParaRPr/>
            </a:p>
          </p:txBody>
        </p:sp>
      </p:grpSp>
      <p:sp>
        <p:nvSpPr>
          <p:cNvPr id="6" name="Freeform 6"/>
          <p:cNvSpPr/>
          <p:nvPr/>
        </p:nvSpPr>
        <p:spPr>
          <a:xfrm>
            <a:off x="9495491" y="1210179"/>
            <a:ext cx="7763809" cy="7650469"/>
          </a:xfrm>
          <a:custGeom>
            <a:avLst/>
            <a:gdLst/>
            <a:ahLst/>
            <a:cxnLst/>
            <a:rect l="l" t="t" r="r" b="b"/>
            <a:pathLst>
              <a:path w="7763809" h="7650469">
                <a:moveTo>
                  <a:pt x="0" y="0"/>
                </a:moveTo>
                <a:lnTo>
                  <a:pt x="7763809" y="0"/>
                </a:lnTo>
                <a:lnTo>
                  <a:pt x="7763809" y="7650469"/>
                </a:lnTo>
                <a:lnTo>
                  <a:pt x="0" y="76504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1418346" y="2546981"/>
            <a:ext cx="4321642" cy="6189852"/>
          </a:xfrm>
          <a:custGeom>
            <a:avLst/>
            <a:gdLst/>
            <a:ahLst/>
            <a:cxnLst/>
            <a:rect l="l" t="t" r="r" b="b"/>
            <a:pathLst>
              <a:path w="4321642" h="6189852">
                <a:moveTo>
                  <a:pt x="0" y="0"/>
                </a:moveTo>
                <a:lnTo>
                  <a:pt x="4321642" y="0"/>
                </a:lnTo>
                <a:lnTo>
                  <a:pt x="4321642" y="6189852"/>
                </a:lnTo>
                <a:lnTo>
                  <a:pt x="0" y="618985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1943279" y="2780483"/>
            <a:ext cx="9475067" cy="2593041"/>
          </a:xfrm>
          <a:prstGeom prst="rect">
            <a:avLst/>
          </a:prstGeom>
        </p:spPr>
        <p:txBody>
          <a:bodyPr lIns="0" tIns="0" rIns="0" bIns="0" rtlCol="0" anchor="t">
            <a:spAutoFit/>
          </a:bodyPr>
          <a:lstStyle/>
          <a:p>
            <a:pPr marL="0" lvl="0" indent="0" algn="l">
              <a:lnSpc>
                <a:spcPts val="10058"/>
              </a:lnSpc>
            </a:pPr>
            <a:r>
              <a:rPr lang="en-US" sz="9579" b="1">
                <a:solidFill>
                  <a:srgbClr val="CD4146"/>
                </a:solidFill>
                <a:latin typeface="Oswald Bold"/>
                <a:ea typeface="Oswald Bold"/>
                <a:cs typeface="Oswald Bold"/>
                <a:sym typeface="Oswald Bold"/>
              </a:rPr>
              <a:t>BUILT-IN FUNCTIONS</a:t>
            </a:r>
          </a:p>
        </p:txBody>
      </p:sp>
      <p:sp>
        <p:nvSpPr>
          <p:cNvPr id="9" name="TextBox 9"/>
          <p:cNvSpPr txBox="1"/>
          <p:nvPr/>
        </p:nvSpPr>
        <p:spPr>
          <a:xfrm>
            <a:off x="1943279" y="6928438"/>
            <a:ext cx="9100628" cy="726097"/>
          </a:xfrm>
          <a:prstGeom prst="rect">
            <a:avLst/>
          </a:prstGeom>
        </p:spPr>
        <p:txBody>
          <a:bodyPr lIns="0" tIns="0" rIns="0" bIns="0" rtlCol="0" anchor="t">
            <a:spAutoFit/>
          </a:bodyPr>
          <a:lstStyle/>
          <a:p>
            <a:pPr algn="l">
              <a:lnSpc>
                <a:spcPts val="5653"/>
              </a:lnSpc>
            </a:pPr>
            <a:r>
              <a:rPr lang="en-US" sz="4038" b="1">
                <a:solidFill>
                  <a:srgbClr val="CD4146"/>
                </a:solidFill>
                <a:latin typeface="Poppins Bold"/>
                <a:ea typeface="Poppins Bold"/>
                <a:cs typeface="Poppins Bold"/>
                <a:sym typeface="Poppins Bold"/>
              </a:rPr>
              <a:t>6- dars</a:t>
            </a: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4551487" y="7961893"/>
            <a:ext cx="5415627" cy="5336567"/>
          </a:xfrm>
          <a:custGeom>
            <a:avLst/>
            <a:gdLst/>
            <a:ahLst/>
            <a:cxnLst/>
            <a:rect l="l" t="t" r="r" b="b"/>
            <a:pathLst>
              <a:path w="5415627" h="5336567">
                <a:moveTo>
                  <a:pt x="0" y="0"/>
                </a:moveTo>
                <a:lnTo>
                  <a:pt x="5415626" y="0"/>
                </a:lnTo>
                <a:lnTo>
                  <a:pt x="5415626" y="5336567"/>
                </a:lnTo>
                <a:lnTo>
                  <a:pt x="0" y="53365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2406899" y="3213509"/>
            <a:ext cx="13474202" cy="5601781"/>
            <a:chOff x="0" y="0"/>
            <a:chExt cx="3548761" cy="1475366"/>
          </a:xfrm>
        </p:grpSpPr>
        <p:sp>
          <p:nvSpPr>
            <p:cNvPr id="5" name="Freeform 5"/>
            <p:cNvSpPr/>
            <p:nvPr/>
          </p:nvSpPr>
          <p:spPr>
            <a:xfrm>
              <a:off x="0" y="0"/>
              <a:ext cx="3548761" cy="1475366"/>
            </a:xfrm>
            <a:custGeom>
              <a:avLst/>
              <a:gdLst/>
              <a:ahLst/>
              <a:cxnLst/>
              <a:rect l="l" t="t" r="r" b="b"/>
              <a:pathLst>
                <a:path w="3548761" h="1475366">
                  <a:moveTo>
                    <a:pt x="29303" y="0"/>
                  </a:moveTo>
                  <a:lnTo>
                    <a:pt x="3519458" y="0"/>
                  </a:lnTo>
                  <a:cubicBezTo>
                    <a:pt x="3527229" y="0"/>
                    <a:pt x="3534683" y="3087"/>
                    <a:pt x="3540178" y="8583"/>
                  </a:cubicBezTo>
                  <a:cubicBezTo>
                    <a:pt x="3545673" y="14078"/>
                    <a:pt x="3548761" y="21532"/>
                    <a:pt x="3548761" y="29303"/>
                  </a:cubicBezTo>
                  <a:lnTo>
                    <a:pt x="3548761" y="1446063"/>
                  </a:lnTo>
                  <a:cubicBezTo>
                    <a:pt x="3548761" y="1453835"/>
                    <a:pt x="3545673" y="1461288"/>
                    <a:pt x="3540178" y="1466783"/>
                  </a:cubicBezTo>
                  <a:cubicBezTo>
                    <a:pt x="3534683" y="1472279"/>
                    <a:pt x="3527229" y="1475366"/>
                    <a:pt x="3519458" y="1475366"/>
                  </a:cubicBezTo>
                  <a:lnTo>
                    <a:pt x="29303" y="1475366"/>
                  </a:lnTo>
                  <a:cubicBezTo>
                    <a:pt x="21532" y="1475366"/>
                    <a:pt x="14078" y="1472279"/>
                    <a:pt x="8583" y="1466783"/>
                  </a:cubicBezTo>
                  <a:cubicBezTo>
                    <a:pt x="3087" y="1461288"/>
                    <a:pt x="0" y="1453835"/>
                    <a:pt x="0" y="1446063"/>
                  </a:cubicBezTo>
                  <a:lnTo>
                    <a:pt x="0" y="29303"/>
                  </a:lnTo>
                  <a:cubicBezTo>
                    <a:pt x="0" y="21532"/>
                    <a:pt x="3087" y="14078"/>
                    <a:pt x="8583" y="8583"/>
                  </a:cubicBezTo>
                  <a:cubicBezTo>
                    <a:pt x="14078" y="3087"/>
                    <a:pt x="21532" y="0"/>
                    <a:pt x="29303" y="0"/>
                  </a:cubicBezTo>
                  <a:close/>
                </a:path>
              </a:pathLst>
            </a:custGeom>
            <a:ln w="19050" cap="rnd">
              <a:solidFill>
                <a:srgbClr val="CD4146"/>
              </a:solidFill>
              <a:prstDash val="solid"/>
              <a:round/>
            </a:ln>
          </p:spPr>
          <p:txBody>
            <a:bodyPr/>
            <a:lstStyle/>
            <a:p>
              <a:endParaRPr lang="en-US"/>
            </a:p>
          </p:txBody>
        </p:sp>
        <p:sp>
          <p:nvSpPr>
            <p:cNvPr id="6" name="TextBox 6"/>
            <p:cNvSpPr txBox="1"/>
            <p:nvPr/>
          </p:nvSpPr>
          <p:spPr>
            <a:xfrm>
              <a:off x="0" y="-57150"/>
              <a:ext cx="3548761" cy="1532516"/>
            </a:xfrm>
            <a:prstGeom prst="rect">
              <a:avLst/>
            </a:prstGeom>
          </p:spPr>
          <p:txBody>
            <a:bodyPr lIns="50800" tIns="50800" rIns="50800" bIns="50800" rtlCol="0" anchor="ctr"/>
            <a:lstStyle/>
            <a:p>
              <a:pPr algn="ctr">
                <a:lnSpc>
                  <a:spcPts val="2940"/>
                </a:lnSpc>
              </a:pPr>
              <a:endParaRPr/>
            </a:p>
          </p:txBody>
        </p:sp>
      </p:grpSp>
      <p:sp>
        <p:nvSpPr>
          <p:cNvPr id="7" name="Freeform 7"/>
          <p:cNvSpPr/>
          <p:nvPr/>
        </p:nvSpPr>
        <p:spPr>
          <a:xfrm>
            <a:off x="2776591" y="3724084"/>
            <a:ext cx="5751935" cy="4580632"/>
          </a:xfrm>
          <a:custGeom>
            <a:avLst/>
            <a:gdLst/>
            <a:ahLst/>
            <a:cxnLst/>
            <a:rect l="l" t="t" r="r" b="b"/>
            <a:pathLst>
              <a:path w="5751935" h="4580632">
                <a:moveTo>
                  <a:pt x="0" y="0"/>
                </a:moveTo>
                <a:lnTo>
                  <a:pt x="5751935" y="0"/>
                </a:lnTo>
                <a:lnTo>
                  <a:pt x="5751935" y="4580632"/>
                </a:lnTo>
                <a:lnTo>
                  <a:pt x="0" y="45806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AutoShape 8"/>
          <p:cNvSpPr/>
          <p:nvPr/>
        </p:nvSpPr>
        <p:spPr>
          <a:xfrm flipH="1" flipV="1">
            <a:off x="9134475" y="3213509"/>
            <a:ext cx="9525" cy="5601781"/>
          </a:xfrm>
          <a:prstGeom prst="line">
            <a:avLst/>
          </a:prstGeom>
          <a:ln w="19050" cap="flat">
            <a:solidFill>
              <a:srgbClr val="CD4146"/>
            </a:solidFill>
            <a:prstDash val="solid"/>
            <a:headEnd type="none" w="sm" len="sm"/>
            <a:tailEnd type="none" w="sm" len="sm"/>
          </a:ln>
        </p:spPr>
        <p:txBody>
          <a:bodyPr/>
          <a:lstStyle/>
          <a:p>
            <a:endParaRPr lang="en-US"/>
          </a:p>
        </p:txBody>
      </p:sp>
      <p:sp>
        <p:nvSpPr>
          <p:cNvPr id="9" name="TextBox 9"/>
          <p:cNvSpPr txBox="1"/>
          <p:nvPr/>
        </p:nvSpPr>
        <p:spPr>
          <a:xfrm>
            <a:off x="4295549" y="1382464"/>
            <a:ext cx="9696902" cy="1157569"/>
          </a:xfrm>
          <a:prstGeom prst="rect">
            <a:avLst/>
          </a:prstGeom>
        </p:spPr>
        <p:txBody>
          <a:bodyPr lIns="0" tIns="0" rIns="0" bIns="0" rtlCol="0" anchor="t">
            <a:spAutoFit/>
          </a:bodyPr>
          <a:lstStyle/>
          <a:p>
            <a:pPr algn="ctr">
              <a:lnSpc>
                <a:spcPts val="9545"/>
              </a:lnSpc>
            </a:pPr>
            <a:r>
              <a:rPr lang="en-US" sz="6818" b="1">
                <a:solidFill>
                  <a:srgbClr val="CD4146"/>
                </a:solidFill>
                <a:latin typeface="Oswald Bold"/>
                <a:ea typeface="Oswald Bold"/>
                <a:cs typeface="Oswald Bold"/>
                <a:sym typeface="Oswald Bold"/>
              </a:rPr>
              <a:t>Built-in Functions</a:t>
            </a:r>
          </a:p>
        </p:txBody>
      </p:sp>
      <p:sp>
        <p:nvSpPr>
          <p:cNvPr id="10" name="TextBox 10"/>
          <p:cNvSpPr txBox="1"/>
          <p:nvPr/>
        </p:nvSpPr>
        <p:spPr>
          <a:xfrm>
            <a:off x="9626779" y="4000232"/>
            <a:ext cx="5763110" cy="5260975"/>
          </a:xfrm>
          <a:prstGeom prst="rect">
            <a:avLst/>
          </a:prstGeom>
        </p:spPr>
        <p:txBody>
          <a:bodyPr lIns="0" tIns="0" rIns="0" bIns="0" rtlCol="0" anchor="t">
            <a:spAutoFit/>
          </a:bodyPr>
          <a:lstStyle/>
          <a:p>
            <a:pPr algn="just">
              <a:lnSpc>
                <a:spcPts val="3499"/>
              </a:lnSpc>
            </a:pPr>
            <a:r>
              <a:rPr lang="en-US" sz="2499" b="1">
                <a:solidFill>
                  <a:srgbClr val="0A0147"/>
                </a:solidFill>
                <a:latin typeface="Poppins Bold"/>
                <a:ea typeface="Poppins Bold"/>
                <a:cs typeface="Poppins Bold"/>
                <a:sym typeface="Poppins Bold"/>
              </a:rPr>
              <a:t>Built-in Functions — bu PostgreSQL ichida oldindan yaratilgan tayyor funksiyalar bo‘lib, ular hisob-kitob qilish, matnlarni qayta ishlash va ma’lumotlarni tahlil qilishda qo‘llaniladi. Bu funksiyalar dasturchiga vaqtni tejash va kodni soddalashtirish imkonini beradi.</a:t>
            </a:r>
          </a:p>
          <a:p>
            <a:pPr algn="just">
              <a:lnSpc>
                <a:spcPts val="3499"/>
              </a:lnSpc>
            </a:pPr>
            <a:endParaRPr lang="en-US" sz="2499" b="1">
              <a:solidFill>
                <a:srgbClr val="0A0147"/>
              </a:solidFill>
              <a:latin typeface="Poppins Bold"/>
              <a:ea typeface="Poppins Bold"/>
              <a:cs typeface="Poppins Bold"/>
              <a:sym typeface="Poppins Bold"/>
            </a:endParaRPr>
          </a:p>
          <a:p>
            <a:pPr algn="just">
              <a:lnSpc>
                <a:spcPts val="3499"/>
              </a:lnSpc>
            </a:pPr>
            <a:endParaRPr lang="en-US" sz="2499" b="1">
              <a:solidFill>
                <a:srgbClr val="0A0147"/>
              </a:solidFill>
              <a:latin typeface="Poppins Bold"/>
              <a:ea typeface="Poppins Bold"/>
              <a:cs typeface="Poppins Bold"/>
              <a:sym typeface="Poppins Bold"/>
            </a:endParaRPr>
          </a:p>
          <a:p>
            <a:pPr algn="just">
              <a:lnSpc>
                <a:spcPts val="3499"/>
              </a:lnSpc>
            </a:pPr>
            <a:endParaRPr lang="en-US" sz="2499" b="1">
              <a:solidFill>
                <a:srgbClr val="0A0147"/>
              </a:solidFill>
              <a:latin typeface="Poppins Bold"/>
              <a:ea typeface="Poppins Bold"/>
              <a:cs typeface="Poppins Bold"/>
              <a:sym typeface="Poppins Bold"/>
            </a:endParaRPr>
          </a:p>
          <a:p>
            <a:pPr algn="just">
              <a:lnSpc>
                <a:spcPts val="3499"/>
              </a:lnSpc>
            </a:pPr>
            <a:endParaRPr lang="en-US" sz="2499" b="1">
              <a:solidFill>
                <a:srgbClr val="0A0147"/>
              </a:solidFill>
              <a:latin typeface="Poppins Bold"/>
              <a:ea typeface="Poppins Bold"/>
              <a:cs typeface="Poppins Bold"/>
              <a:sym typeface="Poppins Bold"/>
            </a:endParaRPr>
          </a:p>
        </p:txBody>
      </p:sp>
      <p:sp>
        <p:nvSpPr>
          <p:cNvPr id="11" name="Freeform 11"/>
          <p:cNvSpPr/>
          <p:nvPr/>
        </p:nvSpPr>
        <p:spPr>
          <a:xfrm>
            <a:off x="-2639035" y="-2668283"/>
            <a:ext cx="5415627" cy="5336567"/>
          </a:xfrm>
          <a:custGeom>
            <a:avLst/>
            <a:gdLst/>
            <a:ahLst/>
            <a:cxnLst/>
            <a:rect l="l" t="t" r="r" b="b"/>
            <a:pathLst>
              <a:path w="5415627" h="5336567">
                <a:moveTo>
                  <a:pt x="0" y="0"/>
                </a:moveTo>
                <a:lnTo>
                  <a:pt x="5415626" y="0"/>
                </a:lnTo>
                <a:lnTo>
                  <a:pt x="5415626" y="5336566"/>
                </a:lnTo>
                <a:lnTo>
                  <a:pt x="0" y="53365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4467170" y="-3194657"/>
            <a:ext cx="6637037" cy="6540146"/>
          </a:xfrm>
          <a:custGeom>
            <a:avLst/>
            <a:gdLst/>
            <a:ahLst/>
            <a:cxnLst/>
            <a:rect l="l" t="t" r="r" b="b"/>
            <a:pathLst>
              <a:path w="6637037" h="6540146">
                <a:moveTo>
                  <a:pt x="0" y="0"/>
                </a:moveTo>
                <a:lnTo>
                  <a:pt x="6637037" y="0"/>
                </a:lnTo>
                <a:lnTo>
                  <a:pt x="6637037" y="6540146"/>
                </a:lnTo>
                <a:lnTo>
                  <a:pt x="0" y="65401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4388608" y="6714885"/>
            <a:ext cx="6637037" cy="6540146"/>
          </a:xfrm>
          <a:custGeom>
            <a:avLst/>
            <a:gdLst/>
            <a:ahLst/>
            <a:cxnLst/>
            <a:rect l="l" t="t" r="r" b="b"/>
            <a:pathLst>
              <a:path w="6637037" h="6540146">
                <a:moveTo>
                  <a:pt x="0" y="0"/>
                </a:moveTo>
                <a:lnTo>
                  <a:pt x="6637037" y="0"/>
                </a:lnTo>
                <a:lnTo>
                  <a:pt x="6637037" y="6540146"/>
                </a:lnTo>
                <a:lnTo>
                  <a:pt x="0" y="65401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813433" y="1028700"/>
            <a:ext cx="16661135" cy="8229600"/>
            <a:chOff x="0" y="0"/>
            <a:chExt cx="4388118" cy="2167467"/>
          </a:xfrm>
        </p:grpSpPr>
        <p:sp>
          <p:nvSpPr>
            <p:cNvPr id="6" name="Freeform 6"/>
            <p:cNvSpPr/>
            <p:nvPr/>
          </p:nvSpPr>
          <p:spPr>
            <a:xfrm>
              <a:off x="0" y="0"/>
              <a:ext cx="4388118" cy="2167467"/>
            </a:xfrm>
            <a:custGeom>
              <a:avLst/>
              <a:gdLst/>
              <a:ahLst/>
              <a:cxnLst/>
              <a:rect l="l" t="t" r="r" b="b"/>
              <a:pathLst>
                <a:path w="4388118" h="2167467">
                  <a:moveTo>
                    <a:pt x="23698" y="0"/>
                  </a:moveTo>
                  <a:lnTo>
                    <a:pt x="4364420" y="0"/>
                  </a:lnTo>
                  <a:cubicBezTo>
                    <a:pt x="4370705" y="0"/>
                    <a:pt x="4376732" y="2497"/>
                    <a:pt x="4381177" y="6941"/>
                  </a:cubicBezTo>
                  <a:cubicBezTo>
                    <a:pt x="4385621" y="11385"/>
                    <a:pt x="4388118" y="17413"/>
                    <a:pt x="4388118" y="23698"/>
                  </a:cubicBezTo>
                  <a:lnTo>
                    <a:pt x="4388118" y="2143769"/>
                  </a:lnTo>
                  <a:cubicBezTo>
                    <a:pt x="4388118" y="2156857"/>
                    <a:pt x="4377508" y="2167467"/>
                    <a:pt x="4364420" y="2167467"/>
                  </a:cubicBezTo>
                  <a:lnTo>
                    <a:pt x="23698" y="2167467"/>
                  </a:lnTo>
                  <a:cubicBezTo>
                    <a:pt x="17413" y="2167467"/>
                    <a:pt x="11385" y="2164970"/>
                    <a:pt x="6941" y="2160526"/>
                  </a:cubicBezTo>
                  <a:cubicBezTo>
                    <a:pt x="2497" y="2156081"/>
                    <a:pt x="0" y="2150054"/>
                    <a:pt x="0" y="2143769"/>
                  </a:cubicBezTo>
                  <a:lnTo>
                    <a:pt x="0" y="23698"/>
                  </a:lnTo>
                  <a:cubicBezTo>
                    <a:pt x="0" y="10610"/>
                    <a:pt x="10610" y="0"/>
                    <a:pt x="23698" y="0"/>
                  </a:cubicBezTo>
                  <a:close/>
                </a:path>
              </a:pathLst>
            </a:custGeom>
            <a:ln w="19050" cap="rnd">
              <a:solidFill>
                <a:srgbClr val="CD4146"/>
              </a:solidFill>
              <a:prstDash val="solid"/>
              <a:round/>
            </a:ln>
          </p:spPr>
          <p:txBody>
            <a:bodyPr/>
            <a:lstStyle/>
            <a:p>
              <a:endParaRPr lang="en-US"/>
            </a:p>
          </p:txBody>
        </p:sp>
        <p:sp>
          <p:nvSpPr>
            <p:cNvPr id="7" name="TextBox 7"/>
            <p:cNvSpPr txBox="1"/>
            <p:nvPr/>
          </p:nvSpPr>
          <p:spPr>
            <a:xfrm>
              <a:off x="0" y="-57150"/>
              <a:ext cx="4388118" cy="2224617"/>
            </a:xfrm>
            <a:prstGeom prst="rect">
              <a:avLst/>
            </a:prstGeom>
          </p:spPr>
          <p:txBody>
            <a:bodyPr lIns="50800" tIns="50800" rIns="50800" bIns="50800" rtlCol="0" anchor="ctr"/>
            <a:lstStyle/>
            <a:p>
              <a:pPr algn="ctr">
                <a:lnSpc>
                  <a:spcPts val="2940"/>
                </a:lnSpc>
              </a:pPr>
              <a:endParaRPr/>
            </a:p>
          </p:txBody>
        </p:sp>
      </p:grpSp>
      <p:sp>
        <p:nvSpPr>
          <p:cNvPr id="8" name="TextBox 8"/>
          <p:cNvSpPr txBox="1"/>
          <p:nvPr/>
        </p:nvSpPr>
        <p:spPr>
          <a:xfrm>
            <a:off x="4295549" y="1481728"/>
            <a:ext cx="9696902" cy="1169841"/>
          </a:xfrm>
          <a:prstGeom prst="rect">
            <a:avLst/>
          </a:prstGeom>
        </p:spPr>
        <p:txBody>
          <a:bodyPr lIns="0" tIns="0" rIns="0" bIns="0" rtlCol="0" anchor="t">
            <a:spAutoFit/>
          </a:bodyPr>
          <a:lstStyle/>
          <a:p>
            <a:pPr marL="0" lvl="0" indent="0" algn="ctr">
              <a:lnSpc>
                <a:spcPts val="9545"/>
              </a:lnSpc>
              <a:spcBef>
                <a:spcPct val="0"/>
              </a:spcBef>
            </a:pPr>
            <a:r>
              <a:rPr lang="en-US" sz="6818">
                <a:solidFill>
                  <a:srgbClr val="CD4146"/>
                </a:solidFill>
                <a:latin typeface="Oswald"/>
                <a:ea typeface="Oswald"/>
                <a:cs typeface="Oswald"/>
                <a:sym typeface="Oswald"/>
              </a:rPr>
              <a:t>Stirng funksiyalar</a:t>
            </a:r>
          </a:p>
        </p:txBody>
      </p:sp>
      <p:sp>
        <p:nvSpPr>
          <p:cNvPr id="9" name="TextBox 9"/>
          <p:cNvSpPr txBox="1"/>
          <p:nvPr/>
        </p:nvSpPr>
        <p:spPr>
          <a:xfrm>
            <a:off x="1908029" y="4326564"/>
            <a:ext cx="6892953" cy="3946525"/>
          </a:xfrm>
          <a:prstGeom prst="rect">
            <a:avLst/>
          </a:prstGeom>
        </p:spPr>
        <p:txBody>
          <a:bodyPr lIns="0" tIns="0" rIns="0" bIns="0" rtlCol="0" anchor="t">
            <a:spAutoFit/>
          </a:bodyPr>
          <a:lstStyle/>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LEFT() — chap tomondan kesib oladi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RIGHT() — o‘ng tomondan kesib oladi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SUBSTRING() — matn ichidan qism oladi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TRIM() — bo‘sh joylarni olib tashlaydi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CONCAT() — matnlarni birlashtiradi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INITCAP() — har so‘z bosh harfini katta qiladi</a:t>
            </a:r>
          </a:p>
          <a:p>
            <a:pPr algn="just">
              <a:lnSpc>
                <a:spcPts val="3499"/>
              </a:lnSpc>
            </a:pPr>
            <a:endParaRPr lang="en-US" sz="2499" b="1">
              <a:solidFill>
                <a:srgbClr val="0A0147"/>
              </a:solidFill>
              <a:latin typeface="Poppins Bold"/>
              <a:ea typeface="Poppins Bold"/>
              <a:cs typeface="Poppins Bold"/>
              <a:sym typeface="Poppins Bold"/>
            </a:endParaRPr>
          </a:p>
        </p:txBody>
      </p:sp>
      <p:sp>
        <p:nvSpPr>
          <p:cNvPr id="10" name="TextBox 10"/>
          <p:cNvSpPr txBox="1"/>
          <p:nvPr/>
        </p:nvSpPr>
        <p:spPr>
          <a:xfrm>
            <a:off x="10447255" y="3884188"/>
            <a:ext cx="6300223" cy="3946525"/>
          </a:xfrm>
          <a:prstGeom prst="rect">
            <a:avLst/>
          </a:prstGeom>
        </p:spPr>
        <p:txBody>
          <a:bodyPr lIns="0" tIns="0" rIns="0" bIns="0" rtlCol="0" anchor="t">
            <a:spAutoFit/>
          </a:bodyPr>
          <a:lstStyle/>
          <a:p>
            <a:pPr algn="just">
              <a:lnSpc>
                <a:spcPts val="3499"/>
              </a:lnSpc>
            </a:pPr>
            <a:endParaRPr/>
          </a:p>
          <a:p>
            <a:pPr algn="just">
              <a:lnSpc>
                <a:spcPts val="3499"/>
              </a:lnSpc>
            </a:pPr>
            <a:r>
              <a:rPr lang="en-US" sz="2499" b="1">
                <a:solidFill>
                  <a:srgbClr val="0A0147"/>
                </a:solidFill>
                <a:latin typeface="Poppins Bold"/>
                <a:ea typeface="Poppins Bold"/>
                <a:cs typeface="Poppins Bold"/>
                <a:sym typeface="Poppins Bold"/>
              </a:rPr>
              <a:t>SELECT full_name, TRIM(full_name)</a:t>
            </a:r>
          </a:p>
          <a:p>
            <a:pPr algn="just">
              <a:lnSpc>
                <a:spcPts val="3499"/>
              </a:lnSpc>
            </a:pPr>
            <a:r>
              <a:rPr lang="en-US" sz="2499" b="1">
                <a:solidFill>
                  <a:srgbClr val="0A0147"/>
                </a:solidFill>
                <a:latin typeface="Poppins Bold"/>
                <a:ea typeface="Poppins Bold"/>
                <a:cs typeface="Poppins Bold"/>
                <a:sym typeface="Poppins Bold"/>
              </a:rPr>
              <a:t>SELECT email, RIGHT(email, 10)</a:t>
            </a:r>
          </a:p>
          <a:p>
            <a:pPr algn="just">
              <a:lnSpc>
                <a:spcPts val="3499"/>
              </a:lnSpc>
            </a:pPr>
            <a:r>
              <a:rPr lang="en-US" sz="2499" b="1">
                <a:solidFill>
                  <a:srgbClr val="0A0147"/>
                </a:solidFill>
                <a:latin typeface="Poppins Bold"/>
                <a:ea typeface="Poppins Bold"/>
                <a:cs typeface="Poppins Bold"/>
                <a:sym typeface="Poppins Bold"/>
              </a:rPr>
              <a:t>SELECT REPLACE('salom dunyo', 'dunyo', 'olam');</a:t>
            </a:r>
          </a:p>
          <a:p>
            <a:pPr algn="just">
              <a:lnSpc>
                <a:spcPts val="3499"/>
              </a:lnSpc>
            </a:pPr>
            <a:r>
              <a:rPr lang="en-US" sz="2499" b="1">
                <a:solidFill>
                  <a:srgbClr val="0A0147"/>
                </a:solidFill>
                <a:latin typeface="Poppins Bold"/>
                <a:ea typeface="Poppins Bold"/>
                <a:cs typeface="Poppins Bold"/>
                <a:sym typeface="Poppins Bold"/>
              </a:rPr>
              <a:t>SELECT TRIM(' ali ');</a:t>
            </a:r>
          </a:p>
          <a:p>
            <a:pPr algn="just">
              <a:lnSpc>
                <a:spcPts val="3499"/>
              </a:lnSpc>
            </a:pPr>
            <a:r>
              <a:rPr lang="en-US" sz="2499" b="1">
                <a:solidFill>
                  <a:srgbClr val="0A0147"/>
                </a:solidFill>
                <a:latin typeface="Poppins Bold"/>
                <a:ea typeface="Poppins Bold"/>
                <a:cs typeface="Poppins Bold"/>
                <a:sym typeface="Poppins Bold"/>
              </a:rPr>
              <a:t>SELECT SUBSTRING('postgres' FROM 2 FOR 4)</a:t>
            </a:r>
          </a:p>
          <a:p>
            <a:pPr algn="just">
              <a:lnSpc>
                <a:spcPts val="3499"/>
              </a:lnSpc>
            </a:pPr>
            <a:r>
              <a:rPr lang="en-US" sz="2499" b="1">
                <a:solidFill>
                  <a:srgbClr val="0A0147"/>
                </a:solidFill>
                <a:latin typeface="Poppins Bold"/>
                <a:ea typeface="Poppins Bold"/>
                <a:cs typeface="Poppins Bold"/>
                <a:sym typeface="Poppins Bold"/>
              </a:rPr>
              <a:t>SELECT INITCAP('salom dunyo');</a:t>
            </a:r>
          </a:p>
        </p:txBody>
      </p:sp>
      <p:sp>
        <p:nvSpPr>
          <p:cNvPr id="11" name="TextBox 11"/>
          <p:cNvSpPr txBox="1"/>
          <p:nvPr/>
        </p:nvSpPr>
        <p:spPr>
          <a:xfrm>
            <a:off x="1517902" y="3865138"/>
            <a:ext cx="780254" cy="510210"/>
          </a:xfrm>
          <a:prstGeom prst="rect">
            <a:avLst/>
          </a:prstGeom>
        </p:spPr>
        <p:txBody>
          <a:bodyPr lIns="0" tIns="0" rIns="0" bIns="0" rtlCol="0" anchor="t">
            <a:spAutoFit/>
          </a:bodyPr>
          <a:lstStyle/>
          <a:p>
            <a:pPr marL="0" lvl="0" indent="0" algn="ctr">
              <a:lnSpc>
                <a:spcPts val="3903"/>
              </a:lnSpc>
              <a:spcBef>
                <a:spcPct val="0"/>
              </a:spcBef>
            </a:pPr>
            <a:r>
              <a:rPr lang="en-US" sz="2787" b="1">
                <a:solidFill>
                  <a:srgbClr val="FFFFFF"/>
                </a:solidFill>
                <a:latin typeface="Poppins Bold"/>
                <a:ea typeface="Poppins Bold"/>
                <a:cs typeface="Poppins Bold"/>
                <a:sym typeface="Poppins Bold"/>
              </a:rPr>
              <a:t>1</a:t>
            </a: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0624413" y="2123481"/>
            <a:ext cx="7060104" cy="6957037"/>
          </a:xfrm>
          <a:custGeom>
            <a:avLst/>
            <a:gdLst/>
            <a:ahLst/>
            <a:cxnLst/>
            <a:rect l="l" t="t" r="r" b="b"/>
            <a:pathLst>
              <a:path w="7060104" h="6957037">
                <a:moveTo>
                  <a:pt x="0" y="0"/>
                </a:moveTo>
                <a:lnTo>
                  <a:pt x="7060104" y="0"/>
                </a:lnTo>
                <a:lnTo>
                  <a:pt x="7060104" y="6957037"/>
                </a:lnTo>
                <a:lnTo>
                  <a:pt x="0" y="695703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640872" y="1291804"/>
            <a:ext cx="9963931" cy="7703391"/>
            <a:chOff x="0" y="0"/>
            <a:chExt cx="2624245" cy="2028877"/>
          </a:xfrm>
        </p:grpSpPr>
        <p:sp>
          <p:nvSpPr>
            <p:cNvPr id="5" name="Freeform 5"/>
            <p:cNvSpPr/>
            <p:nvPr/>
          </p:nvSpPr>
          <p:spPr>
            <a:xfrm>
              <a:off x="0" y="0"/>
              <a:ext cx="2624245" cy="2028877"/>
            </a:xfrm>
            <a:custGeom>
              <a:avLst/>
              <a:gdLst/>
              <a:ahLst/>
              <a:cxnLst/>
              <a:rect l="l" t="t" r="r" b="b"/>
              <a:pathLst>
                <a:path w="2624245" h="2028877">
                  <a:moveTo>
                    <a:pt x="39627" y="0"/>
                  </a:moveTo>
                  <a:lnTo>
                    <a:pt x="2584619" y="0"/>
                  </a:lnTo>
                  <a:cubicBezTo>
                    <a:pt x="2595128" y="0"/>
                    <a:pt x="2605207" y="4175"/>
                    <a:pt x="2612639" y="11606"/>
                  </a:cubicBezTo>
                  <a:cubicBezTo>
                    <a:pt x="2620070" y="19038"/>
                    <a:pt x="2624245" y="29117"/>
                    <a:pt x="2624245" y="39627"/>
                  </a:cubicBezTo>
                  <a:lnTo>
                    <a:pt x="2624245" y="1989250"/>
                  </a:lnTo>
                  <a:cubicBezTo>
                    <a:pt x="2624245" y="1999760"/>
                    <a:pt x="2620070" y="2009839"/>
                    <a:pt x="2612639" y="2017270"/>
                  </a:cubicBezTo>
                  <a:cubicBezTo>
                    <a:pt x="2605207" y="2024702"/>
                    <a:pt x="2595128" y="2028877"/>
                    <a:pt x="2584619" y="2028877"/>
                  </a:cubicBezTo>
                  <a:lnTo>
                    <a:pt x="39627" y="2028877"/>
                  </a:lnTo>
                  <a:cubicBezTo>
                    <a:pt x="17741" y="2028877"/>
                    <a:pt x="0" y="2011135"/>
                    <a:pt x="0" y="1989250"/>
                  </a:cubicBezTo>
                  <a:lnTo>
                    <a:pt x="0" y="39627"/>
                  </a:lnTo>
                  <a:cubicBezTo>
                    <a:pt x="0" y="29117"/>
                    <a:pt x="4175" y="19038"/>
                    <a:pt x="11606" y="11606"/>
                  </a:cubicBezTo>
                  <a:cubicBezTo>
                    <a:pt x="19038" y="4175"/>
                    <a:pt x="29117" y="0"/>
                    <a:pt x="39627" y="0"/>
                  </a:cubicBezTo>
                  <a:close/>
                </a:path>
              </a:pathLst>
            </a:custGeom>
            <a:ln w="19050" cap="rnd">
              <a:solidFill>
                <a:srgbClr val="CD4146"/>
              </a:solidFill>
              <a:prstDash val="solid"/>
              <a:round/>
            </a:ln>
          </p:spPr>
          <p:txBody>
            <a:bodyPr/>
            <a:lstStyle/>
            <a:p>
              <a:endParaRPr lang="en-US"/>
            </a:p>
          </p:txBody>
        </p:sp>
        <p:sp>
          <p:nvSpPr>
            <p:cNvPr id="6" name="TextBox 6"/>
            <p:cNvSpPr txBox="1"/>
            <p:nvPr/>
          </p:nvSpPr>
          <p:spPr>
            <a:xfrm>
              <a:off x="0" y="-57150"/>
              <a:ext cx="2624245" cy="2086027"/>
            </a:xfrm>
            <a:prstGeom prst="rect">
              <a:avLst/>
            </a:prstGeom>
          </p:spPr>
          <p:txBody>
            <a:bodyPr lIns="50800" tIns="50800" rIns="50800" bIns="50800" rtlCol="0" anchor="ctr"/>
            <a:lstStyle/>
            <a:p>
              <a:pPr algn="ctr">
                <a:lnSpc>
                  <a:spcPts val="2940"/>
                </a:lnSpc>
              </a:pPr>
              <a:endParaRPr/>
            </a:p>
          </p:txBody>
        </p:sp>
      </p:grpSp>
      <p:sp>
        <p:nvSpPr>
          <p:cNvPr id="7" name="Freeform 7"/>
          <p:cNvSpPr/>
          <p:nvPr/>
        </p:nvSpPr>
        <p:spPr>
          <a:xfrm>
            <a:off x="11176813" y="3127841"/>
            <a:ext cx="5955305" cy="4948317"/>
          </a:xfrm>
          <a:custGeom>
            <a:avLst/>
            <a:gdLst/>
            <a:ahLst/>
            <a:cxnLst/>
            <a:rect l="l" t="t" r="r" b="b"/>
            <a:pathLst>
              <a:path w="5955305" h="4948317">
                <a:moveTo>
                  <a:pt x="0" y="0"/>
                </a:moveTo>
                <a:lnTo>
                  <a:pt x="5955304" y="0"/>
                </a:lnTo>
                <a:lnTo>
                  <a:pt x="5955304" y="4948317"/>
                </a:lnTo>
                <a:lnTo>
                  <a:pt x="0" y="4948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1673296" y="2160677"/>
            <a:ext cx="9696902" cy="1169841"/>
          </a:xfrm>
          <a:prstGeom prst="rect">
            <a:avLst/>
          </a:prstGeom>
        </p:spPr>
        <p:txBody>
          <a:bodyPr lIns="0" tIns="0" rIns="0" bIns="0" rtlCol="0" anchor="t">
            <a:spAutoFit/>
          </a:bodyPr>
          <a:lstStyle/>
          <a:p>
            <a:pPr marL="0" lvl="0" indent="0" algn="l">
              <a:lnSpc>
                <a:spcPts val="9545"/>
              </a:lnSpc>
              <a:spcBef>
                <a:spcPct val="0"/>
              </a:spcBef>
            </a:pPr>
            <a:r>
              <a:rPr lang="en-US" sz="6818">
                <a:solidFill>
                  <a:srgbClr val="CD4146"/>
                </a:solidFill>
                <a:latin typeface="Oswald"/>
                <a:ea typeface="Oswald"/>
                <a:cs typeface="Oswald"/>
                <a:sym typeface="Oswald"/>
              </a:rPr>
              <a:t>Agregat funsiyalar</a:t>
            </a:r>
          </a:p>
        </p:txBody>
      </p:sp>
      <p:sp>
        <p:nvSpPr>
          <p:cNvPr id="9" name="TextBox 9"/>
          <p:cNvSpPr txBox="1"/>
          <p:nvPr/>
        </p:nvSpPr>
        <p:spPr>
          <a:xfrm>
            <a:off x="2382649" y="3666815"/>
            <a:ext cx="7330144" cy="2632075"/>
          </a:xfrm>
          <a:prstGeom prst="rect">
            <a:avLst/>
          </a:prstGeom>
        </p:spPr>
        <p:txBody>
          <a:bodyPr lIns="0" tIns="0" rIns="0" bIns="0" rtlCol="0" anchor="t">
            <a:spAutoFit/>
          </a:bodyPr>
          <a:lstStyle/>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SUM() — qiymatlarni yig‘adi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AVG() — o‘rtacha qiymatni hisoblaydi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MIN() — eng kichik qiymatni topadi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MAX() — eng katta qiymatni topadi</a:t>
            </a:r>
          </a:p>
          <a:p>
            <a:pPr marL="539748" lvl="1" indent="-269874" algn="just">
              <a:lnSpc>
                <a:spcPts val="3499"/>
              </a:lnSpc>
              <a:buFont typeface="Arial"/>
              <a:buChar char="•"/>
            </a:pPr>
            <a:r>
              <a:rPr lang="en-US" sz="2499" b="1">
                <a:solidFill>
                  <a:srgbClr val="0A0147"/>
                </a:solidFill>
                <a:latin typeface="Poppins Bold"/>
                <a:ea typeface="Poppins Bold"/>
                <a:cs typeface="Poppins Bold"/>
                <a:sym typeface="Poppins Bold"/>
              </a:rPr>
              <a:t>COUNT() — qatorlar sonini hisoblaydi</a:t>
            </a:r>
          </a:p>
          <a:p>
            <a:pPr algn="just">
              <a:lnSpc>
                <a:spcPts val="3499"/>
              </a:lnSpc>
            </a:pPr>
            <a:endParaRPr lang="en-US" sz="2499" b="1">
              <a:solidFill>
                <a:srgbClr val="0A0147"/>
              </a:solidFill>
              <a:latin typeface="Poppins Bold"/>
              <a:ea typeface="Poppins Bold"/>
              <a:cs typeface="Poppins Bold"/>
              <a:sym typeface="Poppins Bold"/>
            </a:endParaRPr>
          </a:p>
        </p:txBody>
      </p:sp>
      <p:sp>
        <p:nvSpPr>
          <p:cNvPr id="10" name="TextBox 10"/>
          <p:cNvSpPr txBox="1"/>
          <p:nvPr/>
        </p:nvSpPr>
        <p:spPr>
          <a:xfrm>
            <a:off x="2856675" y="6232215"/>
            <a:ext cx="7330144" cy="2193925"/>
          </a:xfrm>
          <a:prstGeom prst="rect">
            <a:avLst/>
          </a:prstGeom>
        </p:spPr>
        <p:txBody>
          <a:bodyPr lIns="0" tIns="0" rIns="0" bIns="0" rtlCol="0" anchor="t">
            <a:spAutoFit/>
          </a:bodyPr>
          <a:lstStyle/>
          <a:p>
            <a:pPr algn="just">
              <a:lnSpc>
                <a:spcPts val="3499"/>
              </a:lnSpc>
            </a:pPr>
            <a:r>
              <a:rPr lang="en-US" sz="2499" b="1">
                <a:solidFill>
                  <a:srgbClr val="0A0147"/>
                </a:solidFill>
                <a:latin typeface="Poppins Bold"/>
                <a:ea typeface="Poppins Bold"/>
                <a:cs typeface="Poppins Bold"/>
                <a:sym typeface="Poppins Bold"/>
              </a:rPr>
              <a:t>SELECT SUM(salary);</a:t>
            </a:r>
          </a:p>
          <a:p>
            <a:pPr algn="just">
              <a:lnSpc>
                <a:spcPts val="3499"/>
              </a:lnSpc>
            </a:pPr>
            <a:r>
              <a:rPr lang="en-US" sz="2499" b="1">
                <a:solidFill>
                  <a:srgbClr val="0A0147"/>
                </a:solidFill>
                <a:latin typeface="Poppins Bold"/>
                <a:ea typeface="Poppins Bold"/>
                <a:cs typeface="Poppins Bold"/>
                <a:sym typeface="Poppins Bold"/>
              </a:rPr>
              <a:t>SELECT AVG(salary);</a:t>
            </a:r>
          </a:p>
          <a:p>
            <a:pPr algn="just">
              <a:lnSpc>
                <a:spcPts val="3499"/>
              </a:lnSpc>
            </a:pPr>
            <a:r>
              <a:rPr lang="en-US" sz="2499" b="1">
                <a:solidFill>
                  <a:srgbClr val="0A0147"/>
                </a:solidFill>
                <a:latin typeface="Poppins Bold"/>
                <a:ea typeface="Poppins Bold"/>
                <a:cs typeface="Poppins Bold"/>
                <a:sym typeface="Poppins Bold"/>
              </a:rPr>
              <a:t>SELECT MIN(salary);</a:t>
            </a:r>
          </a:p>
          <a:p>
            <a:pPr algn="just">
              <a:lnSpc>
                <a:spcPts val="3499"/>
              </a:lnSpc>
            </a:pPr>
            <a:r>
              <a:rPr lang="en-US" sz="2499" b="1">
                <a:solidFill>
                  <a:srgbClr val="0A0147"/>
                </a:solidFill>
                <a:latin typeface="Poppins Bold"/>
                <a:ea typeface="Poppins Bold"/>
                <a:cs typeface="Poppins Bold"/>
                <a:sym typeface="Poppins Bold"/>
              </a:rPr>
              <a:t>SELECT MAX(salary);</a:t>
            </a:r>
          </a:p>
          <a:p>
            <a:pPr algn="just">
              <a:lnSpc>
                <a:spcPts val="3499"/>
              </a:lnSpc>
            </a:pPr>
            <a:r>
              <a:rPr lang="en-US" sz="2499" b="1">
                <a:solidFill>
                  <a:srgbClr val="0A0147"/>
                </a:solidFill>
                <a:latin typeface="Poppins Bold"/>
                <a:ea typeface="Poppins Bold"/>
                <a:cs typeface="Poppins Bold"/>
                <a:sym typeface="Poppins Bold"/>
              </a:rPr>
              <a:t>SELECT COUNT(*);</a:t>
            </a: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2949614" y="6446736"/>
            <a:ext cx="4782302" cy="4712487"/>
          </a:xfrm>
          <a:custGeom>
            <a:avLst/>
            <a:gdLst/>
            <a:ahLst/>
            <a:cxnLst/>
            <a:rect l="l" t="t" r="r" b="b"/>
            <a:pathLst>
              <a:path w="4782302" h="4712487">
                <a:moveTo>
                  <a:pt x="0" y="0"/>
                </a:moveTo>
                <a:lnTo>
                  <a:pt x="4782302" y="0"/>
                </a:lnTo>
                <a:lnTo>
                  <a:pt x="4782302" y="4712488"/>
                </a:lnTo>
                <a:lnTo>
                  <a:pt x="0" y="47124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2651838" y="3218560"/>
            <a:ext cx="4463416" cy="4841970"/>
          </a:xfrm>
          <a:custGeom>
            <a:avLst/>
            <a:gdLst/>
            <a:ahLst/>
            <a:cxnLst/>
            <a:rect l="l" t="t" r="r" b="b"/>
            <a:pathLst>
              <a:path w="4463416" h="4841970">
                <a:moveTo>
                  <a:pt x="0" y="0"/>
                </a:moveTo>
                <a:lnTo>
                  <a:pt x="4463416" y="0"/>
                </a:lnTo>
                <a:lnTo>
                  <a:pt x="4463416" y="4841970"/>
                </a:lnTo>
                <a:lnTo>
                  <a:pt x="0" y="48419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7937944" y="2601081"/>
            <a:ext cx="8528816" cy="6076927"/>
            <a:chOff x="0" y="0"/>
            <a:chExt cx="2246272" cy="1600508"/>
          </a:xfrm>
        </p:grpSpPr>
        <p:sp>
          <p:nvSpPr>
            <p:cNvPr id="6" name="Freeform 6"/>
            <p:cNvSpPr/>
            <p:nvPr/>
          </p:nvSpPr>
          <p:spPr>
            <a:xfrm>
              <a:off x="0" y="0"/>
              <a:ext cx="2246273" cy="1600508"/>
            </a:xfrm>
            <a:custGeom>
              <a:avLst/>
              <a:gdLst/>
              <a:ahLst/>
              <a:cxnLst/>
              <a:rect l="l" t="t" r="r" b="b"/>
              <a:pathLst>
                <a:path w="2246273" h="1600508">
                  <a:moveTo>
                    <a:pt x="46295" y="0"/>
                  </a:moveTo>
                  <a:lnTo>
                    <a:pt x="2199978" y="0"/>
                  </a:lnTo>
                  <a:cubicBezTo>
                    <a:pt x="2212256" y="0"/>
                    <a:pt x="2224031" y="4877"/>
                    <a:pt x="2232713" y="13559"/>
                  </a:cubicBezTo>
                  <a:cubicBezTo>
                    <a:pt x="2241395" y="22241"/>
                    <a:pt x="2246273" y="34016"/>
                    <a:pt x="2246273" y="46295"/>
                  </a:cubicBezTo>
                  <a:lnTo>
                    <a:pt x="2246273" y="1554213"/>
                  </a:lnTo>
                  <a:cubicBezTo>
                    <a:pt x="2246273" y="1566491"/>
                    <a:pt x="2241395" y="1578266"/>
                    <a:pt x="2232713" y="1586948"/>
                  </a:cubicBezTo>
                  <a:cubicBezTo>
                    <a:pt x="2224031" y="1595630"/>
                    <a:pt x="2212256" y="1600508"/>
                    <a:pt x="2199978" y="1600508"/>
                  </a:cubicBezTo>
                  <a:lnTo>
                    <a:pt x="46295" y="1600508"/>
                  </a:lnTo>
                  <a:cubicBezTo>
                    <a:pt x="20727" y="1600508"/>
                    <a:pt x="0" y="1579781"/>
                    <a:pt x="0" y="1554213"/>
                  </a:cubicBezTo>
                  <a:lnTo>
                    <a:pt x="0" y="46295"/>
                  </a:lnTo>
                  <a:cubicBezTo>
                    <a:pt x="0" y="34016"/>
                    <a:pt x="4877" y="22241"/>
                    <a:pt x="13559" y="13559"/>
                  </a:cubicBezTo>
                  <a:cubicBezTo>
                    <a:pt x="22241" y="4877"/>
                    <a:pt x="34016" y="0"/>
                    <a:pt x="46295" y="0"/>
                  </a:cubicBezTo>
                  <a:close/>
                </a:path>
              </a:pathLst>
            </a:custGeom>
            <a:ln w="19050" cap="rnd">
              <a:solidFill>
                <a:srgbClr val="CD4146"/>
              </a:solidFill>
              <a:prstDash val="solid"/>
              <a:round/>
            </a:ln>
          </p:spPr>
          <p:txBody>
            <a:bodyPr/>
            <a:lstStyle/>
            <a:p>
              <a:endParaRPr lang="en-US"/>
            </a:p>
          </p:txBody>
        </p:sp>
        <p:sp>
          <p:nvSpPr>
            <p:cNvPr id="7" name="TextBox 7"/>
            <p:cNvSpPr txBox="1"/>
            <p:nvPr/>
          </p:nvSpPr>
          <p:spPr>
            <a:xfrm>
              <a:off x="0" y="-57150"/>
              <a:ext cx="2246272" cy="1657658"/>
            </a:xfrm>
            <a:prstGeom prst="rect">
              <a:avLst/>
            </a:prstGeom>
          </p:spPr>
          <p:txBody>
            <a:bodyPr lIns="50800" tIns="50800" rIns="50800" bIns="50800" rtlCol="0" anchor="ctr"/>
            <a:lstStyle/>
            <a:p>
              <a:pPr algn="ctr">
                <a:lnSpc>
                  <a:spcPts val="2940"/>
                </a:lnSpc>
              </a:pPr>
              <a:endParaRPr/>
            </a:p>
          </p:txBody>
        </p:sp>
      </p:grpSp>
      <p:sp>
        <p:nvSpPr>
          <p:cNvPr id="8" name="TextBox 8"/>
          <p:cNvSpPr txBox="1"/>
          <p:nvPr/>
        </p:nvSpPr>
        <p:spPr>
          <a:xfrm>
            <a:off x="8363241" y="3351910"/>
            <a:ext cx="7974813" cy="905743"/>
          </a:xfrm>
          <a:prstGeom prst="rect">
            <a:avLst/>
          </a:prstGeom>
        </p:spPr>
        <p:txBody>
          <a:bodyPr lIns="0" tIns="0" rIns="0" bIns="0" rtlCol="0" anchor="t">
            <a:spAutoFit/>
          </a:bodyPr>
          <a:lstStyle/>
          <a:p>
            <a:pPr marL="0" lvl="0" indent="0" algn="l">
              <a:lnSpc>
                <a:spcPts val="6750"/>
              </a:lnSpc>
            </a:pPr>
            <a:r>
              <a:rPr lang="en-US" sz="6818">
                <a:solidFill>
                  <a:srgbClr val="CD4146"/>
                </a:solidFill>
                <a:latin typeface="Oswald"/>
                <a:ea typeface="Oswald"/>
                <a:cs typeface="Oswald"/>
                <a:sym typeface="Oswald"/>
              </a:rPr>
              <a:t>date funksiyalar</a:t>
            </a:r>
          </a:p>
        </p:txBody>
      </p:sp>
      <p:sp>
        <p:nvSpPr>
          <p:cNvPr id="9" name="TextBox 9"/>
          <p:cNvSpPr txBox="1"/>
          <p:nvPr/>
        </p:nvSpPr>
        <p:spPr>
          <a:xfrm>
            <a:off x="8363241" y="4659211"/>
            <a:ext cx="7806409" cy="3070225"/>
          </a:xfrm>
          <a:prstGeom prst="rect">
            <a:avLst/>
          </a:prstGeom>
        </p:spPr>
        <p:txBody>
          <a:bodyPr lIns="0" tIns="0" rIns="0" bIns="0" rtlCol="0" anchor="t">
            <a:spAutoFit/>
          </a:bodyPr>
          <a:lstStyle/>
          <a:p>
            <a:pPr algn="just">
              <a:lnSpc>
                <a:spcPts val="3499"/>
              </a:lnSpc>
            </a:pPr>
            <a:r>
              <a:rPr lang="en-US" sz="2499" b="1">
                <a:solidFill>
                  <a:srgbClr val="0A0147"/>
                </a:solidFill>
                <a:latin typeface="Poppins Bold"/>
                <a:ea typeface="Poppins Bold"/>
                <a:cs typeface="Poppins Bold"/>
                <a:sym typeface="Poppins Bold"/>
              </a:rPr>
              <a:t>TO_CHAR() – sanani matn (string) formatga o‘tkazadi</a:t>
            </a:r>
          </a:p>
          <a:p>
            <a:pPr algn="just">
              <a:lnSpc>
                <a:spcPts val="3499"/>
              </a:lnSpc>
            </a:pPr>
            <a:r>
              <a:rPr lang="en-US" sz="2499" b="1">
                <a:solidFill>
                  <a:srgbClr val="0A0147"/>
                </a:solidFill>
                <a:latin typeface="Poppins Bold"/>
                <a:ea typeface="Poppins Bold"/>
                <a:cs typeface="Poppins Bold"/>
                <a:sym typeface="Poppins Bold"/>
              </a:rPr>
              <a:t>NOW() – hozirgi sana va vaqtni qaytaradi</a:t>
            </a:r>
          </a:p>
          <a:p>
            <a:pPr algn="just">
              <a:lnSpc>
                <a:spcPts val="3499"/>
              </a:lnSpc>
            </a:pPr>
            <a:r>
              <a:rPr lang="en-US" sz="2499" b="1">
                <a:solidFill>
                  <a:srgbClr val="0A0147"/>
                </a:solidFill>
                <a:latin typeface="Poppins Bold"/>
                <a:ea typeface="Poppins Bold"/>
                <a:cs typeface="Poppins Bold"/>
                <a:sym typeface="Poppins Bold"/>
              </a:rPr>
              <a:t>CURRENT_DATE – faqat bugungi sanani qaytaradi</a:t>
            </a:r>
          </a:p>
          <a:p>
            <a:pPr algn="just">
              <a:lnSpc>
                <a:spcPts val="3499"/>
              </a:lnSpc>
            </a:pPr>
            <a:r>
              <a:rPr lang="en-US" sz="2499" b="1">
                <a:solidFill>
                  <a:srgbClr val="0A0147"/>
                </a:solidFill>
                <a:latin typeface="Poppins Bold"/>
                <a:ea typeface="Poppins Bold"/>
                <a:cs typeface="Poppins Bold"/>
                <a:sym typeface="Poppins Bold"/>
              </a:rPr>
              <a:t>EXTRACT() – sanadan ma’lum qismini olish (YEAR, MONTH, DAY va h.k.)</a:t>
            </a:r>
          </a:p>
        </p:txBody>
      </p:sp>
      <p:sp>
        <p:nvSpPr>
          <p:cNvPr id="10" name="Freeform 10"/>
          <p:cNvSpPr/>
          <p:nvPr/>
        </p:nvSpPr>
        <p:spPr>
          <a:xfrm>
            <a:off x="14868149" y="-2964719"/>
            <a:ext cx="4782302" cy="4712487"/>
          </a:xfrm>
          <a:custGeom>
            <a:avLst/>
            <a:gdLst/>
            <a:ahLst/>
            <a:cxnLst/>
            <a:rect l="l" t="t" r="r" b="b"/>
            <a:pathLst>
              <a:path w="4782302" h="4712487">
                <a:moveTo>
                  <a:pt x="0" y="0"/>
                </a:moveTo>
                <a:lnTo>
                  <a:pt x="4782302" y="0"/>
                </a:lnTo>
                <a:lnTo>
                  <a:pt x="4782302" y="4712487"/>
                </a:lnTo>
                <a:lnTo>
                  <a:pt x="0" y="471248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0652759" y="3687112"/>
            <a:ext cx="6000216" cy="4712897"/>
          </a:xfrm>
          <a:custGeom>
            <a:avLst/>
            <a:gdLst/>
            <a:ahLst/>
            <a:cxnLst/>
            <a:rect l="l" t="t" r="r" b="b"/>
            <a:pathLst>
              <a:path w="6000216" h="4712897">
                <a:moveTo>
                  <a:pt x="0" y="0"/>
                </a:moveTo>
                <a:lnTo>
                  <a:pt x="6000216" y="0"/>
                </a:lnTo>
                <a:lnTo>
                  <a:pt x="6000216" y="4712897"/>
                </a:lnTo>
                <a:lnTo>
                  <a:pt x="0" y="47128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244418" y="3261842"/>
            <a:ext cx="9080242" cy="6406596"/>
            <a:chOff x="0" y="0"/>
            <a:chExt cx="2391504" cy="1687334"/>
          </a:xfrm>
        </p:grpSpPr>
        <p:sp>
          <p:nvSpPr>
            <p:cNvPr id="5" name="Freeform 5"/>
            <p:cNvSpPr/>
            <p:nvPr/>
          </p:nvSpPr>
          <p:spPr>
            <a:xfrm>
              <a:off x="0" y="0"/>
              <a:ext cx="2391504" cy="1687334"/>
            </a:xfrm>
            <a:custGeom>
              <a:avLst/>
              <a:gdLst/>
              <a:ahLst/>
              <a:cxnLst/>
              <a:rect l="l" t="t" r="r" b="b"/>
              <a:pathLst>
                <a:path w="2391504" h="1687334">
                  <a:moveTo>
                    <a:pt x="28989" y="0"/>
                  </a:moveTo>
                  <a:lnTo>
                    <a:pt x="2362515" y="0"/>
                  </a:lnTo>
                  <a:cubicBezTo>
                    <a:pt x="2378525" y="0"/>
                    <a:pt x="2391504" y="12979"/>
                    <a:pt x="2391504" y="28989"/>
                  </a:cubicBezTo>
                  <a:lnTo>
                    <a:pt x="2391504" y="1658345"/>
                  </a:lnTo>
                  <a:cubicBezTo>
                    <a:pt x="2391504" y="1666034"/>
                    <a:pt x="2388450" y="1673407"/>
                    <a:pt x="2383013" y="1678843"/>
                  </a:cubicBezTo>
                  <a:cubicBezTo>
                    <a:pt x="2377577" y="1684280"/>
                    <a:pt x="2370204" y="1687334"/>
                    <a:pt x="2362515" y="1687334"/>
                  </a:cubicBezTo>
                  <a:lnTo>
                    <a:pt x="28989" y="1687334"/>
                  </a:lnTo>
                  <a:cubicBezTo>
                    <a:pt x="21300" y="1687334"/>
                    <a:pt x="13927" y="1684280"/>
                    <a:pt x="8491" y="1678843"/>
                  </a:cubicBezTo>
                  <a:cubicBezTo>
                    <a:pt x="3054" y="1673407"/>
                    <a:pt x="0" y="1666034"/>
                    <a:pt x="0" y="1658345"/>
                  </a:cubicBezTo>
                  <a:lnTo>
                    <a:pt x="0" y="28989"/>
                  </a:lnTo>
                  <a:cubicBezTo>
                    <a:pt x="0" y="21300"/>
                    <a:pt x="3054" y="13927"/>
                    <a:pt x="8491" y="8491"/>
                  </a:cubicBezTo>
                  <a:cubicBezTo>
                    <a:pt x="13927" y="3054"/>
                    <a:pt x="21300" y="0"/>
                    <a:pt x="28989" y="0"/>
                  </a:cubicBezTo>
                  <a:close/>
                </a:path>
              </a:pathLst>
            </a:custGeom>
            <a:ln w="19050" cap="rnd">
              <a:solidFill>
                <a:srgbClr val="CD4146"/>
              </a:solidFill>
              <a:prstDash val="solid"/>
              <a:round/>
            </a:ln>
          </p:spPr>
          <p:txBody>
            <a:bodyPr/>
            <a:lstStyle/>
            <a:p>
              <a:endParaRPr lang="en-US"/>
            </a:p>
          </p:txBody>
        </p:sp>
        <p:sp>
          <p:nvSpPr>
            <p:cNvPr id="6" name="TextBox 6"/>
            <p:cNvSpPr txBox="1"/>
            <p:nvPr/>
          </p:nvSpPr>
          <p:spPr>
            <a:xfrm>
              <a:off x="0" y="-57150"/>
              <a:ext cx="2391504" cy="1744484"/>
            </a:xfrm>
            <a:prstGeom prst="rect">
              <a:avLst/>
            </a:prstGeom>
          </p:spPr>
          <p:txBody>
            <a:bodyPr lIns="50800" tIns="50800" rIns="50800" bIns="50800" rtlCol="0" anchor="ctr"/>
            <a:lstStyle/>
            <a:p>
              <a:pPr algn="ctr">
                <a:lnSpc>
                  <a:spcPts val="2940"/>
                </a:lnSpc>
              </a:pPr>
              <a:endParaRPr/>
            </a:p>
          </p:txBody>
        </p:sp>
      </p:grpSp>
      <p:sp>
        <p:nvSpPr>
          <p:cNvPr id="7" name="Freeform 7"/>
          <p:cNvSpPr/>
          <p:nvPr/>
        </p:nvSpPr>
        <p:spPr>
          <a:xfrm>
            <a:off x="-2542620" y="8101649"/>
            <a:ext cx="4782302" cy="4712487"/>
          </a:xfrm>
          <a:custGeom>
            <a:avLst/>
            <a:gdLst/>
            <a:ahLst/>
            <a:cxnLst/>
            <a:rect l="l" t="t" r="r" b="b"/>
            <a:pathLst>
              <a:path w="4782302" h="4712487">
                <a:moveTo>
                  <a:pt x="0" y="0"/>
                </a:moveTo>
                <a:lnTo>
                  <a:pt x="4782302" y="0"/>
                </a:lnTo>
                <a:lnTo>
                  <a:pt x="4782302" y="4712487"/>
                </a:lnTo>
                <a:lnTo>
                  <a:pt x="0" y="47124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4295549" y="1580736"/>
            <a:ext cx="9696902" cy="1169841"/>
          </a:xfrm>
          <a:prstGeom prst="rect">
            <a:avLst/>
          </a:prstGeom>
        </p:spPr>
        <p:txBody>
          <a:bodyPr lIns="0" tIns="0" rIns="0" bIns="0" rtlCol="0" anchor="t">
            <a:spAutoFit/>
          </a:bodyPr>
          <a:lstStyle/>
          <a:p>
            <a:pPr marL="0" lvl="0" indent="0" algn="ctr">
              <a:lnSpc>
                <a:spcPts val="9545"/>
              </a:lnSpc>
              <a:spcBef>
                <a:spcPct val="0"/>
              </a:spcBef>
            </a:pPr>
            <a:r>
              <a:rPr lang="en-US" sz="6818">
                <a:solidFill>
                  <a:srgbClr val="CD4146"/>
                </a:solidFill>
                <a:latin typeface="Oswald"/>
                <a:ea typeface="Oswald"/>
                <a:cs typeface="Oswald"/>
                <a:sym typeface="Oswald"/>
              </a:rPr>
              <a:t>Umumiy qanday ishlashi</a:t>
            </a:r>
          </a:p>
        </p:txBody>
      </p:sp>
      <p:sp>
        <p:nvSpPr>
          <p:cNvPr id="9" name="TextBox 9"/>
          <p:cNvSpPr txBox="1"/>
          <p:nvPr/>
        </p:nvSpPr>
        <p:spPr>
          <a:xfrm>
            <a:off x="1626619" y="3493527"/>
            <a:ext cx="8146615" cy="5699125"/>
          </a:xfrm>
          <a:prstGeom prst="rect">
            <a:avLst/>
          </a:prstGeom>
        </p:spPr>
        <p:txBody>
          <a:bodyPr lIns="0" tIns="0" rIns="0" bIns="0" rtlCol="0" anchor="t">
            <a:spAutoFit/>
          </a:bodyPr>
          <a:lstStyle/>
          <a:p>
            <a:pPr algn="just">
              <a:lnSpc>
                <a:spcPts val="3499"/>
              </a:lnSpc>
            </a:pPr>
            <a:r>
              <a:rPr lang="en-US" sz="2499" b="1">
                <a:solidFill>
                  <a:srgbClr val="0A0147"/>
                </a:solidFill>
                <a:latin typeface="Poppins Bold"/>
                <a:ea typeface="Poppins Bold"/>
                <a:cs typeface="Poppins Bold"/>
                <a:sym typeface="Poppins Bold"/>
              </a:rPr>
              <a:t>Ma’lumotlar bazasida sana va vaqt bilan ishlash juda muhim hisoblanadi, chunki deyarli har bir tizimda vaqtga bog‘liq ma’lumotlar mavjud bo‘ladi. Masalan, foydalanuvchi ro‘yxatdan o‘tgan sana, buyurtma berilgan vaqt yoki xodimning tug‘ilgan kuni kabi ma’lumotlar doim saqlanadi va tahlil qilinadi.Date va time bilan ishlovchi funksiyalar asosan ma’lumotni olish, ajratish, hisoblash va formatlash uchun ishlatiladi. Ular yordamida hozirgi vaqtni olish, sanadan yil yoki oy kabi qismlarni ajratish, ikki sana orasidagi farqni hisoblash yoki sanani chiroyli ko‘rinishda chiqarish mumkin.</a:t>
            </a:r>
          </a:p>
        </p:txBody>
      </p:sp>
      <p:sp>
        <p:nvSpPr>
          <p:cNvPr id="10" name="Freeform 10"/>
          <p:cNvSpPr/>
          <p:nvPr/>
        </p:nvSpPr>
        <p:spPr>
          <a:xfrm>
            <a:off x="16652975" y="2105976"/>
            <a:ext cx="4782302" cy="4712487"/>
          </a:xfrm>
          <a:custGeom>
            <a:avLst/>
            <a:gdLst/>
            <a:ahLst/>
            <a:cxnLst/>
            <a:rect l="l" t="t" r="r" b="b"/>
            <a:pathLst>
              <a:path w="4782302" h="4712487">
                <a:moveTo>
                  <a:pt x="0" y="0"/>
                </a:moveTo>
                <a:lnTo>
                  <a:pt x="4782302" y="0"/>
                </a:lnTo>
                <a:lnTo>
                  <a:pt x="4782302" y="4712487"/>
                </a:lnTo>
                <a:lnTo>
                  <a:pt x="0" y="47124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7368430" y="1829003"/>
            <a:ext cx="9890870" cy="7429297"/>
            <a:chOff x="0" y="0"/>
            <a:chExt cx="2605003" cy="1956687"/>
          </a:xfrm>
        </p:grpSpPr>
        <p:sp>
          <p:nvSpPr>
            <p:cNvPr id="4" name="Freeform 4"/>
            <p:cNvSpPr/>
            <p:nvPr/>
          </p:nvSpPr>
          <p:spPr>
            <a:xfrm>
              <a:off x="0" y="0"/>
              <a:ext cx="2605003" cy="1956687"/>
            </a:xfrm>
            <a:custGeom>
              <a:avLst/>
              <a:gdLst/>
              <a:ahLst/>
              <a:cxnLst/>
              <a:rect l="l" t="t" r="r" b="b"/>
              <a:pathLst>
                <a:path w="2605003" h="1956687">
                  <a:moveTo>
                    <a:pt x="26613" y="0"/>
                  </a:moveTo>
                  <a:lnTo>
                    <a:pt x="2578390" y="0"/>
                  </a:lnTo>
                  <a:cubicBezTo>
                    <a:pt x="2593088" y="0"/>
                    <a:pt x="2605003" y="11915"/>
                    <a:pt x="2605003" y="26613"/>
                  </a:cubicBezTo>
                  <a:lnTo>
                    <a:pt x="2605003" y="1930074"/>
                  </a:lnTo>
                  <a:cubicBezTo>
                    <a:pt x="2605003" y="1937133"/>
                    <a:pt x="2602199" y="1943902"/>
                    <a:pt x="2597208" y="1948893"/>
                  </a:cubicBezTo>
                  <a:cubicBezTo>
                    <a:pt x="2592217" y="1953883"/>
                    <a:pt x="2585448" y="1956687"/>
                    <a:pt x="2578390" y="1956687"/>
                  </a:cubicBezTo>
                  <a:lnTo>
                    <a:pt x="26613" y="1956687"/>
                  </a:lnTo>
                  <a:cubicBezTo>
                    <a:pt x="11915" y="1956687"/>
                    <a:pt x="0" y="1944772"/>
                    <a:pt x="0" y="1930074"/>
                  </a:cubicBezTo>
                  <a:lnTo>
                    <a:pt x="0" y="26613"/>
                  </a:lnTo>
                  <a:cubicBezTo>
                    <a:pt x="0" y="11915"/>
                    <a:pt x="11915" y="0"/>
                    <a:pt x="26613" y="0"/>
                  </a:cubicBezTo>
                  <a:close/>
                </a:path>
              </a:pathLst>
            </a:custGeom>
            <a:ln w="19050" cap="rnd">
              <a:solidFill>
                <a:srgbClr val="CD4146"/>
              </a:solidFill>
              <a:prstDash val="solid"/>
              <a:round/>
            </a:ln>
          </p:spPr>
          <p:txBody>
            <a:bodyPr/>
            <a:lstStyle/>
            <a:p>
              <a:endParaRPr lang="en-US"/>
            </a:p>
          </p:txBody>
        </p:sp>
        <p:sp>
          <p:nvSpPr>
            <p:cNvPr id="5" name="TextBox 5"/>
            <p:cNvSpPr txBox="1"/>
            <p:nvPr/>
          </p:nvSpPr>
          <p:spPr>
            <a:xfrm>
              <a:off x="0" y="-57150"/>
              <a:ext cx="2605003" cy="2013837"/>
            </a:xfrm>
            <a:prstGeom prst="rect">
              <a:avLst/>
            </a:prstGeom>
          </p:spPr>
          <p:txBody>
            <a:bodyPr lIns="50800" tIns="50800" rIns="50800" bIns="50800" rtlCol="0" anchor="ctr"/>
            <a:lstStyle/>
            <a:p>
              <a:pPr algn="ctr">
                <a:lnSpc>
                  <a:spcPts val="2940"/>
                </a:lnSpc>
              </a:pPr>
              <a:endParaRPr/>
            </a:p>
          </p:txBody>
        </p:sp>
      </p:grpSp>
      <p:sp>
        <p:nvSpPr>
          <p:cNvPr id="6" name="TextBox 6"/>
          <p:cNvSpPr txBox="1"/>
          <p:nvPr/>
        </p:nvSpPr>
        <p:spPr>
          <a:xfrm>
            <a:off x="8114276" y="2466765"/>
            <a:ext cx="7588549" cy="905743"/>
          </a:xfrm>
          <a:prstGeom prst="rect">
            <a:avLst/>
          </a:prstGeom>
        </p:spPr>
        <p:txBody>
          <a:bodyPr lIns="0" tIns="0" rIns="0" bIns="0" rtlCol="0" anchor="t">
            <a:spAutoFit/>
          </a:bodyPr>
          <a:lstStyle/>
          <a:p>
            <a:pPr marL="0" lvl="0" indent="0" algn="l">
              <a:lnSpc>
                <a:spcPts val="6750"/>
              </a:lnSpc>
              <a:spcBef>
                <a:spcPct val="0"/>
              </a:spcBef>
            </a:pPr>
            <a:r>
              <a:rPr lang="en-US" sz="6818">
                <a:solidFill>
                  <a:srgbClr val="CD4146"/>
                </a:solidFill>
                <a:latin typeface="Oswald"/>
                <a:ea typeface="Oswald"/>
                <a:cs typeface="Oswald"/>
                <a:sym typeface="Oswald"/>
              </a:rPr>
              <a:t>Davomi</a:t>
            </a:r>
          </a:p>
        </p:txBody>
      </p:sp>
      <p:sp>
        <p:nvSpPr>
          <p:cNvPr id="7" name="TextBox 7"/>
          <p:cNvSpPr txBox="1"/>
          <p:nvPr/>
        </p:nvSpPr>
        <p:spPr>
          <a:xfrm>
            <a:off x="7799375" y="3617975"/>
            <a:ext cx="9077433" cy="5699125"/>
          </a:xfrm>
          <a:prstGeom prst="rect">
            <a:avLst/>
          </a:prstGeom>
        </p:spPr>
        <p:txBody>
          <a:bodyPr lIns="0" tIns="0" rIns="0" bIns="0" rtlCol="0" anchor="t">
            <a:spAutoFit/>
          </a:bodyPr>
          <a:lstStyle/>
          <a:p>
            <a:pPr algn="just">
              <a:lnSpc>
                <a:spcPts val="3499"/>
              </a:lnSpc>
            </a:pPr>
            <a:r>
              <a:rPr lang="en-US" sz="2499" b="1">
                <a:solidFill>
                  <a:srgbClr val="0A0147"/>
                </a:solidFill>
                <a:latin typeface="Poppins Bold"/>
                <a:ea typeface="Poppins Bold"/>
                <a:cs typeface="Poppins Bold"/>
                <a:sym typeface="Poppins Bold"/>
              </a:rPr>
              <a:t>Kod ichida bu funksiyalar odatda SELECT so‘rovida ishlatiladi. Ular ustunlar ustida ishlaydi va natijani darhol qaytaradi. Masalan, buyurtmalar jadvalidagi sana ustunidan faqat yilni ajratib olish, yoki hozirgi vaqtga 7 kun qo‘shib kelajakdagi sanani hisoblash mumkin. Shu orqali tizim avtomatik ravishda hisob-kitoblarni bajaradi.</a:t>
            </a:r>
          </a:p>
          <a:p>
            <a:pPr algn="just">
              <a:lnSpc>
                <a:spcPts val="3499"/>
              </a:lnSpc>
            </a:pPr>
            <a:r>
              <a:rPr lang="en-US" sz="2499" b="1">
                <a:solidFill>
                  <a:srgbClr val="0A0147"/>
                </a:solidFill>
                <a:latin typeface="Poppins Bold"/>
                <a:ea typeface="Poppins Bold"/>
                <a:cs typeface="Poppins Bold"/>
                <a:sym typeface="Poppins Bold"/>
              </a:rPr>
              <a:t>Xulosa qilib aytganda, date va time funksiyalari real hayotdagi vaqt bilan bog‘liq barcha jarayonlarni boshqarishda ishlatiladi. Ular biznes, analitika va hisobot tizimlarida juda muhim rol o‘ynaydi, chunki deyarli har bir ma’lumot vaqt bilan bog‘liq bo‘ladi.</a:t>
            </a:r>
          </a:p>
          <a:p>
            <a:pPr algn="just">
              <a:lnSpc>
                <a:spcPts val="3499"/>
              </a:lnSpc>
            </a:pPr>
            <a:endParaRPr lang="en-US" sz="2499" b="1">
              <a:solidFill>
                <a:srgbClr val="0A0147"/>
              </a:solidFill>
              <a:latin typeface="Poppins Bold"/>
              <a:ea typeface="Poppins Bold"/>
              <a:cs typeface="Poppins Bold"/>
              <a:sym typeface="Poppins Bold"/>
            </a:endParaRPr>
          </a:p>
        </p:txBody>
      </p:sp>
      <p:sp>
        <p:nvSpPr>
          <p:cNvPr id="8" name="TextBox 8"/>
          <p:cNvSpPr txBox="1"/>
          <p:nvPr/>
        </p:nvSpPr>
        <p:spPr>
          <a:xfrm>
            <a:off x="8114276" y="7461738"/>
            <a:ext cx="780254" cy="510210"/>
          </a:xfrm>
          <a:prstGeom prst="rect">
            <a:avLst/>
          </a:prstGeom>
        </p:spPr>
        <p:txBody>
          <a:bodyPr lIns="0" tIns="0" rIns="0" bIns="0" rtlCol="0" anchor="t">
            <a:spAutoFit/>
          </a:bodyPr>
          <a:lstStyle/>
          <a:p>
            <a:pPr marL="0" lvl="0" indent="0" algn="ctr">
              <a:lnSpc>
                <a:spcPts val="3903"/>
              </a:lnSpc>
              <a:spcBef>
                <a:spcPct val="0"/>
              </a:spcBef>
            </a:pPr>
            <a:r>
              <a:rPr lang="en-US" sz="2787" b="1">
                <a:solidFill>
                  <a:srgbClr val="FFFFFF"/>
                </a:solidFill>
                <a:latin typeface="Poppins Bold"/>
                <a:ea typeface="Poppins Bold"/>
                <a:cs typeface="Poppins Bold"/>
                <a:sym typeface="Poppins Bold"/>
              </a:rPr>
              <a:t>3</a:t>
            </a:r>
          </a:p>
        </p:txBody>
      </p:sp>
      <p:sp>
        <p:nvSpPr>
          <p:cNvPr id="9" name="Freeform 9"/>
          <p:cNvSpPr/>
          <p:nvPr/>
        </p:nvSpPr>
        <p:spPr>
          <a:xfrm>
            <a:off x="892967" y="3107900"/>
            <a:ext cx="6017177" cy="5929335"/>
          </a:xfrm>
          <a:custGeom>
            <a:avLst/>
            <a:gdLst/>
            <a:ahLst/>
            <a:cxnLst/>
            <a:rect l="l" t="t" r="r" b="b"/>
            <a:pathLst>
              <a:path w="6017177" h="5929335">
                <a:moveTo>
                  <a:pt x="0" y="0"/>
                </a:moveTo>
                <a:lnTo>
                  <a:pt x="6017178" y="0"/>
                </a:lnTo>
                <a:lnTo>
                  <a:pt x="6017178" y="5929335"/>
                </a:lnTo>
                <a:lnTo>
                  <a:pt x="0" y="59293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1028700" y="2153885"/>
            <a:ext cx="5745712" cy="6556310"/>
          </a:xfrm>
          <a:custGeom>
            <a:avLst/>
            <a:gdLst/>
            <a:ahLst/>
            <a:cxnLst/>
            <a:rect l="l" t="t" r="r" b="b"/>
            <a:pathLst>
              <a:path w="5745712" h="6556310">
                <a:moveTo>
                  <a:pt x="0" y="0"/>
                </a:moveTo>
                <a:lnTo>
                  <a:pt x="5745712" y="0"/>
                </a:lnTo>
                <a:lnTo>
                  <a:pt x="5745712" y="6556310"/>
                </a:lnTo>
                <a:lnTo>
                  <a:pt x="0" y="65563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5005339" y="6293632"/>
            <a:ext cx="6017177" cy="5929335"/>
          </a:xfrm>
          <a:custGeom>
            <a:avLst/>
            <a:gdLst/>
            <a:ahLst/>
            <a:cxnLst/>
            <a:rect l="l" t="t" r="r" b="b"/>
            <a:pathLst>
              <a:path w="6017177" h="5929335">
                <a:moveTo>
                  <a:pt x="0" y="0"/>
                </a:moveTo>
                <a:lnTo>
                  <a:pt x="6017177" y="0"/>
                </a:lnTo>
                <a:lnTo>
                  <a:pt x="6017177" y="5929336"/>
                </a:lnTo>
                <a:lnTo>
                  <a:pt x="0" y="592933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861792" y="-1069654"/>
            <a:ext cx="4258882" cy="4196709"/>
          </a:xfrm>
          <a:custGeom>
            <a:avLst/>
            <a:gdLst/>
            <a:ahLst/>
            <a:cxnLst/>
            <a:rect l="l" t="t" r="r" b="b"/>
            <a:pathLst>
              <a:path w="4258882" h="4196709">
                <a:moveTo>
                  <a:pt x="0" y="0"/>
                </a:moveTo>
                <a:lnTo>
                  <a:pt x="4258883" y="0"/>
                </a:lnTo>
                <a:lnTo>
                  <a:pt x="4258883" y="4196708"/>
                </a:lnTo>
                <a:lnTo>
                  <a:pt x="0" y="41967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568345" y="1182705"/>
            <a:ext cx="17151310" cy="7921590"/>
            <a:chOff x="0" y="0"/>
            <a:chExt cx="4517218" cy="2086345"/>
          </a:xfrm>
        </p:grpSpPr>
        <p:sp>
          <p:nvSpPr>
            <p:cNvPr id="6" name="Freeform 6"/>
            <p:cNvSpPr/>
            <p:nvPr/>
          </p:nvSpPr>
          <p:spPr>
            <a:xfrm>
              <a:off x="0" y="0"/>
              <a:ext cx="4517218" cy="2086345"/>
            </a:xfrm>
            <a:custGeom>
              <a:avLst/>
              <a:gdLst/>
              <a:ahLst/>
              <a:cxnLst/>
              <a:rect l="l" t="t" r="r" b="b"/>
              <a:pathLst>
                <a:path w="4517218" h="2086345">
                  <a:moveTo>
                    <a:pt x="15347" y="0"/>
                  </a:moveTo>
                  <a:lnTo>
                    <a:pt x="4501871" y="0"/>
                  </a:lnTo>
                  <a:cubicBezTo>
                    <a:pt x="4510346" y="0"/>
                    <a:pt x="4517218" y="6871"/>
                    <a:pt x="4517218" y="15347"/>
                  </a:cubicBezTo>
                  <a:lnTo>
                    <a:pt x="4517218" y="2070997"/>
                  </a:lnTo>
                  <a:cubicBezTo>
                    <a:pt x="4517218" y="2075068"/>
                    <a:pt x="4515601" y="2078972"/>
                    <a:pt x="4512723" y="2081850"/>
                  </a:cubicBezTo>
                  <a:cubicBezTo>
                    <a:pt x="4509844" y="2084728"/>
                    <a:pt x="4505941" y="2086345"/>
                    <a:pt x="4501871" y="2086345"/>
                  </a:cubicBezTo>
                  <a:lnTo>
                    <a:pt x="15347" y="2086345"/>
                  </a:lnTo>
                  <a:cubicBezTo>
                    <a:pt x="11277" y="2086345"/>
                    <a:pt x="7373" y="2084728"/>
                    <a:pt x="4495" y="2081850"/>
                  </a:cubicBezTo>
                  <a:cubicBezTo>
                    <a:pt x="1617" y="2078972"/>
                    <a:pt x="0" y="2075068"/>
                    <a:pt x="0" y="2070997"/>
                  </a:cubicBezTo>
                  <a:lnTo>
                    <a:pt x="0" y="15347"/>
                  </a:lnTo>
                  <a:cubicBezTo>
                    <a:pt x="0" y="11277"/>
                    <a:pt x="1617" y="7373"/>
                    <a:pt x="4495" y="4495"/>
                  </a:cubicBezTo>
                  <a:cubicBezTo>
                    <a:pt x="7373" y="1617"/>
                    <a:pt x="11277" y="0"/>
                    <a:pt x="15347" y="0"/>
                  </a:cubicBezTo>
                  <a:close/>
                </a:path>
              </a:pathLst>
            </a:custGeom>
            <a:ln w="19050" cap="rnd">
              <a:solidFill>
                <a:srgbClr val="CD4146"/>
              </a:solidFill>
              <a:prstDash val="solid"/>
              <a:round/>
            </a:ln>
          </p:spPr>
          <p:txBody>
            <a:bodyPr/>
            <a:lstStyle/>
            <a:p>
              <a:endParaRPr lang="en-US"/>
            </a:p>
          </p:txBody>
        </p:sp>
        <p:sp>
          <p:nvSpPr>
            <p:cNvPr id="7" name="TextBox 7"/>
            <p:cNvSpPr txBox="1"/>
            <p:nvPr/>
          </p:nvSpPr>
          <p:spPr>
            <a:xfrm>
              <a:off x="0" y="-57150"/>
              <a:ext cx="4517218" cy="2143495"/>
            </a:xfrm>
            <a:prstGeom prst="rect">
              <a:avLst/>
            </a:prstGeom>
          </p:spPr>
          <p:txBody>
            <a:bodyPr lIns="50800" tIns="50800" rIns="50800" bIns="50800" rtlCol="0" anchor="ctr"/>
            <a:lstStyle/>
            <a:p>
              <a:pPr algn="ctr">
                <a:lnSpc>
                  <a:spcPts val="2940"/>
                </a:lnSpc>
              </a:pPr>
              <a:endParaRPr/>
            </a:p>
          </p:txBody>
        </p:sp>
      </p:grpSp>
      <p:sp>
        <p:nvSpPr>
          <p:cNvPr id="8" name="Freeform 8"/>
          <p:cNvSpPr/>
          <p:nvPr/>
        </p:nvSpPr>
        <p:spPr>
          <a:xfrm>
            <a:off x="10691733" y="2753236"/>
            <a:ext cx="5698776" cy="5657330"/>
          </a:xfrm>
          <a:custGeom>
            <a:avLst/>
            <a:gdLst/>
            <a:ahLst/>
            <a:cxnLst/>
            <a:rect l="l" t="t" r="r" b="b"/>
            <a:pathLst>
              <a:path w="5698776" h="5657330">
                <a:moveTo>
                  <a:pt x="0" y="0"/>
                </a:moveTo>
                <a:lnTo>
                  <a:pt x="5698775" y="0"/>
                </a:lnTo>
                <a:lnTo>
                  <a:pt x="5698775" y="5657330"/>
                </a:lnTo>
                <a:lnTo>
                  <a:pt x="0" y="5657330"/>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9" name="TextBox 9"/>
          <p:cNvSpPr txBox="1"/>
          <p:nvPr/>
        </p:nvSpPr>
        <p:spPr>
          <a:xfrm>
            <a:off x="4295549" y="1731724"/>
            <a:ext cx="9696902" cy="1169841"/>
          </a:xfrm>
          <a:prstGeom prst="rect">
            <a:avLst/>
          </a:prstGeom>
        </p:spPr>
        <p:txBody>
          <a:bodyPr lIns="0" tIns="0" rIns="0" bIns="0" rtlCol="0" anchor="t">
            <a:spAutoFit/>
          </a:bodyPr>
          <a:lstStyle/>
          <a:p>
            <a:pPr marL="0" lvl="0" indent="0" algn="ctr">
              <a:lnSpc>
                <a:spcPts val="9545"/>
              </a:lnSpc>
              <a:spcBef>
                <a:spcPct val="0"/>
              </a:spcBef>
            </a:pPr>
            <a:r>
              <a:rPr lang="en-US" sz="6818">
                <a:solidFill>
                  <a:srgbClr val="CD4146"/>
                </a:solidFill>
                <a:latin typeface="Oswald"/>
                <a:ea typeface="Oswald"/>
                <a:cs typeface="Oswald"/>
                <a:sym typeface="Oswald"/>
              </a:rPr>
              <a:t>O’sishdan to’xtamang</a:t>
            </a:r>
          </a:p>
        </p:txBody>
      </p:sp>
      <p:sp>
        <p:nvSpPr>
          <p:cNvPr id="10" name="TextBox 10"/>
          <p:cNvSpPr txBox="1"/>
          <p:nvPr/>
        </p:nvSpPr>
        <p:spPr>
          <a:xfrm>
            <a:off x="1243409" y="7514888"/>
            <a:ext cx="8679203" cy="523876"/>
          </a:xfrm>
          <a:prstGeom prst="rect">
            <a:avLst/>
          </a:prstGeom>
        </p:spPr>
        <p:txBody>
          <a:bodyPr lIns="0" tIns="0" rIns="0" bIns="0" rtlCol="0" anchor="t">
            <a:spAutoFit/>
          </a:bodyPr>
          <a:lstStyle/>
          <a:p>
            <a:pPr algn="just">
              <a:lnSpc>
                <a:spcPts val="4199"/>
              </a:lnSpc>
            </a:pPr>
            <a:r>
              <a:rPr lang="en-US" sz="2999" b="1">
                <a:solidFill>
                  <a:srgbClr val="48CD41"/>
                </a:solidFill>
                <a:latin typeface="Poppins Bold"/>
                <a:ea typeface="Poppins Bold"/>
                <a:cs typeface="Poppins Bold"/>
                <a:sym typeface="Poppins Bold"/>
              </a:rPr>
              <a:t>Bugungi say harakat ertangi muvaffaqiyat</a:t>
            </a: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470</Words>
  <Application>Microsoft Office PowerPoint</Application>
  <PresentationFormat>Custom</PresentationFormat>
  <Paragraphs>45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Poppins Bold</vt:lpstr>
      <vt:lpstr>Arial</vt:lpstr>
      <vt:lpstr>Oswald Bold</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Red Illustrative Data Analysis Presentation</dc:title>
  <dc:creator>Hamroali</dc:creator>
  <cp:lastModifiedBy>safarovhamroali@outlook.com</cp:lastModifiedBy>
  <cp:revision>2</cp:revision>
  <dcterms:created xsi:type="dcterms:W3CDTF">2006-08-16T00:00:00Z</dcterms:created>
  <dcterms:modified xsi:type="dcterms:W3CDTF">2026-04-10T15:28:47Z</dcterms:modified>
  <dc:identifier>DAHGdiUXNXg</dc:identifier>
</cp:coreProperties>
</file>