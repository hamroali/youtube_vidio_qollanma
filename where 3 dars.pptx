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Bold" charset="1" panose="00000800000000000000"/>
      <p:regular r:id="rId16"/>
    </p:embeddedFont>
    <p:embeddedFont>
      <p:font typeface="Montserrat" charset="1" panose="00000500000000000000"/>
      <p:regular r:id="rId17"/>
    </p:embeddedFont>
    <p:embeddedFont>
      <p:font typeface="Montserrat Bold Italics" charset="1" panose="00000800000000000000"/>
      <p:regular r:id="rId18"/>
    </p:embeddedFont>
    <p:embeddedFont>
      <p:font typeface="Montserrat Semi-Bold Italics" charset="1" panose="00000700000000000000"/>
      <p:regular r:id="rId19"/>
    </p:embeddedFont>
    <p:embeddedFont>
      <p:font typeface="Montserrat Semi-Bold" charset="1" panose="000007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9144000" y="1727486"/>
            <a:ext cx="9954803" cy="9991134"/>
          </a:xfrm>
          <a:custGeom>
            <a:avLst/>
            <a:gdLst/>
            <a:ahLst/>
            <a:cxnLst/>
            <a:rect r="r" b="b" t="t" l="l"/>
            <a:pathLst>
              <a:path h="9991134" w="9954803">
                <a:moveTo>
                  <a:pt x="0" y="0"/>
                </a:moveTo>
                <a:lnTo>
                  <a:pt x="9954803" y="0"/>
                </a:lnTo>
                <a:lnTo>
                  <a:pt x="9954803" y="9991134"/>
                </a:lnTo>
                <a:lnTo>
                  <a:pt x="0" y="99911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80046" y="3705259"/>
            <a:ext cx="9113902" cy="1318111"/>
          </a:xfrm>
          <a:prstGeom prst="rect">
            <a:avLst/>
          </a:prstGeom>
        </p:spPr>
        <p:txBody>
          <a:bodyPr anchor="t" rtlCol="false" tIns="0" lIns="0" bIns="0" rIns="0">
            <a:spAutoFit/>
          </a:bodyPr>
          <a:lstStyle/>
          <a:p>
            <a:pPr algn="l">
              <a:lnSpc>
                <a:spcPts val="9726"/>
              </a:lnSpc>
            </a:pPr>
            <a:r>
              <a:rPr lang="en-US" b="true" sz="10572" spc="-465">
                <a:solidFill>
                  <a:srgbClr val="FFFFFF"/>
                </a:solidFill>
                <a:latin typeface="Montserrat Bold"/>
                <a:ea typeface="Montserrat Bold"/>
                <a:cs typeface="Montserrat Bold"/>
                <a:sym typeface="Montserrat Bold"/>
              </a:rPr>
              <a:t>POSTGRESQL</a:t>
            </a:r>
          </a:p>
        </p:txBody>
      </p:sp>
      <p:sp>
        <p:nvSpPr>
          <p:cNvPr name="TextBox 5" id="5"/>
          <p:cNvSpPr txBox="true"/>
          <p:nvPr/>
        </p:nvSpPr>
        <p:spPr>
          <a:xfrm rot="0">
            <a:off x="1187358" y="5611718"/>
            <a:ext cx="7643288" cy="606312"/>
          </a:xfrm>
          <a:prstGeom prst="rect">
            <a:avLst/>
          </a:prstGeom>
        </p:spPr>
        <p:txBody>
          <a:bodyPr anchor="t" rtlCol="false" tIns="0" lIns="0" bIns="0" rIns="0">
            <a:spAutoFit/>
          </a:bodyPr>
          <a:lstStyle/>
          <a:p>
            <a:pPr algn="l">
              <a:lnSpc>
                <a:spcPts val="4906"/>
              </a:lnSpc>
              <a:spcBef>
                <a:spcPct val="0"/>
              </a:spcBef>
            </a:pPr>
            <a:r>
              <a:rPr lang="en-US" b="true" sz="3504" spc="532">
                <a:solidFill>
                  <a:srgbClr val="FFFFFF"/>
                </a:solidFill>
                <a:latin typeface="Montserrat Bold"/>
                <a:ea typeface="Montserrat Bold"/>
                <a:cs typeface="Montserrat Bold"/>
                <a:sym typeface="Montserrat Bold"/>
              </a:rPr>
              <a:t>WHERE - SQL KALIT(KEYWORD).</a:t>
            </a:r>
          </a:p>
        </p:txBody>
      </p:sp>
      <p:grpSp>
        <p:nvGrpSpPr>
          <p:cNvPr name="Group 6" id="6"/>
          <p:cNvGrpSpPr/>
          <p:nvPr/>
        </p:nvGrpSpPr>
        <p:grpSpPr>
          <a:xfrm rot="0">
            <a:off x="1187358" y="1028700"/>
            <a:ext cx="2024406" cy="698786"/>
            <a:chOff x="0" y="0"/>
            <a:chExt cx="2699208" cy="931715"/>
          </a:xfrm>
        </p:grpSpPr>
        <p:grpSp>
          <p:nvGrpSpPr>
            <p:cNvPr name="Group 7" id="7"/>
            <p:cNvGrpSpPr/>
            <p:nvPr/>
          </p:nvGrpSpPr>
          <p:grpSpPr>
            <a:xfrm rot="0">
              <a:off x="0" y="0"/>
              <a:ext cx="2699208" cy="931715"/>
              <a:chOff x="0" y="0"/>
              <a:chExt cx="533177" cy="184042"/>
            </a:xfrm>
          </p:grpSpPr>
          <p:sp>
            <p:nvSpPr>
              <p:cNvPr name="Freeform 8" id="8"/>
              <p:cNvSpPr/>
              <p:nvPr/>
            </p:nvSpPr>
            <p:spPr>
              <a:xfrm flipH="false" flipV="false" rot="0">
                <a:off x="0" y="0"/>
                <a:ext cx="533177" cy="184042"/>
              </a:xfrm>
              <a:custGeom>
                <a:avLst/>
                <a:gdLst/>
                <a:ahLst/>
                <a:cxnLst/>
                <a:rect r="r" b="b" t="t" l="l"/>
                <a:pathLst>
                  <a:path h="184042" w="533177">
                    <a:moveTo>
                      <a:pt x="92021" y="0"/>
                    </a:moveTo>
                    <a:lnTo>
                      <a:pt x="441156" y="0"/>
                    </a:lnTo>
                    <a:cubicBezTo>
                      <a:pt x="491978" y="0"/>
                      <a:pt x="533177" y="41199"/>
                      <a:pt x="533177" y="92021"/>
                    </a:cubicBezTo>
                    <a:lnTo>
                      <a:pt x="533177" y="92021"/>
                    </a:lnTo>
                    <a:cubicBezTo>
                      <a:pt x="533177" y="142843"/>
                      <a:pt x="491978" y="184042"/>
                      <a:pt x="441156" y="184042"/>
                    </a:cubicBezTo>
                    <a:lnTo>
                      <a:pt x="92021" y="184042"/>
                    </a:lnTo>
                    <a:cubicBezTo>
                      <a:pt x="41199" y="184042"/>
                      <a:pt x="0" y="142843"/>
                      <a:pt x="0" y="92021"/>
                    </a:cubicBezTo>
                    <a:lnTo>
                      <a:pt x="0" y="92021"/>
                    </a:lnTo>
                    <a:cubicBezTo>
                      <a:pt x="0" y="41199"/>
                      <a:pt x="41199" y="0"/>
                      <a:pt x="92021" y="0"/>
                    </a:cubicBezTo>
                    <a:close/>
                  </a:path>
                </a:pathLst>
              </a:custGeom>
              <a:ln w="19050" cap="rnd">
                <a:solidFill>
                  <a:srgbClr val="FFFFFF"/>
                </a:solidFill>
                <a:prstDash val="solid"/>
                <a:round/>
              </a:ln>
            </p:spPr>
          </p:sp>
          <p:sp>
            <p:nvSpPr>
              <p:cNvPr name="TextBox 9" id="9"/>
              <p:cNvSpPr txBox="true"/>
              <p:nvPr/>
            </p:nvSpPr>
            <p:spPr>
              <a:xfrm>
                <a:off x="0" y="-38100"/>
                <a:ext cx="533177" cy="222142"/>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230953" y="215668"/>
              <a:ext cx="2237303" cy="462280"/>
            </a:xfrm>
            <a:prstGeom prst="rect">
              <a:avLst/>
            </a:prstGeom>
          </p:spPr>
          <p:txBody>
            <a:bodyPr anchor="t" rtlCol="false" tIns="0" lIns="0" bIns="0" rIns="0">
              <a:spAutoFit/>
            </a:bodyPr>
            <a:lstStyle/>
            <a:p>
              <a:pPr algn="ctr">
                <a:lnSpc>
                  <a:spcPts val="2940"/>
                </a:lnSpc>
                <a:spcBef>
                  <a:spcPct val="0"/>
                </a:spcBef>
              </a:pPr>
              <a:r>
                <a:rPr lang="en-US" sz="2100" spc="-63">
                  <a:solidFill>
                    <a:srgbClr val="FFFFFF"/>
                  </a:solidFill>
                  <a:latin typeface="Montserrat"/>
                  <a:ea typeface="Montserrat"/>
                  <a:cs typeface="Montserrat"/>
                  <a:sym typeface="Montserrat"/>
                </a:rPr>
                <a:t>RIMBERIO</a:t>
              </a:r>
            </a:p>
          </p:txBody>
        </p:sp>
      </p:grpSp>
      <p:sp>
        <p:nvSpPr>
          <p:cNvPr name="TextBox 11" id="11"/>
          <p:cNvSpPr txBox="true"/>
          <p:nvPr/>
        </p:nvSpPr>
        <p:spPr>
          <a:xfrm rot="0">
            <a:off x="1187358" y="7356485"/>
            <a:ext cx="4951363" cy="580391"/>
          </a:xfrm>
          <a:prstGeom prst="rect">
            <a:avLst/>
          </a:prstGeom>
        </p:spPr>
        <p:txBody>
          <a:bodyPr anchor="t" rtlCol="false" tIns="0" lIns="0" bIns="0" rIns="0">
            <a:spAutoFit/>
          </a:bodyPr>
          <a:lstStyle/>
          <a:p>
            <a:pPr algn="l">
              <a:lnSpc>
                <a:spcPts val="4759"/>
              </a:lnSpc>
              <a:spcBef>
                <a:spcPct val="0"/>
              </a:spcBef>
            </a:pPr>
            <a:r>
              <a:rPr lang="en-US" b="true" sz="3399" spc="-101">
                <a:solidFill>
                  <a:srgbClr val="FFFFFF"/>
                </a:solidFill>
                <a:latin typeface="Montserrat Bold"/>
                <a:ea typeface="Montserrat Bold"/>
                <a:cs typeface="Montserrat Bold"/>
                <a:sym typeface="Montserrat Bold"/>
              </a:rPr>
              <a:t>3 - dars</a:t>
            </a:r>
          </a:p>
        </p:txBody>
      </p:sp>
      <p:sp>
        <p:nvSpPr>
          <p:cNvPr name="Freeform 12" id="12"/>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1087760" y="2453892"/>
            <a:ext cx="5567243" cy="6804408"/>
          </a:xfrm>
          <a:custGeom>
            <a:avLst/>
            <a:gdLst/>
            <a:ahLst/>
            <a:cxnLst/>
            <a:rect r="r" b="b" t="t" l="l"/>
            <a:pathLst>
              <a:path h="6804408" w="5567243">
                <a:moveTo>
                  <a:pt x="0" y="0"/>
                </a:moveTo>
                <a:lnTo>
                  <a:pt x="5567244" y="0"/>
                </a:lnTo>
                <a:lnTo>
                  <a:pt x="5567244" y="6804408"/>
                </a:lnTo>
                <a:lnTo>
                  <a:pt x="0" y="6804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2043872"/>
            <a:ext cx="7764574" cy="896239"/>
          </a:xfrm>
          <a:prstGeom prst="rect">
            <a:avLst/>
          </a:prstGeom>
        </p:spPr>
        <p:txBody>
          <a:bodyPr anchor="t" rtlCol="false" tIns="0" lIns="0" bIns="0" rIns="0">
            <a:spAutoFit/>
          </a:bodyPr>
          <a:lstStyle/>
          <a:p>
            <a:pPr algn="l">
              <a:lnSpc>
                <a:spcPts val="6847"/>
              </a:lnSpc>
            </a:pPr>
            <a:r>
              <a:rPr lang="en-US" sz="6399" spc="-281" b="true">
                <a:solidFill>
                  <a:srgbClr val="FFFFFF"/>
                </a:solidFill>
                <a:latin typeface="Montserrat Bold"/>
                <a:ea typeface="Montserrat Bold"/>
                <a:cs typeface="Montserrat Bold"/>
                <a:sym typeface="Montserrat Bold"/>
              </a:rPr>
              <a:t>WHERE</a:t>
            </a:r>
          </a:p>
        </p:txBody>
      </p:sp>
      <p:sp>
        <p:nvSpPr>
          <p:cNvPr name="TextBox 5" id="5"/>
          <p:cNvSpPr txBox="true"/>
          <p:nvPr/>
        </p:nvSpPr>
        <p:spPr>
          <a:xfrm rot="0">
            <a:off x="1187358" y="3689012"/>
            <a:ext cx="9020007" cy="5704997"/>
          </a:xfrm>
          <a:prstGeom prst="rect">
            <a:avLst/>
          </a:prstGeom>
        </p:spPr>
        <p:txBody>
          <a:bodyPr anchor="t" rtlCol="false" tIns="0" lIns="0" bIns="0" rIns="0">
            <a:spAutoFit/>
          </a:bodyPr>
          <a:lstStyle/>
          <a:p>
            <a:pPr algn="just">
              <a:lnSpc>
                <a:spcPts val="3514"/>
              </a:lnSpc>
              <a:spcBef>
                <a:spcPct val="0"/>
              </a:spcBef>
            </a:pPr>
            <a:r>
              <a:rPr lang="en-US" b="true" sz="2510" i="true">
                <a:solidFill>
                  <a:srgbClr val="0BEE22"/>
                </a:solidFill>
                <a:latin typeface="Montserrat Bold Italics"/>
                <a:ea typeface="Montserrat Bold Italics"/>
                <a:cs typeface="Montserrat Bold Italics"/>
                <a:sym typeface="Montserrat Bold Italics"/>
              </a:rPr>
              <a:t> Bu SQL tilidagi juda muhim tushuncha bo‘lib, u ma’lumotlarni tartibsiz holda emas, balki aniq shart asosida tanlab olishga yordam beradi. Oddiy hayotdan misol keltirsak, bu xuddi kutubxonaga kirib, barcha kitoblarni emas, faqat kerakli mavzudagi kitoblarni qidirishga o‘xshaydi.advalda ko‘plab ma’lumotlar bo‘lishi mumkin, lekin har doim ham hammasi kerak bo‘lavermaydi. Shunda WHERE yordamga keladi. U har bir qatorni tekshiradi va faqat berilgan shartga mos kelganlarini ajratib beradi. Masalan, faqat 18 yoshdagilarni yoki faqat ma’lum bir ismga ega bo‘lganlarni chiqarish mumkin.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187358" y="2448354"/>
            <a:ext cx="5289091" cy="4365905"/>
          </a:xfrm>
          <a:custGeom>
            <a:avLst/>
            <a:gdLst/>
            <a:ahLst/>
            <a:cxnLst/>
            <a:rect r="r" b="b" t="t" l="l"/>
            <a:pathLst>
              <a:path h="4365905" w="5289091">
                <a:moveTo>
                  <a:pt x="0" y="0"/>
                </a:moveTo>
                <a:lnTo>
                  <a:pt x="5289091" y="0"/>
                </a:lnTo>
                <a:lnTo>
                  <a:pt x="5289091" y="4365904"/>
                </a:lnTo>
                <a:lnTo>
                  <a:pt x="0" y="43659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33139" y="5434682"/>
            <a:ext cx="4239900" cy="3823618"/>
          </a:xfrm>
          <a:custGeom>
            <a:avLst/>
            <a:gdLst/>
            <a:ahLst/>
            <a:cxnLst/>
            <a:rect r="r" b="b" t="t" l="l"/>
            <a:pathLst>
              <a:path h="3823618" w="4239900">
                <a:moveTo>
                  <a:pt x="0" y="0"/>
                </a:moveTo>
                <a:lnTo>
                  <a:pt x="4239900" y="0"/>
                </a:lnTo>
                <a:lnTo>
                  <a:pt x="4239900" y="3823618"/>
                </a:lnTo>
                <a:lnTo>
                  <a:pt x="0" y="38236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956483" y="3041937"/>
            <a:ext cx="10103985" cy="896239"/>
          </a:xfrm>
          <a:prstGeom prst="rect">
            <a:avLst/>
          </a:prstGeom>
        </p:spPr>
        <p:txBody>
          <a:bodyPr anchor="t" rtlCol="false" tIns="0" lIns="0" bIns="0" rIns="0">
            <a:spAutoFit/>
          </a:bodyPr>
          <a:lstStyle/>
          <a:p>
            <a:pPr algn="just">
              <a:lnSpc>
                <a:spcPts val="6847"/>
              </a:lnSpc>
            </a:pPr>
            <a:r>
              <a:rPr lang="en-US" b="true" sz="6399" spc="-281">
                <a:solidFill>
                  <a:srgbClr val="FFFFFF"/>
                </a:solidFill>
                <a:latin typeface="Montserrat Bold"/>
                <a:ea typeface="Montserrat Bold"/>
                <a:cs typeface="Montserrat Bold"/>
                <a:sym typeface="Montserrat Bold"/>
              </a:rPr>
              <a:t>Qanday ishlaydi WHERE</a:t>
            </a:r>
          </a:p>
        </p:txBody>
      </p:sp>
      <p:sp>
        <p:nvSpPr>
          <p:cNvPr name="TextBox 6" id="6"/>
          <p:cNvSpPr txBox="true"/>
          <p:nvPr/>
        </p:nvSpPr>
        <p:spPr>
          <a:xfrm rot="0">
            <a:off x="8668375" y="5086350"/>
            <a:ext cx="8590925" cy="2296611"/>
          </a:xfrm>
          <a:prstGeom prst="rect">
            <a:avLst/>
          </a:prstGeom>
        </p:spPr>
        <p:txBody>
          <a:bodyPr anchor="t" rtlCol="false" tIns="0" lIns="0" bIns="0" rIns="0">
            <a:spAutoFit/>
          </a:bodyPr>
          <a:lstStyle/>
          <a:p>
            <a:pPr algn="just">
              <a:lnSpc>
                <a:spcPts val="3755"/>
              </a:lnSpc>
            </a:pPr>
            <a:r>
              <a:rPr lang="en-US" b="true" sz="2682" i="true">
                <a:solidFill>
                  <a:srgbClr val="0BEE22"/>
                </a:solidFill>
                <a:latin typeface="Montserrat Bold Italics"/>
                <a:ea typeface="Montserrat Bold Italics"/>
                <a:cs typeface="Montserrat Bold Italics"/>
                <a:sym typeface="Montserrat Bold Italics"/>
              </a:rPr>
              <a:t>Har bir qator uchun shart tekshiriladi</a:t>
            </a:r>
          </a:p>
          <a:p>
            <a:pPr algn="just">
              <a:lnSpc>
                <a:spcPts val="3755"/>
              </a:lnSpc>
            </a:pPr>
            <a:r>
              <a:rPr lang="en-US" b="true" sz="2682" i="true">
                <a:solidFill>
                  <a:srgbClr val="0BEE22"/>
                </a:solidFill>
                <a:latin typeface="Montserrat Bold Italics"/>
                <a:ea typeface="Montserrat Bold Italics"/>
                <a:cs typeface="Montserrat Bold Italics"/>
                <a:sym typeface="Montserrat Bold Italics"/>
              </a:rPr>
              <a:t>Agar shart rost (true) bo‘lsa → qator olinadi</a:t>
            </a:r>
          </a:p>
          <a:p>
            <a:pPr algn="just">
              <a:lnSpc>
                <a:spcPts val="3755"/>
              </a:lnSpc>
            </a:pPr>
            <a:r>
              <a:rPr lang="en-US" b="true" sz="2682" i="true">
                <a:solidFill>
                  <a:srgbClr val="0BEE22"/>
                </a:solidFill>
                <a:latin typeface="Montserrat Bold Italics"/>
                <a:ea typeface="Montserrat Bold Italics"/>
                <a:cs typeface="Montserrat Bold Italics"/>
                <a:sym typeface="Montserrat Bold Italics"/>
              </a:rPr>
              <a:t>Agar yolg‘on (false) bo‘lsa → tashlab yuboriladi</a:t>
            </a:r>
          </a:p>
          <a:p>
            <a:pPr algn="just">
              <a:lnSpc>
                <a:spcPts val="3475"/>
              </a:lnSpc>
              <a:spcBef>
                <a:spcPct val="0"/>
              </a:spcBef>
            </a:pPr>
            <a:r>
              <a:rPr lang="en-US" b="true" sz="2482" i="true">
                <a:solidFill>
                  <a:srgbClr val="0BEE22"/>
                </a:solidFill>
                <a:latin typeface="Montserrat Bold Italics"/>
                <a:ea typeface="Montserrat Bold Italics"/>
                <a:cs typeface="Montserrat Bold Italics"/>
                <a:sym typeface="Montserrat Bold Italics"/>
              </a:rPr>
              <a:t>WHERE — berilgan shart asosida kerakli qatorlarni tanlaydi.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717546" y="2003453"/>
            <a:ext cx="5151250" cy="3493484"/>
          </a:xfrm>
          <a:custGeom>
            <a:avLst/>
            <a:gdLst/>
            <a:ahLst/>
            <a:cxnLst/>
            <a:rect r="r" b="b" t="t" l="l"/>
            <a:pathLst>
              <a:path h="3493484" w="5151250">
                <a:moveTo>
                  <a:pt x="0" y="0"/>
                </a:moveTo>
                <a:lnTo>
                  <a:pt x="5151250" y="0"/>
                </a:lnTo>
                <a:lnTo>
                  <a:pt x="5151250" y="3493484"/>
                </a:lnTo>
                <a:lnTo>
                  <a:pt x="0" y="34934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53187" y="2017406"/>
            <a:ext cx="7490209" cy="1732788"/>
          </a:xfrm>
          <a:prstGeom prst="rect">
            <a:avLst/>
          </a:prstGeom>
        </p:spPr>
        <p:txBody>
          <a:bodyPr anchor="t" rtlCol="false" tIns="0" lIns="0" bIns="0" rIns="0">
            <a:spAutoFit/>
          </a:bodyPr>
          <a:lstStyle/>
          <a:p>
            <a:pPr algn="just">
              <a:lnSpc>
                <a:spcPts val="6741"/>
              </a:lnSpc>
            </a:pPr>
            <a:r>
              <a:rPr lang="en-US" b="true" sz="6300" spc="-277">
                <a:solidFill>
                  <a:srgbClr val="FFFFFF"/>
                </a:solidFill>
                <a:latin typeface="Montserrat Bold"/>
                <a:ea typeface="Montserrat Bold"/>
                <a:cs typeface="Montserrat Bold"/>
                <a:sym typeface="Montserrat Bold"/>
              </a:rPr>
              <a:t>Ko‘p ishlatiladigan operatorlar :</a:t>
            </a:r>
          </a:p>
        </p:txBody>
      </p:sp>
      <p:sp>
        <p:nvSpPr>
          <p:cNvPr name="TextBox 6" id="6"/>
          <p:cNvSpPr txBox="true"/>
          <p:nvPr/>
        </p:nvSpPr>
        <p:spPr>
          <a:xfrm rot="0">
            <a:off x="1028700" y="6560613"/>
            <a:ext cx="7462425" cy="2489016"/>
          </a:xfrm>
          <a:prstGeom prst="rect">
            <a:avLst/>
          </a:prstGeom>
        </p:spPr>
        <p:txBody>
          <a:bodyPr anchor="t" rtlCol="false" tIns="0" lIns="0" bIns="0" rIns="0">
            <a:spAutoFit/>
          </a:bodyPr>
          <a:lstStyle/>
          <a:p>
            <a:pPr algn="just">
              <a:lnSpc>
                <a:spcPts val="3475"/>
              </a:lnSpc>
            </a:pPr>
            <a:r>
              <a:rPr lang="en-US" b="true" sz="2482" i="true">
                <a:solidFill>
                  <a:srgbClr val="0BEE22"/>
                </a:solidFill>
                <a:latin typeface="Montserrat Bold Italics"/>
                <a:ea typeface="Montserrat Bold Italics"/>
                <a:cs typeface="Montserrat Bold Italics"/>
                <a:sym typeface="Montserrat Bold Italics"/>
              </a:rPr>
              <a:t>= teng</a:t>
            </a:r>
          </a:p>
          <a:p>
            <a:pPr algn="just">
              <a:lnSpc>
                <a:spcPts val="3475"/>
              </a:lnSpc>
            </a:pPr>
            <a:r>
              <a:rPr lang="en-US" b="true" sz="2482" i="true">
                <a:solidFill>
                  <a:srgbClr val="0BEE22"/>
                </a:solidFill>
                <a:latin typeface="Montserrat Bold Italics"/>
                <a:ea typeface="Montserrat Bold Italics"/>
                <a:cs typeface="Montserrat Bold Italics"/>
                <a:sym typeface="Montserrat Bold Italics"/>
              </a:rPr>
              <a:t>!= teng emas</a:t>
            </a:r>
          </a:p>
          <a:p>
            <a:pPr algn="just">
              <a:lnSpc>
                <a:spcPts val="3475"/>
              </a:lnSpc>
            </a:pPr>
            <a:r>
              <a:rPr lang="en-US" b="true" sz="2482" i="true">
                <a:solidFill>
                  <a:srgbClr val="0BEE22"/>
                </a:solidFill>
                <a:latin typeface="Montserrat Bold Italics"/>
                <a:ea typeface="Montserrat Bold Italics"/>
                <a:cs typeface="Montserrat Bold Italics"/>
                <a:sym typeface="Montserrat Bold Italics"/>
              </a:rPr>
              <a:t>&gt;, &lt;, &gt;=, &lt;=</a:t>
            </a:r>
          </a:p>
          <a:p>
            <a:pPr algn="just">
              <a:lnSpc>
                <a:spcPts val="3475"/>
              </a:lnSpc>
            </a:pPr>
            <a:r>
              <a:rPr lang="en-US" b="true" sz="2482" i="true">
                <a:solidFill>
                  <a:srgbClr val="0BEE22"/>
                </a:solidFill>
                <a:latin typeface="Montserrat Bold Italics"/>
                <a:ea typeface="Montserrat Bold Italics"/>
                <a:cs typeface="Montserrat Bold Italics"/>
                <a:sym typeface="Montserrat Bold Italics"/>
              </a:rPr>
              <a:t>AND, OR, NOT</a:t>
            </a:r>
          </a:p>
          <a:p>
            <a:pPr algn="just">
              <a:lnSpc>
                <a:spcPts val="3475"/>
              </a:lnSpc>
            </a:pPr>
            <a:r>
              <a:rPr lang="en-US" b="true" sz="2482" i="true">
                <a:solidFill>
                  <a:srgbClr val="0BEE22"/>
                </a:solidFill>
                <a:latin typeface="Montserrat Bold Italics"/>
                <a:ea typeface="Montserrat Bold Italics"/>
                <a:cs typeface="Montserrat Bold Italics"/>
                <a:sym typeface="Montserrat Bold Italics"/>
              </a:rPr>
              <a:t>IN, BETWEEN, LIKE</a:t>
            </a:r>
          </a:p>
          <a:p>
            <a:pPr algn="just">
              <a:lnSpc>
                <a:spcPts val="2495"/>
              </a:lnSpc>
              <a:spcBef>
                <a:spcPct val="0"/>
              </a:spcBef>
            </a:pPr>
          </a:p>
        </p:txBody>
      </p:sp>
      <p:sp>
        <p:nvSpPr>
          <p:cNvPr name="TextBox 7" id="7"/>
          <p:cNvSpPr txBox="true"/>
          <p:nvPr/>
        </p:nvSpPr>
        <p:spPr>
          <a:xfrm rot="0">
            <a:off x="7858835" y="6551088"/>
            <a:ext cx="9321136" cy="2267585"/>
          </a:xfrm>
          <a:prstGeom prst="rect">
            <a:avLst/>
          </a:prstGeom>
        </p:spPr>
        <p:txBody>
          <a:bodyPr anchor="t" rtlCol="false" tIns="0" lIns="0" bIns="0" rIns="0">
            <a:spAutoFit/>
          </a:bodyPr>
          <a:lstStyle/>
          <a:p>
            <a:pPr algn="just">
              <a:lnSpc>
                <a:spcPts val="3639"/>
              </a:lnSpc>
              <a:spcBef>
                <a:spcPct val="0"/>
              </a:spcBef>
            </a:pPr>
            <a:r>
              <a:rPr lang="en-US" b="true" sz="2599" i="true">
                <a:solidFill>
                  <a:srgbClr val="0BEE22"/>
                </a:solidFill>
                <a:latin typeface="Montserrat Semi-Bold Italics"/>
                <a:ea typeface="Montserrat Semi-Bold Italics"/>
                <a:cs typeface="Montserrat Semi-Bold Italics"/>
                <a:sym typeface="Montserrat Semi-Bold Italics"/>
              </a:rPr>
              <a:t>Bu operatorlar WHERE bilan birga ishlatiladi va shart qo‘yishga yordam beradi. Ular orqali ma’lumotlar solishtiriladi (=, &gt;, &lt;), bir nechta shartlar birlashtiriladi (AND, OR, NOT) yoki ma’lumotlar ma’lum guruh yoki oraliq bo‘yicha tanlanadi (IN, BETWEEN, LIKE).</a:t>
            </a:r>
          </a:p>
        </p:txBody>
      </p:sp>
      <p:sp>
        <p:nvSpPr>
          <p:cNvPr name="Freeform 8" id="8"/>
          <p:cNvSpPr/>
          <p:nvPr/>
        </p:nvSpPr>
        <p:spPr>
          <a:xfrm flipH="false" flipV="false" rot="0">
            <a:off x="15204829" y="4103632"/>
            <a:ext cx="2054471" cy="1393305"/>
          </a:xfrm>
          <a:custGeom>
            <a:avLst/>
            <a:gdLst/>
            <a:ahLst/>
            <a:cxnLst/>
            <a:rect r="r" b="b" t="t" l="l"/>
            <a:pathLst>
              <a:path h="1393305" w="2054471">
                <a:moveTo>
                  <a:pt x="0" y="0"/>
                </a:moveTo>
                <a:lnTo>
                  <a:pt x="2054471" y="0"/>
                </a:lnTo>
                <a:lnTo>
                  <a:pt x="2054471" y="1393305"/>
                </a:lnTo>
                <a:lnTo>
                  <a:pt x="0" y="13933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187358" y="1028700"/>
            <a:ext cx="2024406" cy="698786"/>
            <a:chOff x="0" y="0"/>
            <a:chExt cx="2699208" cy="931715"/>
          </a:xfrm>
        </p:grpSpPr>
        <p:grpSp>
          <p:nvGrpSpPr>
            <p:cNvPr name="Group 4" id="4"/>
            <p:cNvGrpSpPr/>
            <p:nvPr/>
          </p:nvGrpSpPr>
          <p:grpSpPr>
            <a:xfrm rot="0">
              <a:off x="0" y="0"/>
              <a:ext cx="2699208" cy="931715"/>
              <a:chOff x="0" y="0"/>
              <a:chExt cx="533177" cy="184042"/>
            </a:xfrm>
          </p:grpSpPr>
          <p:sp>
            <p:nvSpPr>
              <p:cNvPr name="Freeform 5" id="5"/>
              <p:cNvSpPr/>
              <p:nvPr/>
            </p:nvSpPr>
            <p:spPr>
              <a:xfrm flipH="false" flipV="false" rot="0">
                <a:off x="0" y="0"/>
                <a:ext cx="533177" cy="184042"/>
              </a:xfrm>
              <a:custGeom>
                <a:avLst/>
                <a:gdLst/>
                <a:ahLst/>
                <a:cxnLst/>
                <a:rect r="r" b="b" t="t" l="l"/>
                <a:pathLst>
                  <a:path h="184042" w="533177">
                    <a:moveTo>
                      <a:pt x="92021" y="0"/>
                    </a:moveTo>
                    <a:lnTo>
                      <a:pt x="441156" y="0"/>
                    </a:lnTo>
                    <a:cubicBezTo>
                      <a:pt x="491978" y="0"/>
                      <a:pt x="533177" y="41199"/>
                      <a:pt x="533177" y="92021"/>
                    </a:cubicBezTo>
                    <a:lnTo>
                      <a:pt x="533177" y="92021"/>
                    </a:lnTo>
                    <a:cubicBezTo>
                      <a:pt x="533177" y="142843"/>
                      <a:pt x="491978" y="184042"/>
                      <a:pt x="441156" y="184042"/>
                    </a:cubicBezTo>
                    <a:lnTo>
                      <a:pt x="92021" y="184042"/>
                    </a:lnTo>
                    <a:cubicBezTo>
                      <a:pt x="41199" y="184042"/>
                      <a:pt x="0" y="142843"/>
                      <a:pt x="0" y="92021"/>
                    </a:cubicBezTo>
                    <a:lnTo>
                      <a:pt x="0" y="92021"/>
                    </a:lnTo>
                    <a:cubicBezTo>
                      <a:pt x="0" y="41199"/>
                      <a:pt x="41199" y="0"/>
                      <a:pt x="92021" y="0"/>
                    </a:cubicBezTo>
                    <a:close/>
                  </a:path>
                </a:pathLst>
              </a:custGeom>
              <a:ln w="19050" cap="rnd">
                <a:solidFill>
                  <a:srgbClr val="FFFFFF"/>
                </a:solidFill>
                <a:prstDash val="solid"/>
                <a:round/>
              </a:ln>
            </p:spPr>
          </p:sp>
          <p:sp>
            <p:nvSpPr>
              <p:cNvPr name="TextBox 6" id="6"/>
              <p:cNvSpPr txBox="true"/>
              <p:nvPr/>
            </p:nvSpPr>
            <p:spPr>
              <a:xfrm>
                <a:off x="0" y="-38100"/>
                <a:ext cx="533177" cy="222142"/>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230953" y="215668"/>
              <a:ext cx="2237303" cy="462280"/>
            </a:xfrm>
            <a:prstGeom prst="rect">
              <a:avLst/>
            </a:prstGeom>
          </p:spPr>
          <p:txBody>
            <a:bodyPr anchor="t" rtlCol="false" tIns="0" lIns="0" bIns="0" rIns="0">
              <a:spAutoFit/>
            </a:bodyPr>
            <a:lstStyle/>
            <a:p>
              <a:pPr algn="ctr">
                <a:lnSpc>
                  <a:spcPts val="2940"/>
                </a:lnSpc>
                <a:spcBef>
                  <a:spcPct val="0"/>
                </a:spcBef>
              </a:pPr>
              <a:r>
                <a:rPr lang="en-US" sz="2100" spc="-63">
                  <a:solidFill>
                    <a:srgbClr val="FFFFFF"/>
                  </a:solidFill>
                  <a:latin typeface="Montserrat"/>
                  <a:ea typeface="Montserrat"/>
                  <a:cs typeface="Montserrat"/>
                  <a:sym typeface="Montserrat"/>
                </a:rPr>
                <a:t>RIMBERIO</a:t>
              </a:r>
            </a:p>
          </p:txBody>
        </p:sp>
      </p:grpSp>
      <p:sp>
        <p:nvSpPr>
          <p:cNvPr name="Freeform 8" id="8"/>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87358" y="2495760"/>
            <a:ext cx="2881849" cy="3001926"/>
          </a:xfrm>
          <a:custGeom>
            <a:avLst/>
            <a:gdLst/>
            <a:ahLst/>
            <a:cxnLst/>
            <a:rect r="r" b="b" t="t" l="l"/>
            <a:pathLst>
              <a:path h="3001926" w="2881849">
                <a:moveTo>
                  <a:pt x="0" y="0"/>
                </a:moveTo>
                <a:lnTo>
                  <a:pt x="2881849" y="0"/>
                </a:lnTo>
                <a:lnTo>
                  <a:pt x="2881849" y="3001926"/>
                </a:lnTo>
                <a:lnTo>
                  <a:pt x="0" y="30019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562619" y="2965737"/>
            <a:ext cx="3172146" cy="2531949"/>
          </a:xfrm>
          <a:custGeom>
            <a:avLst/>
            <a:gdLst/>
            <a:ahLst/>
            <a:cxnLst/>
            <a:rect r="r" b="b" t="t" l="l"/>
            <a:pathLst>
              <a:path h="2531949" w="3172146">
                <a:moveTo>
                  <a:pt x="0" y="0"/>
                </a:moveTo>
                <a:lnTo>
                  <a:pt x="3172146" y="0"/>
                </a:lnTo>
                <a:lnTo>
                  <a:pt x="3172146" y="2531949"/>
                </a:lnTo>
                <a:lnTo>
                  <a:pt x="0" y="2531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9784427" y="3051462"/>
            <a:ext cx="7781613" cy="100469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Umumiy vazifasi:</a:t>
            </a:r>
          </a:p>
        </p:txBody>
      </p:sp>
      <p:sp>
        <p:nvSpPr>
          <p:cNvPr name="TextBox 12" id="12"/>
          <p:cNvSpPr txBox="true"/>
          <p:nvPr/>
        </p:nvSpPr>
        <p:spPr>
          <a:xfrm rot="0">
            <a:off x="1028700" y="7065194"/>
            <a:ext cx="4875956" cy="1794961"/>
          </a:xfrm>
          <a:prstGeom prst="rect">
            <a:avLst/>
          </a:prstGeom>
        </p:spPr>
        <p:txBody>
          <a:bodyPr anchor="t" rtlCol="false" tIns="0" lIns="0" bIns="0" rIns="0">
            <a:spAutoFit/>
          </a:bodyPr>
          <a:lstStyle/>
          <a:p>
            <a:pPr algn="just">
              <a:lnSpc>
                <a:spcPts val="2915"/>
              </a:lnSpc>
              <a:spcBef>
                <a:spcPct val="0"/>
              </a:spcBef>
            </a:pPr>
            <a:r>
              <a:rPr lang="en-US" b="true" sz="2082" i="true">
                <a:solidFill>
                  <a:srgbClr val="0BEE22"/>
                </a:solidFill>
                <a:latin typeface="Montserrat Bold Italics"/>
                <a:ea typeface="Montserrat Bold Italics"/>
                <a:cs typeface="Montserrat Bold Italics"/>
                <a:sym typeface="Montserrat Bold Italics"/>
              </a:rPr>
              <a:t>Bir nechta shartni birlashtiradi va hammasi rost bo‘lishi kerak. Faqat barcha shartlarga mos qator chiqadi. Yani hammasi truei bo’lsagina ishlaydi</a:t>
            </a:r>
          </a:p>
        </p:txBody>
      </p:sp>
      <p:sp>
        <p:nvSpPr>
          <p:cNvPr name="TextBox 13" id="13"/>
          <p:cNvSpPr txBox="true"/>
          <p:nvPr/>
        </p:nvSpPr>
        <p:spPr>
          <a:xfrm rot="0">
            <a:off x="1028700" y="6560613"/>
            <a:ext cx="4875956"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AND </a:t>
            </a:r>
          </a:p>
        </p:txBody>
      </p:sp>
      <p:sp>
        <p:nvSpPr>
          <p:cNvPr name="TextBox 14" id="14"/>
          <p:cNvSpPr txBox="true"/>
          <p:nvPr/>
        </p:nvSpPr>
        <p:spPr>
          <a:xfrm rot="0">
            <a:off x="6706022" y="7065194"/>
            <a:ext cx="5132330" cy="1794961"/>
          </a:xfrm>
          <a:prstGeom prst="rect">
            <a:avLst/>
          </a:prstGeom>
        </p:spPr>
        <p:txBody>
          <a:bodyPr anchor="t" rtlCol="false" tIns="0" lIns="0" bIns="0" rIns="0">
            <a:spAutoFit/>
          </a:bodyPr>
          <a:lstStyle/>
          <a:p>
            <a:pPr algn="just">
              <a:lnSpc>
                <a:spcPts val="2915"/>
              </a:lnSpc>
              <a:spcBef>
                <a:spcPct val="0"/>
              </a:spcBef>
            </a:pPr>
            <a:r>
              <a:rPr lang="en-US" b="true" sz="2082" i="true">
                <a:solidFill>
                  <a:srgbClr val="0BEE22"/>
                </a:solidFill>
                <a:latin typeface="Montserrat Bold Italics"/>
                <a:ea typeface="Montserrat Bold Italics"/>
                <a:cs typeface="Montserrat Bold Italics"/>
                <a:sym typeface="Montserrat Bold Italics"/>
              </a:rPr>
              <a:t>Bir nechta shartdan kamida bittasi rost bo‘lsa yetarli. Shartlardan biri bajarilsa ham qator chiqadi. Yani  bun aperatorda bittasi fols bulsa ham true chiqadi</a:t>
            </a:r>
          </a:p>
        </p:txBody>
      </p:sp>
      <p:sp>
        <p:nvSpPr>
          <p:cNvPr name="TextBox 15" id="15"/>
          <p:cNvSpPr txBox="true"/>
          <p:nvPr/>
        </p:nvSpPr>
        <p:spPr>
          <a:xfrm rot="0">
            <a:off x="6706022" y="6560613"/>
            <a:ext cx="4875956"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OR</a:t>
            </a:r>
          </a:p>
        </p:txBody>
      </p:sp>
      <p:sp>
        <p:nvSpPr>
          <p:cNvPr name="TextBox 16" id="16"/>
          <p:cNvSpPr txBox="true"/>
          <p:nvPr/>
        </p:nvSpPr>
        <p:spPr>
          <a:xfrm rot="0">
            <a:off x="12383344" y="7065194"/>
            <a:ext cx="4875956" cy="1794961"/>
          </a:xfrm>
          <a:prstGeom prst="rect">
            <a:avLst/>
          </a:prstGeom>
        </p:spPr>
        <p:txBody>
          <a:bodyPr anchor="t" rtlCol="false" tIns="0" lIns="0" bIns="0" rIns="0">
            <a:spAutoFit/>
          </a:bodyPr>
          <a:lstStyle/>
          <a:p>
            <a:pPr algn="just">
              <a:lnSpc>
                <a:spcPts val="2915"/>
              </a:lnSpc>
              <a:spcBef>
                <a:spcPct val="0"/>
              </a:spcBef>
            </a:pPr>
            <a:r>
              <a:rPr lang="en-US" b="true" sz="2082" i="true">
                <a:solidFill>
                  <a:srgbClr val="0BEE22"/>
                </a:solidFill>
                <a:latin typeface="Montserrat Bold Italics"/>
                <a:ea typeface="Montserrat Bold Italics"/>
                <a:cs typeface="Montserrat Bold Italics"/>
                <a:sym typeface="Montserrat Bold Italics"/>
              </a:rPr>
              <a:t>Shartni inkor qiladi. Ya’ni rostni yolg‘onga, yolg‘onni rostga aylantiradi. Natijada berilgan shartga mos kelmaydigan (aksincha) qatorlar tanlab olinadi.</a:t>
            </a:r>
          </a:p>
        </p:txBody>
      </p:sp>
      <p:sp>
        <p:nvSpPr>
          <p:cNvPr name="TextBox 17" id="17"/>
          <p:cNvSpPr txBox="true"/>
          <p:nvPr/>
        </p:nvSpPr>
        <p:spPr>
          <a:xfrm rot="0">
            <a:off x="12383344" y="6560613"/>
            <a:ext cx="4875956"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NOT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779565" y="3751088"/>
            <a:ext cx="2864399" cy="2338391"/>
          </a:xfrm>
          <a:custGeom>
            <a:avLst/>
            <a:gdLst/>
            <a:ahLst/>
            <a:cxnLst/>
            <a:rect r="r" b="b" t="t" l="l"/>
            <a:pathLst>
              <a:path h="2338391" w="2864399">
                <a:moveTo>
                  <a:pt x="0" y="0"/>
                </a:moveTo>
                <a:lnTo>
                  <a:pt x="2864398" y="0"/>
                </a:lnTo>
                <a:lnTo>
                  <a:pt x="2864398" y="2338391"/>
                </a:lnTo>
                <a:lnTo>
                  <a:pt x="0" y="2338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064088" y="3751088"/>
            <a:ext cx="2159823" cy="2338391"/>
          </a:xfrm>
          <a:custGeom>
            <a:avLst/>
            <a:gdLst/>
            <a:ahLst/>
            <a:cxnLst/>
            <a:rect r="r" b="b" t="t" l="l"/>
            <a:pathLst>
              <a:path h="2338391" w="2159823">
                <a:moveTo>
                  <a:pt x="0" y="0"/>
                </a:moveTo>
                <a:lnTo>
                  <a:pt x="2159824" y="0"/>
                </a:lnTo>
                <a:lnTo>
                  <a:pt x="2159824" y="2338391"/>
                </a:lnTo>
                <a:lnTo>
                  <a:pt x="0" y="2338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471034" y="3751088"/>
            <a:ext cx="2640893" cy="2338391"/>
          </a:xfrm>
          <a:custGeom>
            <a:avLst/>
            <a:gdLst/>
            <a:ahLst/>
            <a:cxnLst/>
            <a:rect r="r" b="b" t="t" l="l"/>
            <a:pathLst>
              <a:path h="2338391" w="2640893">
                <a:moveTo>
                  <a:pt x="0" y="0"/>
                </a:moveTo>
                <a:lnTo>
                  <a:pt x="2640894" y="0"/>
                </a:lnTo>
                <a:lnTo>
                  <a:pt x="2640894" y="2338391"/>
                </a:lnTo>
                <a:lnTo>
                  <a:pt x="0" y="2338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816966" y="2229032"/>
            <a:ext cx="8654069" cy="1004697"/>
          </a:xfrm>
          <a:prstGeom prst="rect">
            <a:avLst/>
          </a:prstGeom>
        </p:spPr>
        <p:txBody>
          <a:bodyPr anchor="t" rtlCol="false" tIns="0" lIns="0" bIns="0" rIns="0">
            <a:spAutoFit/>
          </a:bodyPr>
          <a:lstStyle/>
          <a:p>
            <a:pPr algn="ctr">
              <a:lnSpc>
                <a:spcPts val="7704"/>
              </a:lnSpc>
            </a:pPr>
            <a:r>
              <a:rPr lang="en-US" b="true" sz="7200" spc="-316">
                <a:solidFill>
                  <a:srgbClr val="FFFFFF"/>
                </a:solidFill>
                <a:latin typeface="Montserrat Bold"/>
                <a:ea typeface="Montserrat Bold"/>
                <a:cs typeface="Montserrat Bold"/>
                <a:sym typeface="Montserrat Bold"/>
              </a:rPr>
              <a:t>Umumiy vazifasi..</a:t>
            </a:r>
          </a:p>
        </p:txBody>
      </p:sp>
      <p:sp>
        <p:nvSpPr>
          <p:cNvPr name="TextBox 7" id="7"/>
          <p:cNvSpPr txBox="true"/>
          <p:nvPr/>
        </p:nvSpPr>
        <p:spPr>
          <a:xfrm rot="0">
            <a:off x="1028700" y="7065194"/>
            <a:ext cx="4875956" cy="3966661"/>
          </a:xfrm>
          <a:prstGeom prst="rect">
            <a:avLst/>
          </a:prstGeom>
        </p:spPr>
        <p:txBody>
          <a:bodyPr anchor="t" rtlCol="false" tIns="0" lIns="0" bIns="0" rIns="0">
            <a:spAutoFit/>
          </a:bodyPr>
          <a:lstStyle/>
          <a:p>
            <a:pPr algn="just">
              <a:lnSpc>
                <a:spcPts val="2915"/>
              </a:lnSpc>
            </a:pPr>
            <a:r>
              <a:rPr lang="en-US" b="true" sz="2082" i="true">
                <a:solidFill>
                  <a:srgbClr val="FF0431"/>
                </a:solidFill>
                <a:latin typeface="Montserrat Bold Italics"/>
                <a:ea typeface="Montserrat Bold Italics"/>
                <a:cs typeface="Montserrat Bold Italics"/>
                <a:sym typeface="Montserrat Bold Italics"/>
              </a:rPr>
              <a:t>OR</a:t>
            </a:r>
            <a:r>
              <a:rPr lang="en-US" b="true" sz="2082" i="true">
                <a:solidFill>
                  <a:srgbClr val="0BEE22"/>
                </a:solidFill>
                <a:latin typeface="Montserrat Bold Italics"/>
                <a:ea typeface="Montserrat Bold Italics"/>
                <a:cs typeface="Montserrat Bold Italics"/>
                <a:sym typeface="Montserrat Bold Italics"/>
              </a:rPr>
              <a:t> - bir nechta qiymatdan biriga mos kelishini tekshiradi. Ko‘p OR yozish o‘rniga ishlatiladi. Natijada ro‘yxatda keltirilgan qiymatlardan istalgan biriga mos kelgan qatorlar tez va qulay tarzda tanlab olinadi.</a:t>
            </a:r>
          </a:p>
          <a:p>
            <a:pPr algn="just">
              <a:lnSpc>
                <a:spcPts val="2915"/>
              </a:lnSpc>
            </a:pPr>
          </a:p>
          <a:p>
            <a:pPr algn="just">
              <a:lnSpc>
                <a:spcPts val="2915"/>
              </a:lnSpc>
            </a:pPr>
          </a:p>
          <a:p>
            <a:pPr algn="just">
              <a:lnSpc>
                <a:spcPts val="2915"/>
              </a:lnSpc>
            </a:pPr>
          </a:p>
          <a:p>
            <a:pPr algn="just">
              <a:lnSpc>
                <a:spcPts val="2915"/>
              </a:lnSpc>
              <a:spcBef>
                <a:spcPct val="0"/>
              </a:spcBef>
            </a:pPr>
          </a:p>
        </p:txBody>
      </p:sp>
      <p:sp>
        <p:nvSpPr>
          <p:cNvPr name="TextBox 8" id="8"/>
          <p:cNvSpPr txBox="true"/>
          <p:nvPr/>
        </p:nvSpPr>
        <p:spPr>
          <a:xfrm rot="0">
            <a:off x="6673975" y="7065194"/>
            <a:ext cx="5132330" cy="2518861"/>
          </a:xfrm>
          <a:prstGeom prst="rect">
            <a:avLst/>
          </a:prstGeom>
        </p:spPr>
        <p:txBody>
          <a:bodyPr anchor="t" rtlCol="false" tIns="0" lIns="0" bIns="0" rIns="0">
            <a:spAutoFit/>
          </a:bodyPr>
          <a:lstStyle/>
          <a:p>
            <a:pPr algn="just">
              <a:lnSpc>
                <a:spcPts val="2915"/>
              </a:lnSpc>
              <a:spcBef>
                <a:spcPct val="0"/>
              </a:spcBef>
            </a:pPr>
            <a:r>
              <a:rPr lang="en-US" b="true" sz="2082" i="true">
                <a:solidFill>
                  <a:srgbClr val="FF0431"/>
                </a:solidFill>
                <a:latin typeface="Montserrat Bold Italics"/>
                <a:ea typeface="Montserrat Bold Italics"/>
                <a:cs typeface="Montserrat Bold Italics"/>
                <a:sym typeface="Montserrat Bold Italics"/>
              </a:rPr>
              <a:t>BETWEEN</a:t>
            </a:r>
            <a:r>
              <a:rPr lang="en-US" b="true" sz="2082" i="true">
                <a:solidFill>
                  <a:srgbClr val="0BEE22"/>
                </a:solidFill>
                <a:latin typeface="Montserrat Bold Italics"/>
                <a:ea typeface="Montserrat Bold Italics"/>
                <a:cs typeface="Montserrat Bold Italics"/>
                <a:sym typeface="Montserrat Bold Italics"/>
              </a:rPr>
              <a:t> - qiymat ma’lum oraliqda (ikki qiymat orasida) ekanini tekshiradi. Chegaralar ham hisobga olinadi. Ya’ni boshlang‘ich va oxirgi qiymatlar ham natijaga kiritiladi va shu oraliqqa tushgan barcha qatorlar tanlab olinadi.</a:t>
            </a:r>
          </a:p>
        </p:txBody>
      </p:sp>
      <p:sp>
        <p:nvSpPr>
          <p:cNvPr name="TextBox 9" id="9"/>
          <p:cNvSpPr txBox="true"/>
          <p:nvPr/>
        </p:nvSpPr>
        <p:spPr>
          <a:xfrm rot="0">
            <a:off x="12383344" y="7065194"/>
            <a:ext cx="4875956" cy="2518861"/>
          </a:xfrm>
          <a:prstGeom prst="rect">
            <a:avLst/>
          </a:prstGeom>
        </p:spPr>
        <p:txBody>
          <a:bodyPr anchor="t" rtlCol="false" tIns="0" lIns="0" bIns="0" rIns="0">
            <a:spAutoFit/>
          </a:bodyPr>
          <a:lstStyle/>
          <a:p>
            <a:pPr algn="just">
              <a:lnSpc>
                <a:spcPts val="2915"/>
              </a:lnSpc>
              <a:spcBef>
                <a:spcPct val="0"/>
              </a:spcBef>
            </a:pPr>
            <a:r>
              <a:rPr lang="en-US" b="true" sz="2082" i="true">
                <a:solidFill>
                  <a:srgbClr val="FF0431"/>
                </a:solidFill>
                <a:latin typeface="Montserrat Bold Italics"/>
                <a:ea typeface="Montserrat Bold Italics"/>
                <a:cs typeface="Montserrat Bold Italics"/>
                <a:sym typeface="Montserrat Bold Italics"/>
              </a:rPr>
              <a:t>LIKE </a:t>
            </a:r>
            <a:r>
              <a:rPr lang="en-US" b="true" sz="2082" i="true">
                <a:solidFill>
                  <a:srgbClr val="0BEE22"/>
                </a:solidFill>
                <a:latin typeface="Montserrat Bold Italics"/>
                <a:ea typeface="Montserrat Bold Italics"/>
                <a:cs typeface="Montserrat Bold Italics"/>
                <a:sym typeface="Montserrat Bold Italics"/>
              </a:rPr>
              <a:t>- LIKE operatori SQL’da matn (string) bilan ishlash va ma’lum bir naqsh yoki o‘xshashlikka mos keladigan qatorlarni topish uchun ishlatiladi. Bu ayniqsa WHERE bilan birga qo‘llanadi. U asosan ‘%___%’ yoziladi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2148760" y="2405336"/>
            <a:ext cx="6062294" cy="1387762"/>
            <a:chOff x="0" y="0"/>
            <a:chExt cx="8083059" cy="1850349"/>
          </a:xfrm>
        </p:grpSpPr>
        <p:grpSp>
          <p:nvGrpSpPr>
            <p:cNvPr name="Group 4" id="4"/>
            <p:cNvGrpSpPr/>
            <p:nvPr/>
          </p:nvGrpSpPr>
          <p:grpSpPr>
            <a:xfrm rot="0">
              <a:off x="0" y="0"/>
              <a:ext cx="8083059" cy="1850349"/>
              <a:chOff x="0" y="0"/>
              <a:chExt cx="1596654" cy="365501"/>
            </a:xfrm>
          </p:grpSpPr>
          <p:sp>
            <p:nvSpPr>
              <p:cNvPr name="Freeform 5" id="5"/>
              <p:cNvSpPr/>
              <p:nvPr/>
            </p:nvSpPr>
            <p:spPr>
              <a:xfrm flipH="false" flipV="false" rot="0">
                <a:off x="0" y="0"/>
                <a:ext cx="1596654" cy="365501"/>
              </a:xfrm>
              <a:custGeom>
                <a:avLst/>
                <a:gdLst/>
                <a:ahLst/>
                <a:cxnLst/>
                <a:rect r="r" b="b" t="t" l="l"/>
                <a:pathLst>
                  <a:path h="365501" w="1596654">
                    <a:moveTo>
                      <a:pt x="44697" y="0"/>
                    </a:moveTo>
                    <a:lnTo>
                      <a:pt x="1551956" y="0"/>
                    </a:lnTo>
                    <a:cubicBezTo>
                      <a:pt x="1563811" y="0"/>
                      <a:pt x="1575180" y="4709"/>
                      <a:pt x="1583562" y="13091"/>
                    </a:cubicBezTo>
                    <a:cubicBezTo>
                      <a:pt x="1591944" y="21474"/>
                      <a:pt x="1596654" y="32843"/>
                      <a:pt x="1596654" y="44697"/>
                    </a:cubicBezTo>
                    <a:lnTo>
                      <a:pt x="1596654" y="320804"/>
                    </a:lnTo>
                    <a:cubicBezTo>
                      <a:pt x="1596654" y="332658"/>
                      <a:pt x="1591944" y="344027"/>
                      <a:pt x="1583562" y="352410"/>
                    </a:cubicBezTo>
                    <a:cubicBezTo>
                      <a:pt x="1575180" y="360792"/>
                      <a:pt x="1563811" y="365501"/>
                      <a:pt x="1551956" y="365501"/>
                    </a:cubicBezTo>
                    <a:lnTo>
                      <a:pt x="44697" y="365501"/>
                    </a:lnTo>
                    <a:cubicBezTo>
                      <a:pt x="32843" y="365501"/>
                      <a:pt x="21474" y="360792"/>
                      <a:pt x="13091" y="352410"/>
                    </a:cubicBezTo>
                    <a:cubicBezTo>
                      <a:pt x="4709" y="344027"/>
                      <a:pt x="0" y="332658"/>
                      <a:pt x="0" y="320804"/>
                    </a:cubicBezTo>
                    <a:lnTo>
                      <a:pt x="0" y="44697"/>
                    </a:lnTo>
                    <a:cubicBezTo>
                      <a:pt x="0" y="32843"/>
                      <a:pt x="4709" y="21474"/>
                      <a:pt x="13091" y="13091"/>
                    </a:cubicBezTo>
                    <a:cubicBezTo>
                      <a:pt x="21474" y="4709"/>
                      <a:pt x="32843" y="0"/>
                      <a:pt x="44697" y="0"/>
                    </a:cubicBezTo>
                    <a:close/>
                  </a:path>
                </a:pathLst>
              </a:custGeom>
              <a:ln w="19050" cap="rnd">
                <a:solidFill>
                  <a:srgbClr val="FFFFFF"/>
                </a:solidFill>
                <a:prstDash val="solid"/>
                <a:round/>
              </a:ln>
            </p:spPr>
          </p:sp>
          <p:sp>
            <p:nvSpPr>
              <p:cNvPr name="TextBox 6" id="6"/>
              <p:cNvSpPr txBox="true"/>
              <p:nvPr/>
            </p:nvSpPr>
            <p:spPr>
              <a:xfrm>
                <a:off x="0" y="-38100"/>
                <a:ext cx="1596654" cy="403601"/>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531890" y="549043"/>
              <a:ext cx="7019279" cy="685589"/>
            </a:xfrm>
            <a:prstGeom prst="rect">
              <a:avLst/>
            </a:prstGeom>
          </p:spPr>
          <p:txBody>
            <a:bodyPr anchor="t" rtlCol="false" tIns="0" lIns="0" bIns="0" rIns="0">
              <a:spAutoFit/>
            </a:bodyPr>
            <a:lstStyle/>
            <a:p>
              <a:pPr algn="ctr">
                <a:lnSpc>
                  <a:spcPts val="4339"/>
                </a:lnSpc>
                <a:spcBef>
                  <a:spcPct val="0"/>
                </a:spcBef>
              </a:pPr>
              <a:r>
                <a:rPr lang="en-US" b="true" sz="3099" spc="-92">
                  <a:solidFill>
                    <a:srgbClr val="FFFFFF"/>
                  </a:solidFill>
                  <a:latin typeface="Montserrat Bold"/>
                  <a:ea typeface="Montserrat Bold"/>
                  <a:cs typeface="Montserrat Bold"/>
                  <a:sym typeface="Montserrat Bold"/>
                </a:rPr>
                <a:t>QISQACHA MAZMUN KODI</a:t>
              </a:r>
            </a:p>
          </p:txBody>
        </p:sp>
      </p:grpSp>
      <p:sp>
        <p:nvSpPr>
          <p:cNvPr name="Freeform 8" id="8"/>
          <p:cNvSpPr/>
          <p:nvPr/>
        </p:nvSpPr>
        <p:spPr>
          <a:xfrm flipH="false" flipV="false" rot="0">
            <a:off x="11041792" y="2405336"/>
            <a:ext cx="6217508" cy="6852964"/>
          </a:xfrm>
          <a:custGeom>
            <a:avLst/>
            <a:gdLst/>
            <a:ahLst/>
            <a:cxnLst/>
            <a:rect r="r" b="b" t="t" l="l"/>
            <a:pathLst>
              <a:path h="6852964" w="6217508">
                <a:moveTo>
                  <a:pt x="0" y="0"/>
                </a:moveTo>
                <a:lnTo>
                  <a:pt x="6217508" y="0"/>
                </a:lnTo>
                <a:lnTo>
                  <a:pt x="6217508" y="6852964"/>
                </a:lnTo>
                <a:lnTo>
                  <a:pt x="0" y="68529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28700" y="4436930"/>
            <a:ext cx="9113009" cy="3626845"/>
          </a:xfrm>
          <a:prstGeom prst="rect">
            <a:avLst/>
          </a:prstGeom>
        </p:spPr>
        <p:txBody>
          <a:bodyPr anchor="t" rtlCol="false" tIns="0" lIns="0" bIns="0" rIns="0">
            <a:spAutoFit/>
          </a:bodyPr>
          <a:lstStyle/>
          <a:p>
            <a:pPr algn="just">
              <a:lnSpc>
                <a:spcPts val="3617"/>
              </a:lnSpc>
            </a:pPr>
            <a:r>
              <a:rPr lang="en-US" sz="2584" b="true">
                <a:solidFill>
                  <a:srgbClr val="0BEE22"/>
                </a:solidFill>
                <a:latin typeface="Montserrat Bold"/>
                <a:ea typeface="Montserrat Bold"/>
                <a:cs typeface="Montserrat Bold"/>
                <a:sym typeface="Montserrat Bold"/>
              </a:rPr>
              <a:t>SELECT *</a:t>
            </a:r>
          </a:p>
          <a:p>
            <a:pPr algn="just">
              <a:lnSpc>
                <a:spcPts val="3617"/>
              </a:lnSpc>
            </a:pPr>
            <a:r>
              <a:rPr lang="en-US" sz="2584" b="true">
                <a:solidFill>
                  <a:srgbClr val="0BEE22"/>
                </a:solidFill>
                <a:latin typeface="Montserrat Bold"/>
                <a:ea typeface="Montserrat Bold"/>
                <a:cs typeface="Montserrat Bold"/>
                <a:sym typeface="Montserrat Bold"/>
              </a:rPr>
              <a:t>FROM students</a:t>
            </a:r>
          </a:p>
          <a:p>
            <a:pPr algn="just">
              <a:lnSpc>
                <a:spcPts val="3617"/>
              </a:lnSpc>
            </a:pPr>
            <a:r>
              <a:rPr lang="en-US" sz="2584" b="true">
                <a:solidFill>
                  <a:srgbClr val="0BEE22"/>
                </a:solidFill>
                <a:latin typeface="Montserrat Bold"/>
                <a:ea typeface="Montserrat Bold"/>
                <a:cs typeface="Montserrat Bold"/>
                <a:sym typeface="Montserrat Bold"/>
              </a:rPr>
              <a:t>WHERE </a:t>
            </a:r>
          </a:p>
          <a:p>
            <a:pPr algn="just">
              <a:lnSpc>
                <a:spcPts val="3617"/>
              </a:lnSpc>
            </a:pPr>
            <a:r>
              <a:rPr lang="en-US" sz="2584" b="true">
                <a:solidFill>
                  <a:srgbClr val="0BEE22"/>
                </a:solidFill>
                <a:latin typeface="Montserrat Bold"/>
                <a:ea typeface="Montserrat Bold"/>
                <a:cs typeface="Montserrat Bold"/>
                <a:sym typeface="Montserrat Bold"/>
              </a:rPr>
              <a:t>    age &gt;= 18 AND age &lt;= 25    </a:t>
            </a:r>
          </a:p>
          <a:p>
            <a:pPr algn="just">
              <a:lnSpc>
                <a:spcPts val="3617"/>
              </a:lnSpc>
            </a:pPr>
            <a:r>
              <a:rPr lang="en-US" sz="2584" b="true">
                <a:solidFill>
                  <a:srgbClr val="0BEE22"/>
                </a:solidFill>
                <a:latin typeface="Montserrat Bold"/>
                <a:ea typeface="Montserrat Bold"/>
                <a:cs typeface="Montserrat Bold"/>
                <a:sym typeface="Montserrat Bold"/>
              </a:rPr>
              <a:t>    AND name LIKE 'A%'           </a:t>
            </a:r>
          </a:p>
          <a:p>
            <a:pPr algn="just">
              <a:lnSpc>
                <a:spcPts val="3617"/>
              </a:lnSpc>
            </a:pPr>
            <a:r>
              <a:rPr lang="en-US" sz="2584" b="true">
                <a:solidFill>
                  <a:srgbClr val="0BEE22"/>
                </a:solidFill>
                <a:latin typeface="Montserrat Bold"/>
                <a:ea typeface="Montserrat Bold"/>
                <a:cs typeface="Montserrat Bold"/>
                <a:sym typeface="Montserrat Bold"/>
              </a:rPr>
              <a:t>    AND id IN (1, 2, 3, 4)       </a:t>
            </a:r>
          </a:p>
          <a:p>
            <a:pPr algn="just">
              <a:lnSpc>
                <a:spcPts val="3617"/>
              </a:lnSpc>
            </a:pPr>
            <a:r>
              <a:rPr lang="en-US" sz="2584" b="true">
                <a:solidFill>
                  <a:srgbClr val="0BEE22"/>
                </a:solidFill>
                <a:latin typeface="Montserrat Bold"/>
                <a:ea typeface="Montserrat Bold"/>
                <a:cs typeface="Montserrat Bold"/>
                <a:sym typeface="Montserrat Bold"/>
              </a:rPr>
              <a:t>    AND NOT grade = 'F'         </a:t>
            </a:r>
          </a:p>
          <a:p>
            <a:pPr algn="just">
              <a:lnSpc>
                <a:spcPts val="3617"/>
              </a:lnSpc>
              <a:spcBef>
                <a:spcPct val="0"/>
              </a:spcBef>
            </a:pPr>
            <a:r>
              <a:rPr lang="en-US" b="true" sz="2584">
                <a:solidFill>
                  <a:srgbClr val="0BEE22"/>
                </a:solidFill>
                <a:latin typeface="Montserrat Bold"/>
                <a:ea typeface="Montserrat Bold"/>
                <a:cs typeface="Montserrat Bold"/>
                <a:sym typeface="Montserrat Bold"/>
              </a:rPr>
              <a:t>    OR city = 'Tashkent';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301872" y="1312639"/>
            <a:ext cx="17684256" cy="8857478"/>
          </a:xfrm>
          <a:prstGeom prst="rect">
            <a:avLst/>
          </a:prstGeom>
        </p:spPr>
        <p:txBody>
          <a:bodyPr anchor="t" rtlCol="false" tIns="0" lIns="0" bIns="0" rIns="0">
            <a:spAutoFit/>
          </a:bodyPr>
          <a:lstStyle/>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     Ushbu SQL kodi students jadvalidan faqat kerakli talabalarni tanlab olish uchun yozilgan. WHERE operatori yordamida bir nechta shart birlashtirilgan va har biri ma’lumotni saralashda o‘ziga xos rol o‘ynaydi.</a:t>
            </a:r>
          </a:p>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Avvalo, age &gt;= 18 AND age &lt;= 25 qismi yoshni 18 dan 25 gacha bo‘lgan talabalarni tanlaydi, ya’ni oraliqdagi qiymatlar hisobga olinadi. Bu yerda BETWEEN operatori ishlatilmagan, lekin xuddi shunday vazifani bajaradi.</a:t>
            </a:r>
          </a:p>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Keyingi shart name LIKE 'A%' orqali ism A harfi bilan boshlanadigan talabalar ajratiladi. Bu operator matn ustunlarida qisman moslikni topishda juda foydali, chunki % belgilari yordamida bir nechta belgilarni qamrab olish mumkin.</a:t>
            </a:r>
          </a:p>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id IN (1, 2, 3, 4) esa faqat ro‘yxatda keltirilgan ID-larga ega talabalarni tanlaydi, bu ko‘p OR yozish o‘rniga qulay va tez yechim beradi.</a:t>
            </a:r>
          </a:p>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AND NOT grade = 'F' qismi esa F bahosini olmagan talabalarni chiqaradi, ya’ni shartni inkor qiladi va noto‘g‘ri baholi qatorlar tashlab yuboriladi.</a:t>
            </a:r>
          </a:p>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Oxirgi qism OR city = 'Tashkent' esa shartlardan birini to‘ldiradi: agar shartlar bajarilmasa ham, shahri Tashkent bo‘lgan talabalar natijaga kiritiladi.</a:t>
            </a:r>
          </a:p>
          <a:p>
            <a:pPr algn="just">
              <a:lnSpc>
                <a:spcPts val="3717"/>
              </a:lnSpc>
            </a:pPr>
            <a:r>
              <a:rPr lang="en-US" b="true" sz="2655" i="true">
                <a:solidFill>
                  <a:srgbClr val="0BEE22"/>
                </a:solidFill>
                <a:latin typeface="Montserrat Bold Italics"/>
                <a:ea typeface="Montserrat Bold Italics"/>
                <a:cs typeface="Montserrat Bold Italics"/>
                <a:sym typeface="Montserrat Bold Italics"/>
              </a:rPr>
              <a:t>Umuman olganda, bu kod orqali jadvaldan faqat belgilangan shartlarga mos keladigan talabalar tanlanadi. U har bir operatorning amaliy ishlashini birlashtirgan misol bo‘lib, ma’lumotlarni filtrlash va saralash jarayonini aniq va samarali qiladi.</a:t>
            </a:r>
          </a:p>
          <a:p>
            <a:pPr algn="just">
              <a:lnSpc>
                <a:spcPts val="3717"/>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3941038" y="2226163"/>
            <a:ext cx="10809827" cy="1004697"/>
          </a:xfrm>
          <a:prstGeom prst="rect">
            <a:avLst/>
          </a:prstGeom>
        </p:spPr>
        <p:txBody>
          <a:bodyPr anchor="t" rtlCol="false" tIns="0" lIns="0" bIns="0" rIns="0">
            <a:spAutoFit/>
          </a:bodyPr>
          <a:lstStyle/>
          <a:p>
            <a:pPr algn="ctr">
              <a:lnSpc>
                <a:spcPts val="7704"/>
              </a:lnSpc>
            </a:pPr>
            <a:r>
              <a:rPr lang="en-US" b="true" sz="7200" spc="-316">
                <a:solidFill>
                  <a:srgbClr val="FFFFFF"/>
                </a:solidFill>
                <a:latin typeface="Montserrat Bold"/>
                <a:ea typeface="Montserrat Bold"/>
                <a:cs typeface="Montserrat Bold"/>
                <a:sym typeface="Montserrat Bold"/>
              </a:rPr>
              <a:t>Masalalar</a:t>
            </a:r>
          </a:p>
        </p:txBody>
      </p:sp>
      <p:sp>
        <p:nvSpPr>
          <p:cNvPr name="TextBox 4" id="4"/>
          <p:cNvSpPr txBox="true"/>
          <p:nvPr/>
        </p:nvSpPr>
        <p:spPr>
          <a:xfrm rot="0">
            <a:off x="1028700" y="5004051"/>
            <a:ext cx="16583114" cy="3658855"/>
          </a:xfrm>
          <a:prstGeom prst="rect">
            <a:avLst/>
          </a:prstGeom>
        </p:spPr>
        <p:txBody>
          <a:bodyPr anchor="t" rtlCol="false" tIns="0" lIns="0" bIns="0" rIns="0">
            <a:spAutoFit/>
          </a:bodyPr>
          <a:lstStyle/>
          <a:p>
            <a:pPr algn="just">
              <a:lnSpc>
                <a:spcPts val="4130"/>
              </a:lnSpc>
            </a:pPr>
            <a:r>
              <a:rPr lang="en-US" b="true" sz="2950" i="true">
                <a:solidFill>
                  <a:srgbClr val="0BEE22"/>
                </a:solidFill>
                <a:latin typeface="Montserrat Bold Italics"/>
                <a:ea typeface="Montserrat Bold Italics"/>
                <a:cs typeface="Montserrat Bold Italics"/>
                <a:sym typeface="Montserrat Bold Italics"/>
              </a:rPr>
              <a:t>Masala: film jadvalidan titlei 'ACADEMY DINOSAUR' bo'lgan filmlarni chiqar.</a:t>
            </a:r>
          </a:p>
          <a:p>
            <a:pPr algn="just">
              <a:lnSpc>
                <a:spcPts val="4130"/>
              </a:lnSpc>
            </a:pPr>
            <a:r>
              <a:rPr lang="en-US" b="true" sz="2950" i="true">
                <a:solidFill>
                  <a:srgbClr val="0BEE22"/>
                </a:solidFill>
                <a:latin typeface="Montserrat Bold Italics"/>
                <a:ea typeface="Montserrat Bold Italics"/>
                <a:cs typeface="Montserrat Bold Italics"/>
                <a:sym typeface="Montserrat Bold Italics"/>
              </a:rPr>
              <a:t>Masala: customer jadvalidan store_id 1 yoki 2 bo'lgan mijozlarni chiqar.</a:t>
            </a:r>
          </a:p>
          <a:p>
            <a:pPr algn="just">
              <a:lnSpc>
                <a:spcPts val="4130"/>
              </a:lnSpc>
            </a:pPr>
            <a:r>
              <a:rPr lang="en-US" b="true" sz="2950" i="true">
                <a:solidFill>
                  <a:srgbClr val="0BEE22"/>
                </a:solidFill>
                <a:latin typeface="Montserrat Bold Italics"/>
                <a:ea typeface="Montserrat Bold Italics"/>
                <a:cs typeface="Montserrat Bold Italics"/>
                <a:sym typeface="Montserrat Bold Italics"/>
              </a:rPr>
              <a:t>Masala: staff jadvalidan store_id 1 yoki 2 ga tegishli bo‘lmagan xodimlarni chiqar.</a:t>
            </a:r>
          </a:p>
          <a:p>
            <a:pPr algn="just">
              <a:lnSpc>
                <a:spcPts val="4274"/>
              </a:lnSpc>
            </a:pPr>
            <a:r>
              <a:rPr lang="en-US" b="true" sz="3053" i="true">
                <a:solidFill>
                  <a:srgbClr val="0BEE22"/>
                </a:solidFill>
                <a:latin typeface="Montserrat Bold Italics"/>
                <a:ea typeface="Montserrat Bold Italics"/>
                <a:cs typeface="Montserrat Bold Italics"/>
                <a:sym typeface="Montserrat Bold Italics"/>
              </a:rPr>
              <a:t>Masala: payment jadvalidan amount 5 dan 10 gacha bo‘lgan to‘lovlarni chiqar.</a:t>
            </a:r>
          </a:p>
          <a:p>
            <a:pPr algn="just">
              <a:lnSpc>
                <a:spcPts val="4130"/>
              </a:lnSpc>
            </a:pPr>
            <a:r>
              <a:rPr lang="en-US" b="true" sz="2950" i="true">
                <a:solidFill>
                  <a:srgbClr val="0BEE22"/>
                </a:solidFill>
                <a:latin typeface="Montserrat Bold Italics"/>
                <a:ea typeface="Montserrat Bold Italics"/>
                <a:cs typeface="Montserrat Bold Italics"/>
                <a:sym typeface="Montserrat Bold Italics"/>
              </a:rPr>
              <a:t>Masala: rental jadvalidan rental_date 2005-05-01 va return_date NULL bo‘lgan yozuvlarni chiqar.</a:t>
            </a:r>
          </a:p>
          <a:p>
            <a:pPr algn="just">
              <a:lnSpc>
                <a:spcPts val="4130"/>
              </a:lnSpc>
              <a:spcBef>
                <a:spcPct val="0"/>
              </a:spcBef>
            </a:pPr>
            <a:r>
              <a:rPr lang="en-US" b="true" sz="2950" i="true">
                <a:solidFill>
                  <a:srgbClr val="0BEE22"/>
                </a:solidFill>
                <a:latin typeface="Montserrat Bold Italics"/>
                <a:ea typeface="Montserrat Bold Italics"/>
                <a:cs typeface="Montserrat Bold Italics"/>
                <a:sym typeface="Montserrat Bold Italics"/>
              </a:rPr>
              <a:t>film jadvalidan rating 'PG' yoki 'G' bo‘lgan filmlarni chiqar.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3039847" y="2344687"/>
            <a:ext cx="4817277" cy="7980428"/>
          </a:xfrm>
          <a:custGeom>
            <a:avLst/>
            <a:gdLst/>
            <a:ahLst/>
            <a:cxnLst/>
            <a:rect r="r" b="b" t="t" l="l"/>
            <a:pathLst>
              <a:path h="7980428" w="4817277">
                <a:moveTo>
                  <a:pt x="0" y="0"/>
                </a:moveTo>
                <a:lnTo>
                  <a:pt x="4817277" y="0"/>
                </a:lnTo>
                <a:lnTo>
                  <a:pt x="4817277" y="7980428"/>
                </a:lnTo>
                <a:lnTo>
                  <a:pt x="0" y="7980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05089" y="7439239"/>
            <a:ext cx="2546686" cy="3638123"/>
          </a:xfrm>
          <a:custGeom>
            <a:avLst/>
            <a:gdLst/>
            <a:ahLst/>
            <a:cxnLst/>
            <a:rect r="r" b="b" t="t" l="l"/>
            <a:pathLst>
              <a:path h="3638123" w="2546686">
                <a:moveTo>
                  <a:pt x="0" y="0"/>
                </a:moveTo>
                <a:lnTo>
                  <a:pt x="2546686" y="0"/>
                </a:lnTo>
                <a:lnTo>
                  <a:pt x="2546686" y="3638122"/>
                </a:lnTo>
                <a:lnTo>
                  <a:pt x="0" y="36381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306629" y="1217473"/>
            <a:ext cx="2890291" cy="2254427"/>
          </a:xfrm>
          <a:custGeom>
            <a:avLst/>
            <a:gdLst/>
            <a:ahLst/>
            <a:cxnLst/>
            <a:rect r="r" b="b" t="t" l="l"/>
            <a:pathLst>
              <a:path h="2254427" w="2890291">
                <a:moveTo>
                  <a:pt x="0" y="0"/>
                </a:moveTo>
                <a:lnTo>
                  <a:pt x="2890291" y="0"/>
                </a:lnTo>
                <a:lnTo>
                  <a:pt x="2890291" y="2254427"/>
                </a:lnTo>
                <a:lnTo>
                  <a:pt x="0" y="22544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028700" y="2668537"/>
            <a:ext cx="10291074" cy="2903220"/>
          </a:xfrm>
          <a:prstGeom prst="rect">
            <a:avLst/>
          </a:prstGeom>
        </p:spPr>
        <p:txBody>
          <a:bodyPr anchor="t" rtlCol="false" tIns="0" lIns="0" bIns="0" rIns="0">
            <a:spAutoFit/>
          </a:bodyPr>
          <a:lstStyle/>
          <a:p>
            <a:pPr algn="l">
              <a:lnSpc>
                <a:spcPts val="11040"/>
              </a:lnSpc>
            </a:pPr>
            <a:r>
              <a:rPr lang="en-US" b="true" sz="12000" spc="-527">
                <a:solidFill>
                  <a:srgbClr val="FFFFFF"/>
                </a:solidFill>
                <a:latin typeface="Montserrat Bold"/>
                <a:ea typeface="Montserrat Bold"/>
                <a:cs typeface="Montserrat Bold"/>
                <a:sym typeface="Montserrat Bold"/>
              </a:rPr>
              <a:t>O’SISHDAN TO’XTAMANG</a:t>
            </a:r>
          </a:p>
        </p:txBody>
      </p:sp>
      <p:sp>
        <p:nvSpPr>
          <p:cNvPr name="TextBox 7" id="7"/>
          <p:cNvSpPr txBox="true"/>
          <p:nvPr/>
        </p:nvSpPr>
        <p:spPr>
          <a:xfrm rot="0">
            <a:off x="708410" y="8230450"/>
            <a:ext cx="8435590" cy="537889"/>
          </a:xfrm>
          <a:prstGeom prst="rect">
            <a:avLst/>
          </a:prstGeom>
        </p:spPr>
        <p:txBody>
          <a:bodyPr anchor="t" rtlCol="false" tIns="0" lIns="0" bIns="0" rIns="0">
            <a:spAutoFit/>
          </a:bodyPr>
          <a:lstStyle/>
          <a:p>
            <a:pPr algn="l">
              <a:lnSpc>
                <a:spcPts val="4477"/>
              </a:lnSpc>
              <a:spcBef>
                <a:spcPct val="0"/>
              </a:spcBef>
            </a:pPr>
            <a:r>
              <a:rPr lang="en-US" b="true" sz="3198" spc="-95">
                <a:solidFill>
                  <a:srgbClr val="FF0431"/>
                </a:solidFill>
                <a:latin typeface="Montserrat Semi-Bold"/>
                <a:ea typeface="Montserrat Semi-Bold"/>
                <a:cs typeface="Montserrat Semi-Bold"/>
                <a:sym typeface="Montserrat Semi-Bold"/>
              </a:rPr>
              <a:t>Bugungi say harakat ertangi muvaffaqiyat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DAHF54txXUM</dc:identifier>
  <dcterms:modified xsi:type="dcterms:W3CDTF">2011-08-01T06:04:30Z</dcterms:modified>
  <cp:revision>1</cp:revision>
  <dc:title>Black and Blue Modern Simple Data Analyst Presentation</dc:title>
</cp:coreProperties>
</file>