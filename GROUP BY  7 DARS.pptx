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Lst>
  <p:sldSz cx="18288000" cy="10287000"/>
  <p:notesSz cx="6858000" cy="9144000"/>
  <p:embeddedFontLst>
    <p:embeddedFont>
      <p:font typeface="Ara Hamah Homs" charset="1" panose="00000500000000000000"/>
      <p:regular r:id="rId13"/>
    </p:embeddedFont>
    <p:embeddedFont>
      <p:font typeface="Bobby Jones" charset="1" panose="00000000000000000000"/>
      <p:regular r:id="rId14"/>
    </p:embeddedFont>
    <p:embeddedFont>
      <p:font typeface="Poppins Bold" charset="1" panose="0000080000000000000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4.png" Type="http://schemas.openxmlformats.org/officeDocument/2006/relationships/image"/><Relationship Id="rId5" Target="../media/image15.pn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18.png" Type="http://schemas.openxmlformats.org/officeDocument/2006/relationships/image"/><Relationship Id="rId9" Target="../media/image19.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0.png" Type="http://schemas.openxmlformats.org/officeDocument/2006/relationships/image"/><Relationship Id="rId5" Target="../media/image21.png" Type="http://schemas.openxmlformats.org/officeDocument/2006/relationships/image"/><Relationship Id="rId6" Target="../media/image22.png" Type="http://schemas.openxmlformats.org/officeDocument/2006/relationships/image"/><Relationship Id="rId7" Target="../media/image2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4.png" Type="http://schemas.openxmlformats.org/officeDocument/2006/relationships/image"/><Relationship Id="rId5" Target="../media/image2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6.png" Type="http://schemas.openxmlformats.org/officeDocument/2006/relationships/image"/><Relationship Id="rId5" Target="../media/image27.png" Type="http://schemas.openxmlformats.org/officeDocument/2006/relationships/image"/><Relationship Id="rId6" Target="../media/image28.svg" Type="http://schemas.openxmlformats.org/officeDocument/2006/relationships/image"/><Relationship Id="rId7" Target="../media/image14.png" Type="http://schemas.openxmlformats.org/officeDocument/2006/relationships/image"/><Relationship Id="rId8" Target="../media/image21.png" Type="http://schemas.openxmlformats.org/officeDocument/2006/relationships/image"/><Relationship Id="rId9" Target="../media/image2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0.png" Type="http://schemas.openxmlformats.org/officeDocument/2006/relationships/image"/><Relationship Id="rId5" Target="../media/image2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1.png" Type="http://schemas.openxmlformats.org/officeDocument/2006/relationships/image"/><Relationship Id="rId5" Target="../media/image14.png" Type="http://schemas.openxmlformats.org/officeDocument/2006/relationships/image"/><Relationship Id="rId6" Target="../media/image21.png" Type="http://schemas.openxmlformats.org/officeDocument/2006/relationships/image"/><Relationship Id="rId7" Target="../media/image32.png" Type="http://schemas.openxmlformats.org/officeDocument/2006/relationships/image"/><Relationship Id="rId8" Target="../media/image33.svg" Type="http://schemas.openxmlformats.org/officeDocument/2006/relationships/image"/><Relationship Id="rId9" Target="../media/image6.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8642"/>
        </a:solidFill>
      </p:bgPr>
    </p:bg>
    <p:spTree>
      <p:nvGrpSpPr>
        <p:cNvPr id="1" name=""/>
        <p:cNvGrpSpPr/>
        <p:nvPr/>
      </p:nvGrpSpPr>
      <p:grpSpPr>
        <a:xfrm>
          <a:off x="0" y="0"/>
          <a:ext cx="0" cy="0"/>
          <a:chOff x="0" y="0"/>
          <a:chExt cx="0" cy="0"/>
        </a:xfrm>
      </p:grpSpPr>
      <p:sp>
        <p:nvSpPr>
          <p:cNvPr name="Freeform 2" id="2"/>
          <p:cNvSpPr/>
          <p:nvPr/>
        </p:nvSpPr>
        <p:spPr>
          <a:xfrm flipH="false" flipV="false" rot="0">
            <a:off x="-1330824" y="-4647774"/>
            <a:ext cx="20266098" cy="20266098"/>
          </a:xfrm>
          <a:custGeom>
            <a:avLst/>
            <a:gdLst/>
            <a:ahLst/>
            <a:cxnLst/>
            <a:rect r="r" b="b" t="t" l="l"/>
            <a:pathLst>
              <a:path h="20266098" w="20266098">
                <a:moveTo>
                  <a:pt x="0" y="0"/>
                </a:moveTo>
                <a:lnTo>
                  <a:pt x="20266098" y="0"/>
                </a:lnTo>
                <a:lnTo>
                  <a:pt x="20266098" y="20266098"/>
                </a:lnTo>
                <a:lnTo>
                  <a:pt x="0" y="20266098"/>
                </a:lnTo>
                <a:lnTo>
                  <a:pt x="0" y="0"/>
                </a:lnTo>
                <a:close/>
              </a:path>
            </a:pathLst>
          </a:custGeom>
          <a:blipFill>
            <a:blip r:embed="rId2">
              <a:alphaModFix amt="20999"/>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38225" y="1028700"/>
            <a:ext cx="16230600" cy="8229600"/>
            <a:chOff x="0" y="0"/>
            <a:chExt cx="4274726" cy="2167467"/>
          </a:xfrm>
        </p:grpSpPr>
        <p:sp>
          <p:nvSpPr>
            <p:cNvPr name="Freeform 4" id="4"/>
            <p:cNvSpPr/>
            <p:nvPr/>
          </p:nvSpPr>
          <p:spPr>
            <a:xfrm flipH="false" flipV="false" rot="0">
              <a:off x="0" y="0"/>
              <a:ext cx="4274726" cy="2167467"/>
            </a:xfrm>
            <a:custGeom>
              <a:avLst/>
              <a:gdLst/>
              <a:ahLst/>
              <a:cxnLst/>
              <a:rect r="r" b="b" t="t" l="l"/>
              <a:pathLst>
                <a:path h="2167467" w="4274726">
                  <a:moveTo>
                    <a:pt x="24327" y="0"/>
                  </a:moveTo>
                  <a:lnTo>
                    <a:pt x="4250399" y="0"/>
                  </a:lnTo>
                  <a:cubicBezTo>
                    <a:pt x="4263834" y="0"/>
                    <a:pt x="4274726" y="10891"/>
                    <a:pt x="4274726" y="24327"/>
                  </a:cubicBezTo>
                  <a:lnTo>
                    <a:pt x="4274726" y="2143140"/>
                  </a:lnTo>
                  <a:cubicBezTo>
                    <a:pt x="4274726" y="2156575"/>
                    <a:pt x="4263834" y="2167467"/>
                    <a:pt x="4250399" y="2167467"/>
                  </a:cubicBezTo>
                  <a:lnTo>
                    <a:pt x="24327" y="2167467"/>
                  </a:lnTo>
                  <a:cubicBezTo>
                    <a:pt x="10891" y="2167467"/>
                    <a:pt x="0" y="2156575"/>
                    <a:pt x="0" y="2143140"/>
                  </a:cubicBezTo>
                  <a:lnTo>
                    <a:pt x="0" y="24327"/>
                  </a:lnTo>
                  <a:cubicBezTo>
                    <a:pt x="0" y="10891"/>
                    <a:pt x="10891" y="0"/>
                    <a:pt x="24327" y="0"/>
                  </a:cubicBezTo>
                  <a:close/>
                </a:path>
              </a:pathLst>
            </a:custGeom>
            <a:solidFill>
              <a:srgbClr val="FFFFFF"/>
            </a:solidFill>
            <a:ln w="66675" cap="rnd">
              <a:solidFill>
                <a:srgbClr val="5B1117"/>
              </a:solidFill>
              <a:prstDash val="solid"/>
              <a:round/>
            </a:ln>
          </p:spPr>
        </p:sp>
        <p:sp>
          <p:nvSpPr>
            <p:cNvPr name="TextBox 5" id="5"/>
            <p:cNvSpPr txBox="true"/>
            <p:nvPr/>
          </p:nvSpPr>
          <p:spPr>
            <a:xfrm>
              <a:off x="0" y="-57150"/>
              <a:ext cx="4274726" cy="2224617"/>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4439288" y="4135664"/>
            <a:ext cx="9409424" cy="7480492"/>
          </a:xfrm>
          <a:custGeom>
            <a:avLst/>
            <a:gdLst/>
            <a:ahLst/>
            <a:cxnLst/>
            <a:rect r="r" b="b" t="t" l="l"/>
            <a:pathLst>
              <a:path h="7480492" w="9409424">
                <a:moveTo>
                  <a:pt x="0" y="0"/>
                </a:moveTo>
                <a:lnTo>
                  <a:pt x="9409424" y="0"/>
                </a:lnTo>
                <a:lnTo>
                  <a:pt x="9409424" y="7480492"/>
                </a:lnTo>
                <a:lnTo>
                  <a:pt x="0" y="7480492"/>
                </a:lnTo>
                <a:lnTo>
                  <a:pt x="0" y="0"/>
                </a:lnTo>
                <a:close/>
              </a:path>
            </a:pathLst>
          </a:custGeom>
          <a:blipFill>
            <a:blip r:embed="rId4"/>
            <a:stretch>
              <a:fillRect l="0" t="0" r="0" b="0"/>
            </a:stretch>
          </a:blipFill>
        </p:spPr>
      </p:sp>
      <p:sp>
        <p:nvSpPr>
          <p:cNvPr name="Freeform 7" id="7"/>
          <p:cNvSpPr/>
          <p:nvPr/>
        </p:nvSpPr>
        <p:spPr>
          <a:xfrm flipH="false" flipV="false" rot="-949942">
            <a:off x="1807026" y="2935182"/>
            <a:ext cx="2307205" cy="1896103"/>
          </a:xfrm>
          <a:custGeom>
            <a:avLst/>
            <a:gdLst/>
            <a:ahLst/>
            <a:cxnLst/>
            <a:rect r="r" b="b" t="t" l="l"/>
            <a:pathLst>
              <a:path h="1896103" w="2307205">
                <a:moveTo>
                  <a:pt x="0" y="0"/>
                </a:moveTo>
                <a:lnTo>
                  <a:pt x="2307205" y="0"/>
                </a:lnTo>
                <a:lnTo>
                  <a:pt x="2307205" y="1896103"/>
                </a:lnTo>
                <a:lnTo>
                  <a:pt x="0" y="189610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1311675">
            <a:off x="14571432" y="6384064"/>
            <a:ext cx="1541451" cy="1499412"/>
          </a:xfrm>
          <a:custGeom>
            <a:avLst/>
            <a:gdLst/>
            <a:ahLst/>
            <a:cxnLst/>
            <a:rect r="r" b="b" t="t" l="l"/>
            <a:pathLst>
              <a:path h="1499412" w="1541451">
                <a:moveTo>
                  <a:pt x="0" y="0"/>
                </a:moveTo>
                <a:lnTo>
                  <a:pt x="1541451" y="0"/>
                </a:lnTo>
                <a:lnTo>
                  <a:pt x="1541451" y="1499412"/>
                </a:lnTo>
                <a:lnTo>
                  <a:pt x="0" y="149941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9" id="9"/>
          <p:cNvSpPr/>
          <p:nvPr/>
        </p:nvSpPr>
        <p:spPr>
          <a:xfrm flipH="false" flipV="false" rot="0">
            <a:off x="14792204" y="3883234"/>
            <a:ext cx="1544415" cy="1474215"/>
          </a:xfrm>
          <a:custGeom>
            <a:avLst/>
            <a:gdLst/>
            <a:ahLst/>
            <a:cxnLst/>
            <a:rect r="r" b="b" t="t" l="l"/>
            <a:pathLst>
              <a:path h="1474215" w="1544415">
                <a:moveTo>
                  <a:pt x="0" y="0"/>
                </a:moveTo>
                <a:lnTo>
                  <a:pt x="1544415" y="0"/>
                </a:lnTo>
                <a:lnTo>
                  <a:pt x="1544415" y="1474214"/>
                </a:lnTo>
                <a:lnTo>
                  <a:pt x="0" y="147421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10" id="10"/>
          <p:cNvSpPr/>
          <p:nvPr/>
        </p:nvSpPr>
        <p:spPr>
          <a:xfrm flipH="false" flipV="false" rot="1703064">
            <a:off x="2236849" y="6675019"/>
            <a:ext cx="1447559" cy="1458163"/>
          </a:xfrm>
          <a:custGeom>
            <a:avLst/>
            <a:gdLst/>
            <a:ahLst/>
            <a:cxnLst/>
            <a:rect r="r" b="b" t="t" l="l"/>
            <a:pathLst>
              <a:path h="1458163" w="1447559">
                <a:moveTo>
                  <a:pt x="0" y="0"/>
                </a:moveTo>
                <a:lnTo>
                  <a:pt x="1447559" y="0"/>
                </a:lnTo>
                <a:lnTo>
                  <a:pt x="1447559" y="1458163"/>
                </a:lnTo>
                <a:lnTo>
                  <a:pt x="0" y="1458163"/>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11" id="11"/>
          <p:cNvSpPr/>
          <p:nvPr/>
        </p:nvSpPr>
        <p:spPr>
          <a:xfrm flipH="false" flipV="false" rot="-2435514">
            <a:off x="14552338" y="1724642"/>
            <a:ext cx="1345630" cy="1368016"/>
          </a:xfrm>
          <a:custGeom>
            <a:avLst/>
            <a:gdLst/>
            <a:ahLst/>
            <a:cxnLst/>
            <a:rect r="r" b="b" t="t" l="l"/>
            <a:pathLst>
              <a:path h="1368016" w="1345630">
                <a:moveTo>
                  <a:pt x="0" y="0"/>
                </a:moveTo>
                <a:lnTo>
                  <a:pt x="1345630" y="0"/>
                </a:lnTo>
                <a:lnTo>
                  <a:pt x="1345630" y="1368017"/>
                </a:lnTo>
                <a:lnTo>
                  <a:pt x="0" y="1368017"/>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a:ln cap="sq">
            <a:noFill/>
            <a:prstDash val="solid"/>
            <a:miter/>
          </a:ln>
        </p:spPr>
      </p:sp>
      <p:grpSp>
        <p:nvGrpSpPr>
          <p:cNvPr name="Group 12" id="12"/>
          <p:cNvGrpSpPr/>
          <p:nvPr/>
        </p:nvGrpSpPr>
        <p:grpSpPr>
          <a:xfrm rot="0">
            <a:off x="6790046" y="605067"/>
            <a:ext cx="4707909" cy="867198"/>
            <a:chOff x="0" y="0"/>
            <a:chExt cx="1239943" cy="228398"/>
          </a:xfrm>
        </p:grpSpPr>
        <p:sp>
          <p:nvSpPr>
            <p:cNvPr name="Freeform 13" id="13"/>
            <p:cNvSpPr/>
            <p:nvPr/>
          </p:nvSpPr>
          <p:spPr>
            <a:xfrm flipH="false" flipV="false" rot="0">
              <a:off x="0" y="0"/>
              <a:ext cx="1239943" cy="228398"/>
            </a:xfrm>
            <a:custGeom>
              <a:avLst/>
              <a:gdLst/>
              <a:ahLst/>
              <a:cxnLst/>
              <a:rect r="r" b="b" t="t" l="l"/>
              <a:pathLst>
                <a:path h="228398" w="1239943">
                  <a:moveTo>
                    <a:pt x="83867" y="0"/>
                  </a:moveTo>
                  <a:lnTo>
                    <a:pt x="1156076" y="0"/>
                  </a:lnTo>
                  <a:cubicBezTo>
                    <a:pt x="1178319" y="0"/>
                    <a:pt x="1199651" y="8836"/>
                    <a:pt x="1215379" y="24564"/>
                  </a:cubicBezTo>
                  <a:cubicBezTo>
                    <a:pt x="1231107" y="40292"/>
                    <a:pt x="1239943" y="61624"/>
                    <a:pt x="1239943" y="83867"/>
                  </a:cubicBezTo>
                  <a:lnTo>
                    <a:pt x="1239943" y="144531"/>
                  </a:lnTo>
                  <a:cubicBezTo>
                    <a:pt x="1239943" y="166774"/>
                    <a:pt x="1231107" y="188106"/>
                    <a:pt x="1215379" y="203834"/>
                  </a:cubicBezTo>
                  <a:cubicBezTo>
                    <a:pt x="1199651" y="219562"/>
                    <a:pt x="1178319" y="228398"/>
                    <a:pt x="1156076" y="228398"/>
                  </a:cubicBezTo>
                  <a:lnTo>
                    <a:pt x="83867" y="228398"/>
                  </a:lnTo>
                  <a:cubicBezTo>
                    <a:pt x="61624" y="228398"/>
                    <a:pt x="40292" y="219562"/>
                    <a:pt x="24564" y="203834"/>
                  </a:cubicBezTo>
                  <a:cubicBezTo>
                    <a:pt x="8836" y="188106"/>
                    <a:pt x="0" y="166774"/>
                    <a:pt x="0" y="144531"/>
                  </a:cubicBezTo>
                  <a:lnTo>
                    <a:pt x="0" y="83867"/>
                  </a:lnTo>
                  <a:cubicBezTo>
                    <a:pt x="0" y="61624"/>
                    <a:pt x="8836" y="40292"/>
                    <a:pt x="24564" y="24564"/>
                  </a:cubicBezTo>
                  <a:cubicBezTo>
                    <a:pt x="40292" y="8836"/>
                    <a:pt x="61624" y="0"/>
                    <a:pt x="83867" y="0"/>
                  </a:cubicBezTo>
                  <a:close/>
                </a:path>
              </a:pathLst>
            </a:custGeom>
            <a:solidFill>
              <a:srgbClr val="EE5648"/>
            </a:solidFill>
            <a:ln w="66675" cap="rnd">
              <a:solidFill>
                <a:srgbClr val="5B1117"/>
              </a:solidFill>
              <a:prstDash val="solid"/>
              <a:round/>
            </a:ln>
          </p:spPr>
        </p:sp>
        <p:sp>
          <p:nvSpPr>
            <p:cNvPr name="TextBox 14" id="14"/>
            <p:cNvSpPr txBox="true"/>
            <p:nvPr/>
          </p:nvSpPr>
          <p:spPr>
            <a:xfrm>
              <a:off x="0" y="-66675"/>
              <a:ext cx="1239943" cy="295073"/>
            </a:xfrm>
            <a:prstGeom prst="rect">
              <a:avLst/>
            </a:prstGeom>
          </p:spPr>
          <p:txBody>
            <a:bodyPr anchor="ctr" rtlCol="false" tIns="50800" lIns="50800" bIns="50800" rIns="50800"/>
            <a:lstStyle/>
            <a:p>
              <a:pPr algn="ctr">
                <a:lnSpc>
                  <a:spcPts val="4759"/>
                </a:lnSpc>
              </a:pPr>
              <a:r>
                <a:rPr lang="en-US" sz="3399">
                  <a:solidFill>
                    <a:srgbClr val="FFFFFF"/>
                  </a:solidFill>
                  <a:latin typeface="Ara Hamah Homs"/>
                  <a:ea typeface="Ara Hamah Homs"/>
                  <a:cs typeface="Ara Hamah Homs"/>
                  <a:sym typeface="Ara Hamah Homs"/>
                </a:rPr>
                <a:t>Studio Shodwe</a:t>
              </a:r>
            </a:p>
          </p:txBody>
        </p:sp>
      </p:grpSp>
      <p:sp>
        <p:nvSpPr>
          <p:cNvPr name="TextBox 15" id="15"/>
          <p:cNvSpPr txBox="true"/>
          <p:nvPr/>
        </p:nvSpPr>
        <p:spPr>
          <a:xfrm rot="0">
            <a:off x="5886642" y="1367457"/>
            <a:ext cx="6514715" cy="2501992"/>
          </a:xfrm>
          <a:prstGeom prst="rect">
            <a:avLst/>
          </a:prstGeom>
        </p:spPr>
        <p:txBody>
          <a:bodyPr anchor="t" rtlCol="false" tIns="0" lIns="0" bIns="0" rIns="0">
            <a:spAutoFit/>
          </a:bodyPr>
          <a:lstStyle/>
          <a:p>
            <a:pPr algn="ctr">
              <a:lnSpc>
                <a:spcPts val="18084"/>
              </a:lnSpc>
            </a:pPr>
            <a:r>
              <a:rPr lang="en-US" sz="12917">
                <a:solidFill>
                  <a:srgbClr val="EE5648"/>
                </a:solidFill>
                <a:latin typeface="Bobby Jones"/>
                <a:ea typeface="Bobby Jones"/>
                <a:cs typeface="Bobby Jones"/>
                <a:sym typeface="Bobby Jones"/>
              </a:rPr>
              <a:t>GROUP BY</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8642"/>
        </a:solidFill>
      </p:bgPr>
    </p:bg>
    <p:spTree>
      <p:nvGrpSpPr>
        <p:cNvPr id="1" name=""/>
        <p:cNvGrpSpPr/>
        <p:nvPr/>
      </p:nvGrpSpPr>
      <p:grpSpPr>
        <a:xfrm>
          <a:off x="0" y="0"/>
          <a:ext cx="0" cy="0"/>
          <a:chOff x="0" y="0"/>
          <a:chExt cx="0" cy="0"/>
        </a:xfrm>
      </p:grpSpPr>
      <p:sp>
        <p:nvSpPr>
          <p:cNvPr name="Freeform 2" id="2"/>
          <p:cNvSpPr/>
          <p:nvPr/>
        </p:nvSpPr>
        <p:spPr>
          <a:xfrm flipH="false" flipV="false" rot="0">
            <a:off x="-1330824" y="-4647774"/>
            <a:ext cx="20266098" cy="20266098"/>
          </a:xfrm>
          <a:custGeom>
            <a:avLst/>
            <a:gdLst/>
            <a:ahLst/>
            <a:cxnLst/>
            <a:rect r="r" b="b" t="t" l="l"/>
            <a:pathLst>
              <a:path h="20266098" w="20266098">
                <a:moveTo>
                  <a:pt x="0" y="0"/>
                </a:moveTo>
                <a:lnTo>
                  <a:pt x="20266098" y="0"/>
                </a:lnTo>
                <a:lnTo>
                  <a:pt x="20266098" y="20266098"/>
                </a:lnTo>
                <a:lnTo>
                  <a:pt x="0" y="20266098"/>
                </a:lnTo>
                <a:lnTo>
                  <a:pt x="0" y="0"/>
                </a:lnTo>
                <a:close/>
              </a:path>
            </a:pathLst>
          </a:custGeom>
          <a:blipFill>
            <a:blip r:embed="rId2">
              <a:alphaModFix amt="20999"/>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28700" y="1028700"/>
            <a:ext cx="16230600" cy="8229600"/>
            <a:chOff x="0" y="0"/>
            <a:chExt cx="4274726" cy="2167467"/>
          </a:xfrm>
        </p:grpSpPr>
        <p:sp>
          <p:nvSpPr>
            <p:cNvPr name="Freeform 4" id="4"/>
            <p:cNvSpPr/>
            <p:nvPr/>
          </p:nvSpPr>
          <p:spPr>
            <a:xfrm flipH="false" flipV="false" rot="0">
              <a:off x="0" y="0"/>
              <a:ext cx="4274726" cy="2167467"/>
            </a:xfrm>
            <a:custGeom>
              <a:avLst/>
              <a:gdLst/>
              <a:ahLst/>
              <a:cxnLst/>
              <a:rect r="r" b="b" t="t" l="l"/>
              <a:pathLst>
                <a:path h="2167467" w="4274726">
                  <a:moveTo>
                    <a:pt x="24327" y="0"/>
                  </a:moveTo>
                  <a:lnTo>
                    <a:pt x="4250399" y="0"/>
                  </a:lnTo>
                  <a:cubicBezTo>
                    <a:pt x="4263834" y="0"/>
                    <a:pt x="4274726" y="10891"/>
                    <a:pt x="4274726" y="24327"/>
                  </a:cubicBezTo>
                  <a:lnTo>
                    <a:pt x="4274726" y="2143140"/>
                  </a:lnTo>
                  <a:cubicBezTo>
                    <a:pt x="4274726" y="2156575"/>
                    <a:pt x="4263834" y="2167467"/>
                    <a:pt x="4250399" y="2167467"/>
                  </a:cubicBezTo>
                  <a:lnTo>
                    <a:pt x="24327" y="2167467"/>
                  </a:lnTo>
                  <a:cubicBezTo>
                    <a:pt x="10891" y="2167467"/>
                    <a:pt x="0" y="2156575"/>
                    <a:pt x="0" y="2143140"/>
                  </a:cubicBezTo>
                  <a:lnTo>
                    <a:pt x="0" y="24327"/>
                  </a:lnTo>
                  <a:cubicBezTo>
                    <a:pt x="0" y="10891"/>
                    <a:pt x="10891" y="0"/>
                    <a:pt x="24327" y="0"/>
                  </a:cubicBezTo>
                  <a:close/>
                </a:path>
              </a:pathLst>
            </a:custGeom>
            <a:solidFill>
              <a:srgbClr val="FFFFFF"/>
            </a:solidFill>
            <a:ln w="66675" cap="rnd">
              <a:solidFill>
                <a:srgbClr val="5B1117"/>
              </a:solidFill>
              <a:prstDash val="solid"/>
              <a:round/>
            </a:ln>
          </p:spPr>
        </p:sp>
        <p:sp>
          <p:nvSpPr>
            <p:cNvPr name="TextBox 5" id="5"/>
            <p:cNvSpPr txBox="true"/>
            <p:nvPr/>
          </p:nvSpPr>
          <p:spPr>
            <a:xfrm>
              <a:off x="0" y="-57150"/>
              <a:ext cx="4274726" cy="2224617"/>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6790046" y="605067"/>
            <a:ext cx="4707909" cy="867198"/>
            <a:chOff x="0" y="0"/>
            <a:chExt cx="1239943" cy="228398"/>
          </a:xfrm>
        </p:grpSpPr>
        <p:sp>
          <p:nvSpPr>
            <p:cNvPr name="Freeform 7" id="7"/>
            <p:cNvSpPr/>
            <p:nvPr/>
          </p:nvSpPr>
          <p:spPr>
            <a:xfrm flipH="false" flipV="false" rot="0">
              <a:off x="0" y="0"/>
              <a:ext cx="1239943" cy="228398"/>
            </a:xfrm>
            <a:custGeom>
              <a:avLst/>
              <a:gdLst/>
              <a:ahLst/>
              <a:cxnLst/>
              <a:rect r="r" b="b" t="t" l="l"/>
              <a:pathLst>
                <a:path h="228398" w="1239943">
                  <a:moveTo>
                    <a:pt x="83867" y="0"/>
                  </a:moveTo>
                  <a:lnTo>
                    <a:pt x="1156076" y="0"/>
                  </a:lnTo>
                  <a:cubicBezTo>
                    <a:pt x="1178319" y="0"/>
                    <a:pt x="1199651" y="8836"/>
                    <a:pt x="1215379" y="24564"/>
                  </a:cubicBezTo>
                  <a:cubicBezTo>
                    <a:pt x="1231107" y="40292"/>
                    <a:pt x="1239943" y="61624"/>
                    <a:pt x="1239943" y="83867"/>
                  </a:cubicBezTo>
                  <a:lnTo>
                    <a:pt x="1239943" y="144531"/>
                  </a:lnTo>
                  <a:cubicBezTo>
                    <a:pt x="1239943" y="166774"/>
                    <a:pt x="1231107" y="188106"/>
                    <a:pt x="1215379" y="203834"/>
                  </a:cubicBezTo>
                  <a:cubicBezTo>
                    <a:pt x="1199651" y="219562"/>
                    <a:pt x="1178319" y="228398"/>
                    <a:pt x="1156076" y="228398"/>
                  </a:cubicBezTo>
                  <a:lnTo>
                    <a:pt x="83867" y="228398"/>
                  </a:lnTo>
                  <a:cubicBezTo>
                    <a:pt x="61624" y="228398"/>
                    <a:pt x="40292" y="219562"/>
                    <a:pt x="24564" y="203834"/>
                  </a:cubicBezTo>
                  <a:cubicBezTo>
                    <a:pt x="8836" y="188106"/>
                    <a:pt x="0" y="166774"/>
                    <a:pt x="0" y="144531"/>
                  </a:cubicBezTo>
                  <a:lnTo>
                    <a:pt x="0" y="83867"/>
                  </a:lnTo>
                  <a:cubicBezTo>
                    <a:pt x="0" y="61624"/>
                    <a:pt x="8836" y="40292"/>
                    <a:pt x="24564" y="24564"/>
                  </a:cubicBezTo>
                  <a:cubicBezTo>
                    <a:pt x="40292" y="8836"/>
                    <a:pt x="61624" y="0"/>
                    <a:pt x="83867" y="0"/>
                  </a:cubicBezTo>
                  <a:close/>
                </a:path>
              </a:pathLst>
            </a:custGeom>
            <a:solidFill>
              <a:srgbClr val="EE5648"/>
            </a:solidFill>
            <a:ln w="66675" cap="rnd">
              <a:solidFill>
                <a:srgbClr val="5B1117"/>
              </a:solidFill>
              <a:prstDash val="solid"/>
              <a:round/>
            </a:ln>
          </p:spPr>
        </p:sp>
        <p:sp>
          <p:nvSpPr>
            <p:cNvPr name="TextBox 8" id="8"/>
            <p:cNvSpPr txBox="true"/>
            <p:nvPr/>
          </p:nvSpPr>
          <p:spPr>
            <a:xfrm>
              <a:off x="0" y="-66675"/>
              <a:ext cx="1239943" cy="295073"/>
            </a:xfrm>
            <a:prstGeom prst="rect">
              <a:avLst/>
            </a:prstGeom>
          </p:spPr>
          <p:txBody>
            <a:bodyPr anchor="ctr" rtlCol="false" tIns="50800" lIns="50800" bIns="50800" rIns="50800"/>
            <a:lstStyle/>
            <a:p>
              <a:pPr algn="ctr">
                <a:lnSpc>
                  <a:spcPts val="4759"/>
                </a:lnSpc>
              </a:pPr>
              <a:r>
                <a:rPr lang="en-US" sz="3399">
                  <a:solidFill>
                    <a:srgbClr val="FFFFFF"/>
                  </a:solidFill>
                  <a:latin typeface="Ara Hamah Homs"/>
                  <a:ea typeface="Ara Hamah Homs"/>
                  <a:cs typeface="Ara Hamah Homs"/>
                  <a:sym typeface="Ara Hamah Homs"/>
                </a:rPr>
                <a:t>Studio Shodwe</a:t>
              </a:r>
            </a:p>
          </p:txBody>
        </p:sp>
      </p:grpSp>
      <p:sp>
        <p:nvSpPr>
          <p:cNvPr name="Freeform 9" id="9"/>
          <p:cNvSpPr/>
          <p:nvPr/>
        </p:nvSpPr>
        <p:spPr>
          <a:xfrm flipH="false" flipV="false" rot="0">
            <a:off x="-672981" y="3461263"/>
            <a:ext cx="8309577" cy="8101454"/>
          </a:xfrm>
          <a:custGeom>
            <a:avLst/>
            <a:gdLst/>
            <a:ahLst/>
            <a:cxnLst/>
            <a:rect r="r" b="b" t="t" l="l"/>
            <a:pathLst>
              <a:path h="8101454" w="8309577">
                <a:moveTo>
                  <a:pt x="0" y="0"/>
                </a:moveTo>
                <a:lnTo>
                  <a:pt x="8309577" y="0"/>
                </a:lnTo>
                <a:lnTo>
                  <a:pt x="8309577" y="8101454"/>
                </a:lnTo>
                <a:lnTo>
                  <a:pt x="0" y="8101454"/>
                </a:lnTo>
                <a:lnTo>
                  <a:pt x="0" y="0"/>
                </a:lnTo>
                <a:close/>
              </a:path>
            </a:pathLst>
          </a:custGeom>
          <a:blipFill>
            <a:blip r:embed="rId4"/>
            <a:stretch>
              <a:fillRect l="0" t="0" r="-3856" b="0"/>
            </a:stretch>
          </a:blipFill>
        </p:spPr>
      </p:sp>
      <p:sp>
        <p:nvSpPr>
          <p:cNvPr name="Freeform 10" id="10"/>
          <p:cNvSpPr/>
          <p:nvPr/>
        </p:nvSpPr>
        <p:spPr>
          <a:xfrm flipH="false" flipV="false" rot="0">
            <a:off x="15132594" y="3678819"/>
            <a:ext cx="6310813" cy="6608181"/>
          </a:xfrm>
          <a:custGeom>
            <a:avLst/>
            <a:gdLst/>
            <a:ahLst/>
            <a:cxnLst/>
            <a:rect r="r" b="b" t="t" l="l"/>
            <a:pathLst>
              <a:path h="6608181" w="6310813">
                <a:moveTo>
                  <a:pt x="0" y="0"/>
                </a:moveTo>
                <a:lnTo>
                  <a:pt x="6310812" y="0"/>
                </a:lnTo>
                <a:lnTo>
                  <a:pt x="6310812" y="6608181"/>
                </a:lnTo>
                <a:lnTo>
                  <a:pt x="0" y="6608181"/>
                </a:lnTo>
                <a:lnTo>
                  <a:pt x="0" y="0"/>
                </a:lnTo>
                <a:close/>
              </a:path>
            </a:pathLst>
          </a:custGeom>
          <a:blipFill>
            <a:blip r:embed="rId5"/>
            <a:stretch>
              <a:fillRect l="0" t="0" r="0" b="0"/>
            </a:stretch>
          </a:blipFill>
        </p:spPr>
      </p:sp>
      <p:sp>
        <p:nvSpPr>
          <p:cNvPr name="TextBox 11" id="11"/>
          <p:cNvSpPr txBox="true"/>
          <p:nvPr/>
        </p:nvSpPr>
        <p:spPr>
          <a:xfrm rot="0">
            <a:off x="7890910" y="2324861"/>
            <a:ext cx="6015135" cy="1730883"/>
          </a:xfrm>
          <a:prstGeom prst="rect">
            <a:avLst/>
          </a:prstGeom>
        </p:spPr>
        <p:txBody>
          <a:bodyPr anchor="t" rtlCol="false" tIns="0" lIns="0" bIns="0" rIns="0">
            <a:spAutoFit/>
          </a:bodyPr>
          <a:lstStyle/>
          <a:p>
            <a:pPr algn="l">
              <a:lnSpc>
                <a:spcPts val="6666"/>
              </a:lnSpc>
            </a:pPr>
            <a:r>
              <a:rPr lang="en-US" sz="6600">
                <a:solidFill>
                  <a:srgbClr val="EE5648"/>
                </a:solidFill>
                <a:latin typeface="Bobby Jones"/>
                <a:ea typeface="Bobby Jones"/>
                <a:cs typeface="Bobby Jones"/>
                <a:sym typeface="Bobby Jones"/>
              </a:rPr>
              <a:t>GROUP BY o’zi nima</a:t>
            </a:r>
          </a:p>
        </p:txBody>
      </p:sp>
      <p:sp>
        <p:nvSpPr>
          <p:cNvPr name="Freeform 12" id="12"/>
          <p:cNvSpPr/>
          <p:nvPr/>
        </p:nvSpPr>
        <p:spPr>
          <a:xfrm flipH="false" flipV="false" rot="-1140975">
            <a:off x="14681578" y="1665755"/>
            <a:ext cx="1373342" cy="1108662"/>
          </a:xfrm>
          <a:custGeom>
            <a:avLst/>
            <a:gdLst/>
            <a:ahLst/>
            <a:cxnLst/>
            <a:rect r="r" b="b" t="t" l="l"/>
            <a:pathLst>
              <a:path h="1108662" w="1373342">
                <a:moveTo>
                  <a:pt x="0" y="0"/>
                </a:moveTo>
                <a:lnTo>
                  <a:pt x="1373342" y="0"/>
                </a:lnTo>
                <a:lnTo>
                  <a:pt x="1373342" y="1108662"/>
                </a:lnTo>
                <a:lnTo>
                  <a:pt x="0" y="11086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13" id="13"/>
          <p:cNvSpPr/>
          <p:nvPr/>
        </p:nvSpPr>
        <p:spPr>
          <a:xfrm flipH="false" flipV="false" rot="1288175">
            <a:off x="4056613" y="1640111"/>
            <a:ext cx="1331730" cy="1371632"/>
          </a:xfrm>
          <a:custGeom>
            <a:avLst/>
            <a:gdLst/>
            <a:ahLst/>
            <a:cxnLst/>
            <a:rect r="r" b="b" t="t" l="l"/>
            <a:pathLst>
              <a:path h="1371632" w="1331730">
                <a:moveTo>
                  <a:pt x="0" y="0"/>
                </a:moveTo>
                <a:lnTo>
                  <a:pt x="1331731" y="0"/>
                </a:lnTo>
                <a:lnTo>
                  <a:pt x="1331731" y="1371632"/>
                </a:lnTo>
                <a:lnTo>
                  <a:pt x="0" y="137163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TextBox 14" id="14"/>
          <p:cNvSpPr txBox="true"/>
          <p:nvPr/>
        </p:nvSpPr>
        <p:spPr>
          <a:xfrm rot="0">
            <a:off x="7890910" y="4305303"/>
            <a:ext cx="7241684" cy="4738860"/>
          </a:xfrm>
          <a:prstGeom prst="rect">
            <a:avLst/>
          </a:prstGeom>
        </p:spPr>
        <p:txBody>
          <a:bodyPr anchor="t" rtlCol="false" tIns="0" lIns="0" bIns="0" rIns="0">
            <a:spAutoFit/>
          </a:bodyPr>
          <a:lstStyle/>
          <a:p>
            <a:pPr algn="just">
              <a:lnSpc>
                <a:spcPts val="3406"/>
              </a:lnSpc>
            </a:pPr>
            <a:r>
              <a:rPr lang="en-US" sz="3183">
                <a:solidFill>
                  <a:srgbClr val="004FFF"/>
                </a:solidFill>
                <a:latin typeface="Ara Hamah Homs"/>
                <a:ea typeface="Ara Hamah Homs"/>
                <a:cs typeface="Ara Hamah Homs"/>
                <a:sym typeface="Ara Hamah Homs"/>
              </a:rPr>
              <a:t>GROUP BY — bu SQL’da ma’lumotlarni tartiblab, ularni bir xil qiymatlar asosida guruhlarga ajratish usulidir. U katta va chalkash ma’lumotlarni soddalashtirib, har bir guruh bo‘yicha hisob-kitob qilish imkonini beradi. Masalan, har bir mijoz yoki kategoriya kesimida umumiy natijalarni ko‘rish mumkin.</a:t>
            </a:r>
            <a:r>
              <a:rPr lang="en-US" sz="3183">
                <a:solidFill>
                  <a:srgbClr val="004FFF"/>
                </a:solidFill>
                <a:latin typeface="Ara Hamah Homs"/>
                <a:ea typeface="Ara Hamah Homs"/>
                <a:cs typeface="Ara Hamah Homs"/>
                <a:sym typeface="Ara Hamah Homs"/>
              </a:rPr>
              <a:t>Qisqacha aytganda, GROUP BY — gu ruhlash va hisoblash vositasi. U SUM, COUNT kabi funksiyalar bilan birga ishlaydi. WHERE ma’lumotni oldindan filtrlaydi, HAVING esa guruhlangan natijani tekshiradi.</a:t>
            </a:r>
          </a:p>
          <a:p>
            <a:pPr algn="just" marL="0" indent="0" lvl="0">
              <a:lnSpc>
                <a:spcPts val="3406"/>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8642"/>
        </a:solidFill>
      </p:bgPr>
    </p:bg>
    <p:spTree>
      <p:nvGrpSpPr>
        <p:cNvPr id="1" name=""/>
        <p:cNvGrpSpPr/>
        <p:nvPr/>
      </p:nvGrpSpPr>
      <p:grpSpPr>
        <a:xfrm>
          <a:off x="0" y="0"/>
          <a:ext cx="0" cy="0"/>
          <a:chOff x="0" y="0"/>
          <a:chExt cx="0" cy="0"/>
        </a:xfrm>
      </p:grpSpPr>
      <p:sp>
        <p:nvSpPr>
          <p:cNvPr name="Freeform 2" id="2"/>
          <p:cNvSpPr/>
          <p:nvPr/>
        </p:nvSpPr>
        <p:spPr>
          <a:xfrm flipH="false" flipV="false" rot="0">
            <a:off x="-1330824" y="-4647774"/>
            <a:ext cx="20266098" cy="20266098"/>
          </a:xfrm>
          <a:custGeom>
            <a:avLst/>
            <a:gdLst/>
            <a:ahLst/>
            <a:cxnLst/>
            <a:rect r="r" b="b" t="t" l="l"/>
            <a:pathLst>
              <a:path h="20266098" w="20266098">
                <a:moveTo>
                  <a:pt x="0" y="0"/>
                </a:moveTo>
                <a:lnTo>
                  <a:pt x="20266098" y="0"/>
                </a:lnTo>
                <a:lnTo>
                  <a:pt x="20266098" y="20266098"/>
                </a:lnTo>
                <a:lnTo>
                  <a:pt x="0" y="20266098"/>
                </a:lnTo>
                <a:lnTo>
                  <a:pt x="0" y="0"/>
                </a:lnTo>
                <a:close/>
              </a:path>
            </a:pathLst>
          </a:custGeom>
          <a:blipFill>
            <a:blip r:embed="rId2">
              <a:alphaModFix amt="20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4164209" y="2369835"/>
            <a:ext cx="7401061" cy="8850297"/>
          </a:xfrm>
          <a:custGeom>
            <a:avLst/>
            <a:gdLst/>
            <a:ahLst/>
            <a:cxnLst/>
            <a:rect r="r" b="b" t="t" l="l"/>
            <a:pathLst>
              <a:path h="8850297" w="7401061">
                <a:moveTo>
                  <a:pt x="7401060" y="0"/>
                </a:moveTo>
                <a:lnTo>
                  <a:pt x="0" y="0"/>
                </a:lnTo>
                <a:lnTo>
                  <a:pt x="0" y="8850296"/>
                </a:lnTo>
                <a:lnTo>
                  <a:pt x="7401060" y="8850296"/>
                </a:lnTo>
                <a:lnTo>
                  <a:pt x="7401060" y="0"/>
                </a:lnTo>
                <a:close/>
              </a:path>
            </a:pathLst>
          </a:custGeom>
          <a:blipFill>
            <a:blip r:embed="rId4"/>
            <a:stretch>
              <a:fillRect l="0" t="0" r="0" b="0"/>
            </a:stretch>
          </a:blipFill>
        </p:spPr>
      </p:sp>
      <p:grpSp>
        <p:nvGrpSpPr>
          <p:cNvPr name="Group 4" id="4"/>
          <p:cNvGrpSpPr/>
          <p:nvPr/>
        </p:nvGrpSpPr>
        <p:grpSpPr>
          <a:xfrm rot="0">
            <a:off x="1028700" y="1028700"/>
            <a:ext cx="8115300" cy="8229600"/>
            <a:chOff x="0" y="0"/>
            <a:chExt cx="2137363" cy="2167467"/>
          </a:xfrm>
        </p:grpSpPr>
        <p:sp>
          <p:nvSpPr>
            <p:cNvPr name="Freeform 5" id="5"/>
            <p:cNvSpPr/>
            <p:nvPr/>
          </p:nvSpPr>
          <p:spPr>
            <a:xfrm flipH="false" flipV="false" rot="0">
              <a:off x="0" y="0"/>
              <a:ext cx="2137363" cy="2167467"/>
            </a:xfrm>
            <a:custGeom>
              <a:avLst/>
              <a:gdLst/>
              <a:ahLst/>
              <a:cxnLst/>
              <a:rect r="r" b="b" t="t" l="l"/>
              <a:pathLst>
                <a:path h="2167467" w="2137363">
                  <a:moveTo>
                    <a:pt x="48654" y="0"/>
                  </a:moveTo>
                  <a:lnTo>
                    <a:pt x="2088710" y="0"/>
                  </a:lnTo>
                  <a:cubicBezTo>
                    <a:pt x="2115580" y="0"/>
                    <a:pt x="2137363" y="21783"/>
                    <a:pt x="2137363" y="48654"/>
                  </a:cubicBezTo>
                  <a:lnTo>
                    <a:pt x="2137363" y="2118813"/>
                  </a:lnTo>
                  <a:cubicBezTo>
                    <a:pt x="2137363" y="2145684"/>
                    <a:pt x="2115580" y="2167467"/>
                    <a:pt x="2088710" y="2167467"/>
                  </a:cubicBezTo>
                  <a:lnTo>
                    <a:pt x="48654" y="2167467"/>
                  </a:lnTo>
                  <a:cubicBezTo>
                    <a:pt x="21783" y="2167467"/>
                    <a:pt x="0" y="2145684"/>
                    <a:pt x="0" y="2118813"/>
                  </a:cubicBezTo>
                  <a:lnTo>
                    <a:pt x="0" y="48654"/>
                  </a:lnTo>
                  <a:cubicBezTo>
                    <a:pt x="0" y="21783"/>
                    <a:pt x="21783" y="0"/>
                    <a:pt x="48654" y="0"/>
                  </a:cubicBezTo>
                  <a:close/>
                </a:path>
              </a:pathLst>
            </a:custGeom>
            <a:solidFill>
              <a:srgbClr val="FFFFFF"/>
            </a:solidFill>
            <a:ln w="66675" cap="rnd">
              <a:solidFill>
                <a:srgbClr val="5B1117"/>
              </a:solidFill>
              <a:prstDash val="solid"/>
              <a:round/>
            </a:ln>
          </p:spPr>
        </p:sp>
        <p:sp>
          <p:nvSpPr>
            <p:cNvPr name="TextBox 6" id="6"/>
            <p:cNvSpPr txBox="true"/>
            <p:nvPr/>
          </p:nvSpPr>
          <p:spPr>
            <a:xfrm>
              <a:off x="0" y="-57150"/>
              <a:ext cx="2137363" cy="2224617"/>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6790046" y="605067"/>
            <a:ext cx="4707909" cy="867198"/>
            <a:chOff x="0" y="0"/>
            <a:chExt cx="1239943" cy="228398"/>
          </a:xfrm>
        </p:grpSpPr>
        <p:sp>
          <p:nvSpPr>
            <p:cNvPr name="Freeform 8" id="8"/>
            <p:cNvSpPr/>
            <p:nvPr/>
          </p:nvSpPr>
          <p:spPr>
            <a:xfrm flipH="false" flipV="false" rot="0">
              <a:off x="0" y="0"/>
              <a:ext cx="1239943" cy="228398"/>
            </a:xfrm>
            <a:custGeom>
              <a:avLst/>
              <a:gdLst/>
              <a:ahLst/>
              <a:cxnLst/>
              <a:rect r="r" b="b" t="t" l="l"/>
              <a:pathLst>
                <a:path h="228398" w="1239943">
                  <a:moveTo>
                    <a:pt x="83867" y="0"/>
                  </a:moveTo>
                  <a:lnTo>
                    <a:pt x="1156076" y="0"/>
                  </a:lnTo>
                  <a:cubicBezTo>
                    <a:pt x="1178319" y="0"/>
                    <a:pt x="1199651" y="8836"/>
                    <a:pt x="1215379" y="24564"/>
                  </a:cubicBezTo>
                  <a:cubicBezTo>
                    <a:pt x="1231107" y="40292"/>
                    <a:pt x="1239943" y="61624"/>
                    <a:pt x="1239943" y="83867"/>
                  </a:cubicBezTo>
                  <a:lnTo>
                    <a:pt x="1239943" y="144531"/>
                  </a:lnTo>
                  <a:cubicBezTo>
                    <a:pt x="1239943" y="166774"/>
                    <a:pt x="1231107" y="188106"/>
                    <a:pt x="1215379" y="203834"/>
                  </a:cubicBezTo>
                  <a:cubicBezTo>
                    <a:pt x="1199651" y="219562"/>
                    <a:pt x="1178319" y="228398"/>
                    <a:pt x="1156076" y="228398"/>
                  </a:cubicBezTo>
                  <a:lnTo>
                    <a:pt x="83867" y="228398"/>
                  </a:lnTo>
                  <a:cubicBezTo>
                    <a:pt x="61624" y="228398"/>
                    <a:pt x="40292" y="219562"/>
                    <a:pt x="24564" y="203834"/>
                  </a:cubicBezTo>
                  <a:cubicBezTo>
                    <a:pt x="8836" y="188106"/>
                    <a:pt x="0" y="166774"/>
                    <a:pt x="0" y="144531"/>
                  </a:cubicBezTo>
                  <a:lnTo>
                    <a:pt x="0" y="83867"/>
                  </a:lnTo>
                  <a:cubicBezTo>
                    <a:pt x="0" y="61624"/>
                    <a:pt x="8836" y="40292"/>
                    <a:pt x="24564" y="24564"/>
                  </a:cubicBezTo>
                  <a:cubicBezTo>
                    <a:pt x="40292" y="8836"/>
                    <a:pt x="61624" y="0"/>
                    <a:pt x="83867" y="0"/>
                  </a:cubicBezTo>
                  <a:close/>
                </a:path>
              </a:pathLst>
            </a:custGeom>
            <a:solidFill>
              <a:srgbClr val="EE5648"/>
            </a:solidFill>
            <a:ln w="66675" cap="rnd">
              <a:solidFill>
                <a:srgbClr val="5B1117"/>
              </a:solidFill>
              <a:prstDash val="solid"/>
              <a:round/>
            </a:ln>
          </p:spPr>
        </p:sp>
        <p:sp>
          <p:nvSpPr>
            <p:cNvPr name="TextBox 9" id="9"/>
            <p:cNvSpPr txBox="true"/>
            <p:nvPr/>
          </p:nvSpPr>
          <p:spPr>
            <a:xfrm>
              <a:off x="0" y="-66675"/>
              <a:ext cx="1239943" cy="295073"/>
            </a:xfrm>
            <a:prstGeom prst="rect">
              <a:avLst/>
            </a:prstGeom>
          </p:spPr>
          <p:txBody>
            <a:bodyPr anchor="ctr" rtlCol="false" tIns="50800" lIns="50800" bIns="50800" rIns="50800"/>
            <a:lstStyle/>
            <a:p>
              <a:pPr algn="ctr">
                <a:lnSpc>
                  <a:spcPts val="4759"/>
                </a:lnSpc>
              </a:pPr>
              <a:r>
                <a:rPr lang="en-US" sz="3399">
                  <a:solidFill>
                    <a:srgbClr val="FFFFFF"/>
                  </a:solidFill>
                  <a:latin typeface="Ara Hamah Homs"/>
                  <a:ea typeface="Ara Hamah Homs"/>
                  <a:cs typeface="Ara Hamah Homs"/>
                  <a:sym typeface="Ara Hamah Homs"/>
                </a:rPr>
                <a:t>Studio Shodwe</a:t>
              </a:r>
            </a:p>
          </p:txBody>
        </p:sp>
      </p:grpSp>
      <p:sp>
        <p:nvSpPr>
          <p:cNvPr name="Freeform 10" id="10"/>
          <p:cNvSpPr/>
          <p:nvPr/>
        </p:nvSpPr>
        <p:spPr>
          <a:xfrm flipH="false" flipV="false" rot="0">
            <a:off x="7933974" y="2057400"/>
            <a:ext cx="10354026" cy="9475166"/>
          </a:xfrm>
          <a:custGeom>
            <a:avLst/>
            <a:gdLst/>
            <a:ahLst/>
            <a:cxnLst/>
            <a:rect r="r" b="b" t="t" l="l"/>
            <a:pathLst>
              <a:path h="9475166" w="10354026">
                <a:moveTo>
                  <a:pt x="0" y="0"/>
                </a:moveTo>
                <a:lnTo>
                  <a:pt x="10354026" y="0"/>
                </a:lnTo>
                <a:lnTo>
                  <a:pt x="10354026" y="9475166"/>
                </a:lnTo>
                <a:lnTo>
                  <a:pt x="0" y="9475166"/>
                </a:lnTo>
                <a:lnTo>
                  <a:pt x="0" y="0"/>
                </a:lnTo>
                <a:close/>
              </a:path>
            </a:pathLst>
          </a:custGeom>
          <a:blipFill>
            <a:blip r:embed="rId5"/>
            <a:stretch>
              <a:fillRect l="0" t="0" r="-3696" b="0"/>
            </a:stretch>
          </a:blipFill>
        </p:spPr>
      </p:sp>
      <p:sp>
        <p:nvSpPr>
          <p:cNvPr name="Freeform 11" id="11"/>
          <p:cNvSpPr/>
          <p:nvPr/>
        </p:nvSpPr>
        <p:spPr>
          <a:xfrm flipH="false" flipV="false" rot="-1163422">
            <a:off x="7493210" y="1952362"/>
            <a:ext cx="987569" cy="834944"/>
          </a:xfrm>
          <a:custGeom>
            <a:avLst/>
            <a:gdLst/>
            <a:ahLst/>
            <a:cxnLst/>
            <a:rect r="r" b="b" t="t" l="l"/>
            <a:pathLst>
              <a:path h="834944" w="987569">
                <a:moveTo>
                  <a:pt x="0" y="0"/>
                </a:moveTo>
                <a:lnTo>
                  <a:pt x="987569" y="0"/>
                </a:lnTo>
                <a:lnTo>
                  <a:pt x="987569" y="834945"/>
                </a:lnTo>
                <a:lnTo>
                  <a:pt x="0" y="83494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12" id="12"/>
          <p:cNvSpPr txBox="true"/>
          <p:nvPr/>
        </p:nvSpPr>
        <p:spPr>
          <a:xfrm rot="0">
            <a:off x="2076308" y="1586565"/>
            <a:ext cx="5551916" cy="1845310"/>
          </a:xfrm>
          <a:prstGeom prst="rect">
            <a:avLst/>
          </a:prstGeom>
        </p:spPr>
        <p:txBody>
          <a:bodyPr anchor="t" rtlCol="false" tIns="0" lIns="0" bIns="0" rIns="0">
            <a:spAutoFit/>
          </a:bodyPr>
          <a:lstStyle/>
          <a:p>
            <a:pPr algn="l">
              <a:lnSpc>
                <a:spcPts val="7069"/>
              </a:lnSpc>
            </a:pPr>
            <a:r>
              <a:rPr lang="en-US" sz="6999">
                <a:solidFill>
                  <a:srgbClr val="EE5648"/>
                </a:solidFill>
                <a:latin typeface="Bobby Jones"/>
                <a:ea typeface="Bobby Jones"/>
                <a:cs typeface="Bobby Jones"/>
                <a:sym typeface="Bobby Jones"/>
              </a:rPr>
              <a:t>HAving qisqacha</a:t>
            </a:r>
          </a:p>
        </p:txBody>
      </p:sp>
      <p:sp>
        <p:nvSpPr>
          <p:cNvPr name="TextBox 13" id="13"/>
          <p:cNvSpPr txBox="true"/>
          <p:nvPr/>
        </p:nvSpPr>
        <p:spPr>
          <a:xfrm rot="0">
            <a:off x="1717537" y="3708100"/>
            <a:ext cx="6269458" cy="4822825"/>
          </a:xfrm>
          <a:prstGeom prst="rect">
            <a:avLst/>
          </a:prstGeom>
        </p:spPr>
        <p:txBody>
          <a:bodyPr anchor="t" rtlCol="false" tIns="0" lIns="0" bIns="0" rIns="0">
            <a:spAutoFit/>
          </a:bodyPr>
          <a:lstStyle/>
          <a:p>
            <a:pPr algn="just">
              <a:lnSpc>
                <a:spcPts val="3499"/>
              </a:lnSpc>
              <a:spcBef>
                <a:spcPct val="0"/>
              </a:spcBef>
            </a:pPr>
            <a:r>
              <a:rPr lang="en-US" b="true" sz="2499">
                <a:solidFill>
                  <a:srgbClr val="000000"/>
                </a:solidFill>
                <a:latin typeface="Poppins Bold"/>
                <a:ea typeface="Poppins Bold"/>
                <a:cs typeface="Poppins Bold"/>
                <a:sym typeface="Poppins Bold"/>
              </a:rPr>
              <a:t>HAVING — bu SQL’da guruhlangan ma’lumotlarni filtrlash uchun ishlatiladi. U GROUP BY bilan birga keladi va agregat natijalarga shart qo‘yadi. Oddiy qilib aytganda, agar GROUP BY orqali guruhlab, hisob qilgan bo‘lsangiz, HAVING shu natijadan keyin qaysi guruhlar qolishini tanlaydi.Masalan, faqat umumiy summasi katta bo‘lgan guruhlarni chiqarish mumkin.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8642"/>
        </a:solidFill>
      </p:bgPr>
    </p:bg>
    <p:spTree>
      <p:nvGrpSpPr>
        <p:cNvPr id="1" name=""/>
        <p:cNvGrpSpPr/>
        <p:nvPr/>
      </p:nvGrpSpPr>
      <p:grpSpPr>
        <a:xfrm>
          <a:off x="0" y="0"/>
          <a:ext cx="0" cy="0"/>
          <a:chOff x="0" y="0"/>
          <a:chExt cx="0" cy="0"/>
        </a:xfrm>
      </p:grpSpPr>
      <p:sp>
        <p:nvSpPr>
          <p:cNvPr name="Freeform 2" id="2"/>
          <p:cNvSpPr/>
          <p:nvPr/>
        </p:nvSpPr>
        <p:spPr>
          <a:xfrm flipH="false" flipV="false" rot="0">
            <a:off x="-1330824" y="-4647774"/>
            <a:ext cx="20266098" cy="20266098"/>
          </a:xfrm>
          <a:custGeom>
            <a:avLst/>
            <a:gdLst/>
            <a:ahLst/>
            <a:cxnLst/>
            <a:rect r="r" b="b" t="t" l="l"/>
            <a:pathLst>
              <a:path h="20266098" w="20266098">
                <a:moveTo>
                  <a:pt x="0" y="0"/>
                </a:moveTo>
                <a:lnTo>
                  <a:pt x="20266098" y="0"/>
                </a:lnTo>
                <a:lnTo>
                  <a:pt x="20266098" y="20266098"/>
                </a:lnTo>
                <a:lnTo>
                  <a:pt x="0" y="20266098"/>
                </a:lnTo>
                <a:lnTo>
                  <a:pt x="0" y="0"/>
                </a:lnTo>
                <a:close/>
              </a:path>
            </a:pathLst>
          </a:custGeom>
          <a:blipFill>
            <a:blip r:embed="rId2">
              <a:alphaModFix amt="20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715700" y="3403600"/>
            <a:ext cx="7505746" cy="7046019"/>
          </a:xfrm>
          <a:custGeom>
            <a:avLst/>
            <a:gdLst/>
            <a:ahLst/>
            <a:cxnLst/>
            <a:rect r="r" b="b" t="t" l="l"/>
            <a:pathLst>
              <a:path h="7046019" w="7505746">
                <a:moveTo>
                  <a:pt x="0" y="0"/>
                </a:moveTo>
                <a:lnTo>
                  <a:pt x="7505746" y="0"/>
                </a:lnTo>
                <a:lnTo>
                  <a:pt x="7505746" y="7046019"/>
                </a:lnTo>
                <a:lnTo>
                  <a:pt x="0" y="7046019"/>
                </a:lnTo>
                <a:lnTo>
                  <a:pt x="0" y="0"/>
                </a:lnTo>
                <a:close/>
              </a:path>
            </a:pathLst>
          </a:custGeom>
          <a:blipFill>
            <a:blip r:embed="rId4"/>
            <a:stretch>
              <a:fillRect l="0" t="0" r="0" b="0"/>
            </a:stretch>
          </a:blipFill>
        </p:spPr>
      </p:sp>
      <p:grpSp>
        <p:nvGrpSpPr>
          <p:cNvPr name="Group 4" id="4"/>
          <p:cNvGrpSpPr/>
          <p:nvPr/>
        </p:nvGrpSpPr>
        <p:grpSpPr>
          <a:xfrm rot="0">
            <a:off x="8802225" y="1028700"/>
            <a:ext cx="8457075" cy="8229600"/>
            <a:chOff x="0" y="0"/>
            <a:chExt cx="2227378" cy="2167467"/>
          </a:xfrm>
        </p:grpSpPr>
        <p:sp>
          <p:nvSpPr>
            <p:cNvPr name="Freeform 5" id="5"/>
            <p:cNvSpPr/>
            <p:nvPr/>
          </p:nvSpPr>
          <p:spPr>
            <a:xfrm flipH="false" flipV="false" rot="0">
              <a:off x="0" y="0"/>
              <a:ext cx="2227378" cy="2167467"/>
            </a:xfrm>
            <a:custGeom>
              <a:avLst/>
              <a:gdLst/>
              <a:ahLst/>
              <a:cxnLst/>
              <a:rect r="r" b="b" t="t" l="l"/>
              <a:pathLst>
                <a:path h="2167467" w="2227378">
                  <a:moveTo>
                    <a:pt x="46687" y="0"/>
                  </a:moveTo>
                  <a:lnTo>
                    <a:pt x="2180691" y="0"/>
                  </a:lnTo>
                  <a:cubicBezTo>
                    <a:pt x="2206475" y="0"/>
                    <a:pt x="2227378" y="20903"/>
                    <a:pt x="2227378" y="46687"/>
                  </a:cubicBezTo>
                  <a:lnTo>
                    <a:pt x="2227378" y="2120779"/>
                  </a:lnTo>
                  <a:cubicBezTo>
                    <a:pt x="2227378" y="2146564"/>
                    <a:pt x="2206475" y="2167467"/>
                    <a:pt x="2180691" y="2167467"/>
                  </a:cubicBezTo>
                  <a:lnTo>
                    <a:pt x="46687" y="2167467"/>
                  </a:lnTo>
                  <a:cubicBezTo>
                    <a:pt x="20903" y="2167467"/>
                    <a:pt x="0" y="2146564"/>
                    <a:pt x="0" y="2120779"/>
                  </a:cubicBezTo>
                  <a:lnTo>
                    <a:pt x="0" y="46687"/>
                  </a:lnTo>
                  <a:cubicBezTo>
                    <a:pt x="0" y="20903"/>
                    <a:pt x="20903" y="0"/>
                    <a:pt x="46687" y="0"/>
                  </a:cubicBezTo>
                  <a:close/>
                </a:path>
              </a:pathLst>
            </a:custGeom>
            <a:solidFill>
              <a:srgbClr val="FFFFFF"/>
            </a:solidFill>
            <a:ln w="66675" cap="rnd">
              <a:solidFill>
                <a:srgbClr val="5B1117"/>
              </a:solidFill>
              <a:prstDash val="solid"/>
              <a:round/>
            </a:ln>
          </p:spPr>
        </p:sp>
        <p:sp>
          <p:nvSpPr>
            <p:cNvPr name="TextBox 6" id="6"/>
            <p:cNvSpPr txBox="true"/>
            <p:nvPr/>
          </p:nvSpPr>
          <p:spPr>
            <a:xfrm>
              <a:off x="0" y="-57150"/>
              <a:ext cx="2227378" cy="2224617"/>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6790046" y="605067"/>
            <a:ext cx="4707909" cy="867198"/>
            <a:chOff x="0" y="0"/>
            <a:chExt cx="1239943" cy="228398"/>
          </a:xfrm>
        </p:grpSpPr>
        <p:sp>
          <p:nvSpPr>
            <p:cNvPr name="Freeform 8" id="8"/>
            <p:cNvSpPr/>
            <p:nvPr/>
          </p:nvSpPr>
          <p:spPr>
            <a:xfrm flipH="false" flipV="false" rot="0">
              <a:off x="0" y="0"/>
              <a:ext cx="1239943" cy="228398"/>
            </a:xfrm>
            <a:custGeom>
              <a:avLst/>
              <a:gdLst/>
              <a:ahLst/>
              <a:cxnLst/>
              <a:rect r="r" b="b" t="t" l="l"/>
              <a:pathLst>
                <a:path h="228398" w="1239943">
                  <a:moveTo>
                    <a:pt x="83867" y="0"/>
                  </a:moveTo>
                  <a:lnTo>
                    <a:pt x="1156076" y="0"/>
                  </a:lnTo>
                  <a:cubicBezTo>
                    <a:pt x="1178319" y="0"/>
                    <a:pt x="1199651" y="8836"/>
                    <a:pt x="1215379" y="24564"/>
                  </a:cubicBezTo>
                  <a:cubicBezTo>
                    <a:pt x="1231107" y="40292"/>
                    <a:pt x="1239943" y="61624"/>
                    <a:pt x="1239943" y="83867"/>
                  </a:cubicBezTo>
                  <a:lnTo>
                    <a:pt x="1239943" y="144531"/>
                  </a:lnTo>
                  <a:cubicBezTo>
                    <a:pt x="1239943" y="166774"/>
                    <a:pt x="1231107" y="188106"/>
                    <a:pt x="1215379" y="203834"/>
                  </a:cubicBezTo>
                  <a:cubicBezTo>
                    <a:pt x="1199651" y="219562"/>
                    <a:pt x="1178319" y="228398"/>
                    <a:pt x="1156076" y="228398"/>
                  </a:cubicBezTo>
                  <a:lnTo>
                    <a:pt x="83867" y="228398"/>
                  </a:lnTo>
                  <a:cubicBezTo>
                    <a:pt x="61624" y="228398"/>
                    <a:pt x="40292" y="219562"/>
                    <a:pt x="24564" y="203834"/>
                  </a:cubicBezTo>
                  <a:cubicBezTo>
                    <a:pt x="8836" y="188106"/>
                    <a:pt x="0" y="166774"/>
                    <a:pt x="0" y="144531"/>
                  </a:cubicBezTo>
                  <a:lnTo>
                    <a:pt x="0" y="83867"/>
                  </a:lnTo>
                  <a:cubicBezTo>
                    <a:pt x="0" y="61624"/>
                    <a:pt x="8836" y="40292"/>
                    <a:pt x="24564" y="24564"/>
                  </a:cubicBezTo>
                  <a:cubicBezTo>
                    <a:pt x="40292" y="8836"/>
                    <a:pt x="61624" y="0"/>
                    <a:pt x="83867" y="0"/>
                  </a:cubicBezTo>
                  <a:close/>
                </a:path>
              </a:pathLst>
            </a:custGeom>
            <a:solidFill>
              <a:srgbClr val="EE5648"/>
            </a:solidFill>
            <a:ln w="66675" cap="rnd">
              <a:solidFill>
                <a:srgbClr val="5B1117"/>
              </a:solidFill>
              <a:prstDash val="solid"/>
              <a:round/>
            </a:ln>
          </p:spPr>
        </p:sp>
        <p:sp>
          <p:nvSpPr>
            <p:cNvPr name="TextBox 9" id="9"/>
            <p:cNvSpPr txBox="true"/>
            <p:nvPr/>
          </p:nvSpPr>
          <p:spPr>
            <a:xfrm>
              <a:off x="0" y="-66675"/>
              <a:ext cx="1239943" cy="295073"/>
            </a:xfrm>
            <a:prstGeom prst="rect">
              <a:avLst/>
            </a:prstGeom>
          </p:spPr>
          <p:txBody>
            <a:bodyPr anchor="ctr" rtlCol="false" tIns="50800" lIns="50800" bIns="50800" rIns="50800"/>
            <a:lstStyle/>
            <a:p>
              <a:pPr algn="ctr">
                <a:lnSpc>
                  <a:spcPts val="4759"/>
                </a:lnSpc>
              </a:pPr>
              <a:r>
                <a:rPr lang="en-US" sz="3399">
                  <a:solidFill>
                    <a:srgbClr val="FFFFFF"/>
                  </a:solidFill>
                  <a:latin typeface="Ara Hamah Homs"/>
                  <a:ea typeface="Ara Hamah Homs"/>
                  <a:cs typeface="Ara Hamah Homs"/>
                  <a:sym typeface="Ara Hamah Homs"/>
                </a:rPr>
                <a:t>Studio Shodwe</a:t>
              </a:r>
            </a:p>
          </p:txBody>
        </p:sp>
      </p:grpSp>
      <p:sp>
        <p:nvSpPr>
          <p:cNvPr name="Freeform 10" id="10"/>
          <p:cNvSpPr/>
          <p:nvPr/>
        </p:nvSpPr>
        <p:spPr>
          <a:xfrm flipH="false" flipV="false" rot="0">
            <a:off x="674518" y="2057400"/>
            <a:ext cx="8725292" cy="9708253"/>
          </a:xfrm>
          <a:custGeom>
            <a:avLst/>
            <a:gdLst/>
            <a:ahLst/>
            <a:cxnLst/>
            <a:rect r="r" b="b" t="t" l="l"/>
            <a:pathLst>
              <a:path h="9708253" w="8725292">
                <a:moveTo>
                  <a:pt x="0" y="0"/>
                </a:moveTo>
                <a:lnTo>
                  <a:pt x="8725292" y="0"/>
                </a:lnTo>
                <a:lnTo>
                  <a:pt x="8725292" y="9708253"/>
                </a:lnTo>
                <a:lnTo>
                  <a:pt x="0" y="9708253"/>
                </a:lnTo>
                <a:lnTo>
                  <a:pt x="0" y="0"/>
                </a:lnTo>
                <a:close/>
              </a:path>
            </a:pathLst>
          </a:custGeom>
          <a:blipFill>
            <a:blip r:embed="rId5"/>
            <a:stretch>
              <a:fillRect l="0" t="0" r="0" b="0"/>
            </a:stretch>
          </a:blipFill>
        </p:spPr>
      </p:sp>
      <p:sp>
        <p:nvSpPr>
          <p:cNvPr name="TextBox 11" id="11"/>
          <p:cNvSpPr txBox="true"/>
          <p:nvPr/>
        </p:nvSpPr>
        <p:spPr>
          <a:xfrm rot="0">
            <a:off x="9977280" y="1853945"/>
            <a:ext cx="6967818" cy="1404240"/>
          </a:xfrm>
          <a:prstGeom prst="rect">
            <a:avLst/>
          </a:prstGeom>
        </p:spPr>
        <p:txBody>
          <a:bodyPr anchor="t" rtlCol="false" tIns="0" lIns="0" bIns="0" rIns="0">
            <a:spAutoFit/>
          </a:bodyPr>
          <a:lstStyle/>
          <a:p>
            <a:pPr algn="l">
              <a:lnSpc>
                <a:spcPts val="5353"/>
              </a:lnSpc>
            </a:pPr>
            <a:r>
              <a:rPr lang="en-US" sz="5300">
                <a:solidFill>
                  <a:srgbClr val="EE5648"/>
                </a:solidFill>
                <a:latin typeface="Bobby Jones"/>
                <a:ea typeface="Bobby Jones"/>
                <a:cs typeface="Bobby Jones"/>
                <a:sym typeface="Bobby Jones"/>
              </a:rPr>
              <a:t>yozilgan kod qanday ishlaydi</a:t>
            </a:r>
          </a:p>
        </p:txBody>
      </p:sp>
      <p:sp>
        <p:nvSpPr>
          <p:cNvPr name="TextBox 12" id="12"/>
          <p:cNvSpPr txBox="true"/>
          <p:nvPr/>
        </p:nvSpPr>
        <p:spPr>
          <a:xfrm rot="0">
            <a:off x="9624766" y="3384550"/>
            <a:ext cx="7320332" cy="5600700"/>
          </a:xfrm>
          <a:prstGeom prst="rect">
            <a:avLst/>
          </a:prstGeom>
        </p:spPr>
        <p:txBody>
          <a:bodyPr anchor="t" rtlCol="false" tIns="0" lIns="0" bIns="0" rIns="0">
            <a:spAutoFit/>
          </a:bodyPr>
          <a:lstStyle/>
          <a:p>
            <a:pPr algn="just">
              <a:lnSpc>
                <a:spcPts val="3749"/>
              </a:lnSpc>
            </a:pPr>
            <a:r>
              <a:rPr lang="en-US" sz="2999">
                <a:solidFill>
                  <a:srgbClr val="004FFF"/>
                </a:solidFill>
                <a:latin typeface="Ara Hamah Homs"/>
                <a:ea typeface="Ara Hamah Homs"/>
                <a:cs typeface="Ara Hamah Homs"/>
                <a:sym typeface="Ara Hamah Homs"/>
              </a:rPr>
              <a:t>SQL so‘rovlari ma’lum tartibda ishlaydi va har bir bosqichning o‘z vazifasi bor. Avval FROM orqali jadvaldan ma’lumot olinadi, keyin WHERE qatorlarni filtrlaydi. Shundan so‘ng GROUP BY ma’lumotlarni guruhlarga ajratadi. Guruhlar hosil bo‘lgandan keyin HAVING ishlaydi va shu guruhlarni shart asosida filtrlaydi. Oxirida esa SELECT natijani foydalanuvchiga chiqaradi.</a:t>
            </a:r>
          </a:p>
          <a:p>
            <a:pPr algn="just">
              <a:lnSpc>
                <a:spcPts val="3749"/>
              </a:lnSpc>
            </a:pPr>
            <a:r>
              <a:rPr lang="en-US" sz="2999">
                <a:solidFill>
                  <a:srgbClr val="004FFF"/>
                </a:solidFill>
                <a:latin typeface="Ara Hamah Homs"/>
                <a:ea typeface="Ara Hamah Homs"/>
                <a:cs typeface="Ara Hamah Homs"/>
                <a:sym typeface="Ara Hamah Homs"/>
              </a:rPr>
              <a:t>Qisqacha tartib:</a:t>
            </a:r>
          </a:p>
          <a:p>
            <a:pPr algn="just">
              <a:lnSpc>
                <a:spcPts val="3749"/>
              </a:lnSpc>
            </a:pPr>
            <a:r>
              <a:rPr lang="en-US" sz="2999">
                <a:solidFill>
                  <a:srgbClr val="004FFF"/>
                </a:solidFill>
                <a:latin typeface="Ara Hamah Homs"/>
                <a:ea typeface="Ara Hamah Homs"/>
                <a:cs typeface="Ara Hamah Homs"/>
                <a:sym typeface="Ara Hamah Homs"/>
              </a:rPr>
              <a:t>FROM → WHERE → GROUP BY → HAVING → SELECT</a:t>
            </a:r>
          </a:p>
          <a:p>
            <a:pPr algn="just">
              <a:lnSpc>
                <a:spcPts val="3749"/>
              </a:lnSpc>
            </a:pPr>
            <a:r>
              <a:rPr lang="en-US" sz="2999">
                <a:solidFill>
                  <a:srgbClr val="004FFF"/>
                </a:solidFill>
                <a:latin typeface="Ara Hamah Homs"/>
                <a:ea typeface="Ara Hamah Homs"/>
                <a:cs typeface="Ara Hamah Homs"/>
                <a:sym typeface="Ara Hamah Homs"/>
              </a:rPr>
              <a:t>Demak, HAVING guruhlashdan keyin ishlaydi, lekin natija SELECT orqali ko‘rinadi.</a:t>
            </a:r>
          </a:p>
          <a:p>
            <a:pPr algn="just" marL="0" indent="0" lvl="0">
              <a:lnSpc>
                <a:spcPts val="3749"/>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8642"/>
        </a:solidFill>
      </p:bgPr>
    </p:bg>
    <p:spTree>
      <p:nvGrpSpPr>
        <p:cNvPr id="1" name=""/>
        <p:cNvGrpSpPr/>
        <p:nvPr/>
      </p:nvGrpSpPr>
      <p:grpSpPr>
        <a:xfrm>
          <a:off x="0" y="0"/>
          <a:ext cx="0" cy="0"/>
          <a:chOff x="0" y="0"/>
          <a:chExt cx="0" cy="0"/>
        </a:xfrm>
      </p:grpSpPr>
      <p:sp>
        <p:nvSpPr>
          <p:cNvPr name="Freeform 2" id="2"/>
          <p:cNvSpPr/>
          <p:nvPr/>
        </p:nvSpPr>
        <p:spPr>
          <a:xfrm flipH="false" flipV="false" rot="0">
            <a:off x="-1330824" y="-4647774"/>
            <a:ext cx="20266098" cy="20266098"/>
          </a:xfrm>
          <a:custGeom>
            <a:avLst/>
            <a:gdLst/>
            <a:ahLst/>
            <a:cxnLst/>
            <a:rect r="r" b="b" t="t" l="l"/>
            <a:pathLst>
              <a:path h="20266098" w="20266098">
                <a:moveTo>
                  <a:pt x="0" y="0"/>
                </a:moveTo>
                <a:lnTo>
                  <a:pt x="20266098" y="0"/>
                </a:lnTo>
                <a:lnTo>
                  <a:pt x="20266098" y="20266098"/>
                </a:lnTo>
                <a:lnTo>
                  <a:pt x="0" y="20266098"/>
                </a:lnTo>
                <a:lnTo>
                  <a:pt x="0" y="0"/>
                </a:lnTo>
                <a:close/>
              </a:path>
            </a:pathLst>
          </a:custGeom>
          <a:blipFill>
            <a:blip r:embed="rId2">
              <a:alphaModFix amt="20999"/>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28700" y="1028700"/>
            <a:ext cx="8115300" cy="8229600"/>
            <a:chOff x="0" y="0"/>
            <a:chExt cx="2137363" cy="2167467"/>
          </a:xfrm>
        </p:grpSpPr>
        <p:sp>
          <p:nvSpPr>
            <p:cNvPr name="Freeform 4" id="4"/>
            <p:cNvSpPr/>
            <p:nvPr/>
          </p:nvSpPr>
          <p:spPr>
            <a:xfrm flipH="false" flipV="false" rot="0">
              <a:off x="0" y="0"/>
              <a:ext cx="2137363" cy="2167467"/>
            </a:xfrm>
            <a:custGeom>
              <a:avLst/>
              <a:gdLst/>
              <a:ahLst/>
              <a:cxnLst/>
              <a:rect r="r" b="b" t="t" l="l"/>
              <a:pathLst>
                <a:path h="2167467" w="2137363">
                  <a:moveTo>
                    <a:pt x="48654" y="0"/>
                  </a:moveTo>
                  <a:lnTo>
                    <a:pt x="2088710" y="0"/>
                  </a:lnTo>
                  <a:cubicBezTo>
                    <a:pt x="2115580" y="0"/>
                    <a:pt x="2137363" y="21783"/>
                    <a:pt x="2137363" y="48654"/>
                  </a:cubicBezTo>
                  <a:lnTo>
                    <a:pt x="2137363" y="2118813"/>
                  </a:lnTo>
                  <a:cubicBezTo>
                    <a:pt x="2137363" y="2145684"/>
                    <a:pt x="2115580" y="2167467"/>
                    <a:pt x="2088710" y="2167467"/>
                  </a:cubicBezTo>
                  <a:lnTo>
                    <a:pt x="48654" y="2167467"/>
                  </a:lnTo>
                  <a:cubicBezTo>
                    <a:pt x="21783" y="2167467"/>
                    <a:pt x="0" y="2145684"/>
                    <a:pt x="0" y="2118813"/>
                  </a:cubicBezTo>
                  <a:lnTo>
                    <a:pt x="0" y="48654"/>
                  </a:lnTo>
                  <a:cubicBezTo>
                    <a:pt x="0" y="21783"/>
                    <a:pt x="21783" y="0"/>
                    <a:pt x="48654" y="0"/>
                  </a:cubicBezTo>
                  <a:close/>
                </a:path>
              </a:pathLst>
            </a:custGeom>
            <a:solidFill>
              <a:srgbClr val="FFFFFF"/>
            </a:solidFill>
            <a:ln w="66675" cap="rnd">
              <a:solidFill>
                <a:srgbClr val="5B1117"/>
              </a:solidFill>
              <a:prstDash val="solid"/>
              <a:round/>
            </a:ln>
          </p:spPr>
        </p:sp>
        <p:sp>
          <p:nvSpPr>
            <p:cNvPr name="TextBox 5" id="5"/>
            <p:cNvSpPr txBox="true"/>
            <p:nvPr/>
          </p:nvSpPr>
          <p:spPr>
            <a:xfrm>
              <a:off x="0" y="-57150"/>
              <a:ext cx="2137363" cy="2224617"/>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6790046" y="605067"/>
            <a:ext cx="4707909" cy="867198"/>
            <a:chOff x="0" y="0"/>
            <a:chExt cx="1239943" cy="228398"/>
          </a:xfrm>
        </p:grpSpPr>
        <p:sp>
          <p:nvSpPr>
            <p:cNvPr name="Freeform 7" id="7"/>
            <p:cNvSpPr/>
            <p:nvPr/>
          </p:nvSpPr>
          <p:spPr>
            <a:xfrm flipH="false" flipV="false" rot="0">
              <a:off x="0" y="0"/>
              <a:ext cx="1239943" cy="228398"/>
            </a:xfrm>
            <a:custGeom>
              <a:avLst/>
              <a:gdLst/>
              <a:ahLst/>
              <a:cxnLst/>
              <a:rect r="r" b="b" t="t" l="l"/>
              <a:pathLst>
                <a:path h="228398" w="1239943">
                  <a:moveTo>
                    <a:pt x="83867" y="0"/>
                  </a:moveTo>
                  <a:lnTo>
                    <a:pt x="1156076" y="0"/>
                  </a:lnTo>
                  <a:cubicBezTo>
                    <a:pt x="1178319" y="0"/>
                    <a:pt x="1199651" y="8836"/>
                    <a:pt x="1215379" y="24564"/>
                  </a:cubicBezTo>
                  <a:cubicBezTo>
                    <a:pt x="1231107" y="40292"/>
                    <a:pt x="1239943" y="61624"/>
                    <a:pt x="1239943" y="83867"/>
                  </a:cubicBezTo>
                  <a:lnTo>
                    <a:pt x="1239943" y="144531"/>
                  </a:lnTo>
                  <a:cubicBezTo>
                    <a:pt x="1239943" y="166774"/>
                    <a:pt x="1231107" y="188106"/>
                    <a:pt x="1215379" y="203834"/>
                  </a:cubicBezTo>
                  <a:cubicBezTo>
                    <a:pt x="1199651" y="219562"/>
                    <a:pt x="1178319" y="228398"/>
                    <a:pt x="1156076" y="228398"/>
                  </a:cubicBezTo>
                  <a:lnTo>
                    <a:pt x="83867" y="228398"/>
                  </a:lnTo>
                  <a:cubicBezTo>
                    <a:pt x="61624" y="228398"/>
                    <a:pt x="40292" y="219562"/>
                    <a:pt x="24564" y="203834"/>
                  </a:cubicBezTo>
                  <a:cubicBezTo>
                    <a:pt x="8836" y="188106"/>
                    <a:pt x="0" y="166774"/>
                    <a:pt x="0" y="144531"/>
                  </a:cubicBezTo>
                  <a:lnTo>
                    <a:pt x="0" y="83867"/>
                  </a:lnTo>
                  <a:cubicBezTo>
                    <a:pt x="0" y="61624"/>
                    <a:pt x="8836" y="40292"/>
                    <a:pt x="24564" y="24564"/>
                  </a:cubicBezTo>
                  <a:cubicBezTo>
                    <a:pt x="40292" y="8836"/>
                    <a:pt x="61624" y="0"/>
                    <a:pt x="83867" y="0"/>
                  </a:cubicBezTo>
                  <a:close/>
                </a:path>
              </a:pathLst>
            </a:custGeom>
            <a:solidFill>
              <a:srgbClr val="EE5648"/>
            </a:solidFill>
            <a:ln w="66675" cap="rnd">
              <a:solidFill>
                <a:srgbClr val="5B1117"/>
              </a:solidFill>
              <a:prstDash val="solid"/>
              <a:round/>
            </a:ln>
          </p:spPr>
        </p:sp>
        <p:sp>
          <p:nvSpPr>
            <p:cNvPr name="TextBox 8" id="8"/>
            <p:cNvSpPr txBox="true"/>
            <p:nvPr/>
          </p:nvSpPr>
          <p:spPr>
            <a:xfrm>
              <a:off x="0" y="-66675"/>
              <a:ext cx="1239943" cy="295073"/>
            </a:xfrm>
            <a:prstGeom prst="rect">
              <a:avLst/>
            </a:prstGeom>
          </p:spPr>
          <p:txBody>
            <a:bodyPr anchor="ctr" rtlCol="false" tIns="50800" lIns="50800" bIns="50800" rIns="50800"/>
            <a:lstStyle/>
            <a:p>
              <a:pPr algn="ctr">
                <a:lnSpc>
                  <a:spcPts val="4759"/>
                </a:lnSpc>
              </a:pPr>
              <a:r>
                <a:rPr lang="en-US" sz="3399">
                  <a:solidFill>
                    <a:srgbClr val="FFFFFF"/>
                  </a:solidFill>
                  <a:latin typeface="Ara Hamah Homs"/>
                  <a:ea typeface="Ara Hamah Homs"/>
                  <a:cs typeface="Ara Hamah Homs"/>
                  <a:sym typeface="Ara Hamah Homs"/>
                </a:rPr>
                <a:t>Studio Shodwe</a:t>
              </a:r>
            </a:p>
          </p:txBody>
        </p:sp>
      </p:grpSp>
      <p:sp>
        <p:nvSpPr>
          <p:cNvPr name="Freeform 9" id="9"/>
          <p:cNvSpPr/>
          <p:nvPr/>
        </p:nvSpPr>
        <p:spPr>
          <a:xfrm flipH="false" flipV="false" rot="0">
            <a:off x="7914467" y="1859633"/>
            <a:ext cx="9344833" cy="9797990"/>
          </a:xfrm>
          <a:custGeom>
            <a:avLst/>
            <a:gdLst/>
            <a:ahLst/>
            <a:cxnLst/>
            <a:rect r="r" b="b" t="t" l="l"/>
            <a:pathLst>
              <a:path h="9797990" w="9344833">
                <a:moveTo>
                  <a:pt x="0" y="0"/>
                </a:moveTo>
                <a:lnTo>
                  <a:pt x="9344833" y="0"/>
                </a:lnTo>
                <a:lnTo>
                  <a:pt x="9344833" y="9797990"/>
                </a:lnTo>
                <a:lnTo>
                  <a:pt x="0" y="9797990"/>
                </a:lnTo>
                <a:lnTo>
                  <a:pt x="0" y="0"/>
                </a:lnTo>
                <a:close/>
              </a:path>
            </a:pathLst>
          </a:custGeom>
          <a:blipFill>
            <a:blip r:embed="rId4"/>
            <a:stretch>
              <a:fillRect l="0" t="0" r="0" b="0"/>
            </a:stretch>
          </a:blipFill>
        </p:spPr>
      </p:sp>
      <p:sp>
        <p:nvSpPr>
          <p:cNvPr name="TextBox 10" id="10"/>
          <p:cNvSpPr txBox="true"/>
          <p:nvPr/>
        </p:nvSpPr>
        <p:spPr>
          <a:xfrm rot="0">
            <a:off x="2035336" y="1973933"/>
            <a:ext cx="6015135" cy="949960"/>
          </a:xfrm>
          <a:prstGeom prst="rect">
            <a:avLst/>
          </a:prstGeom>
        </p:spPr>
        <p:txBody>
          <a:bodyPr anchor="t" rtlCol="false" tIns="0" lIns="0" bIns="0" rIns="0">
            <a:spAutoFit/>
          </a:bodyPr>
          <a:lstStyle/>
          <a:p>
            <a:pPr algn="l">
              <a:lnSpc>
                <a:spcPts val="7069"/>
              </a:lnSpc>
            </a:pPr>
            <a:r>
              <a:rPr lang="en-US" sz="6999">
                <a:solidFill>
                  <a:srgbClr val="EE5648"/>
                </a:solidFill>
                <a:latin typeface="Bobby Jones"/>
                <a:ea typeface="Bobby Jones"/>
                <a:cs typeface="Bobby Jones"/>
                <a:sym typeface="Bobby Jones"/>
              </a:rPr>
              <a:t>masala kodi</a:t>
            </a:r>
          </a:p>
        </p:txBody>
      </p:sp>
      <p:sp>
        <p:nvSpPr>
          <p:cNvPr name="Freeform 11" id="11"/>
          <p:cNvSpPr/>
          <p:nvPr/>
        </p:nvSpPr>
        <p:spPr>
          <a:xfrm flipH="false" flipV="false" rot="1363866">
            <a:off x="7515793" y="6880681"/>
            <a:ext cx="797349" cy="935057"/>
          </a:xfrm>
          <a:custGeom>
            <a:avLst/>
            <a:gdLst/>
            <a:ahLst/>
            <a:cxnLst/>
            <a:rect r="r" b="b" t="t" l="l"/>
            <a:pathLst>
              <a:path h="935057" w="797349">
                <a:moveTo>
                  <a:pt x="0" y="0"/>
                </a:moveTo>
                <a:lnTo>
                  <a:pt x="797348" y="0"/>
                </a:lnTo>
                <a:lnTo>
                  <a:pt x="797348" y="935057"/>
                </a:lnTo>
                <a:lnTo>
                  <a:pt x="0" y="93505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TextBox 12" id="12"/>
          <p:cNvSpPr txBox="true"/>
          <p:nvPr/>
        </p:nvSpPr>
        <p:spPr>
          <a:xfrm rot="0">
            <a:off x="2035336" y="3835045"/>
            <a:ext cx="5034815" cy="2186432"/>
          </a:xfrm>
          <a:prstGeom prst="rect">
            <a:avLst/>
          </a:prstGeom>
        </p:spPr>
        <p:txBody>
          <a:bodyPr anchor="t" rtlCol="false" tIns="0" lIns="0" bIns="0" rIns="0">
            <a:spAutoFit/>
          </a:bodyPr>
          <a:lstStyle/>
          <a:p>
            <a:pPr algn="l">
              <a:lnSpc>
                <a:spcPts val="3423"/>
              </a:lnSpc>
            </a:pPr>
            <a:r>
              <a:rPr lang="en-US" sz="3199">
                <a:solidFill>
                  <a:srgbClr val="004FFF"/>
                </a:solidFill>
                <a:latin typeface="Ara Hamah Homs"/>
                <a:ea typeface="Ara Hamah Homs"/>
                <a:cs typeface="Ara Hamah Homs"/>
                <a:sym typeface="Ara Hamah Homs"/>
              </a:rPr>
              <a:t>\SELECT customer, SUM(amount) AS total_amount</a:t>
            </a:r>
          </a:p>
          <a:p>
            <a:pPr algn="l">
              <a:lnSpc>
                <a:spcPts val="3530"/>
              </a:lnSpc>
            </a:pPr>
            <a:r>
              <a:rPr lang="en-US" sz="3299">
                <a:solidFill>
                  <a:srgbClr val="004FFF"/>
                </a:solidFill>
                <a:latin typeface="Ara Hamah Homs"/>
                <a:ea typeface="Ara Hamah Homs"/>
                <a:cs typeface="Ara Hamah Homs"/>
                <a:sym typeface="Ara Hamah Homs"/>
              </a:rPr>
              <a:t>FROM sales</a:t>
            </a:r>
          </a:p>
          <a:p>
            <a:pPr algn="l">
              <a:lnSpc>
                <a:spcPts val="3423"/>
              </a:lnSpc>
            </a:pPr>
            <a:r>
              <a:rPr lang="en-US" sz="3199">
                <a:solidFill>
                  <a:srgbClr val="004FFF"/>
                </a:solidFill>
                <a:latin typeface="Ara Hamah Homs"/>
                <a:ea typeface="Ara Hamah Homs"/>
                <a:cs typeface="Ara Hamah Homs"/>
                <a:sym typeface="Ara Hamah Homs"/>
              </a:rPr>
              <a:t>GROUP BY customer</a:t>
            </a:r>
          </a:p>
          <a:p>
            <a:pPr algn="l" marL="0" indent="0" lvl="0">
              <a:lnSpc>
                <a:spcPts val="3423"/>
              </a:lnSpc>
            </a:pPr>
            <a:r>
              <a:rPr lang="en-US" sz="3199">
                <a:solidFill>
                  <a:srgbClr val="004FFF"/>
                </a:solidFill>
                <a:latin typeface="Ara Hamah Homs"/>
                <a:ea typeface="Ara Hamah Homs"/>
                <a:cs typeface="Ara Hamah Homs"/>
                <a:sym typeface="Ara Hamah Homs"/>
              </a:rPr>
              <a:t>HAVING SUM(amount) &gt; 500;</a:t>
            </a:r>
          </a:p>
        </p:txBody>
      </p:sp>
      <p:sp>
        <p:nvSpPr>
          <p:cNvPr name="Freeform 13" id="13"/>
          <p:cNvSpPr/>
          <p:nvPr/>
        </p:nvSpPr>
        <p:spPr>
          <a:xfrm flipH="false" flipV="false" rot="-761271">
            <a:off x="15176761" y="7252207"/>
            <a:ext cx="2330749" cy="2001029"/>
          </a:xfrm>
          <a:custGeom>
            <a:avLst/>
            <a:gdLst/>
            <a:ahLst/>
            <a:cxnLst/>
            <a:rect r="r" b="b" t="t" l="l"/>
            <a:pathLst>
              <a:path h="2001029" w="2330749">
                <a:moveTo>
                  <a:pt x="0" y="0"/>
                </a:moveTo>
                <a:lnTo>
                  <a:pt x="2330749" y="0"/>
                </a:lnTo>
                <a:lnTo>
                  <a:pt x="2330749" y="2001029"/>
                </a:lnTo>
                <a:lnTo>
                  <a:pt x="0" y="2001029"/>
                </a:lnTo>
                <a:lnTo>
                  <a:pt x="0" y="0"/>
                </a:lnTo>
                <a:close/>
              </a:path>
            </a:pathLst>
          </a:custGeom>
          <a:blipFill>
            <a:blip r:embed="rId7"/>
            <a:stretch>
              <a:fillRect l="-207702" t="-186678" r="-6164" b="-56512"/>
            </a:stretch>
          </a:blipFill>
        </p:spPr>
      </p:sp>
      <p:sp>
        <p:nvSpPr>
          <p:cNvPr name="Freeform 14" id="14"/>
          <p:cNvSpPr/>
          <p:nvPr/>
        </p:nvSpPr>
        <p:spPr>
          <a:xfrm flipH="false" flipV="false" rot="-762086">
            <a:off x="318137" y="7949813"/>
            <a:ext cx="2795428" cy="2055014"/>
          </a:xfrm>
          <a:custGeom>
            <a:avLst/>
            <a:gdLst/>
            <a:ahLst/>
            <a:cxnLst/>
            <a:rect r="r" b="b" t="t" l="l"/>
            <a:pathLst>
              <a:path h="2055014" w="2795428">
                <a:moveTo>
                  <a:pt x="0" y="0"/>
                </a:moveTo>
                <a:lnTo>
                  <a:pt x="2795428" y="0"/>
                </a:lnTo>
                <a:lnTo>
                  <a:pt x="2795428" y="2055015"/>
                </a:lnTo>
                <a:lnTo>
                  <a:pt x="0" y="2055015"/>
                </a:lnTo>
                <a:lnTo>
                  <a:pt x="0" y="0"/>
                </a:lnTo>
                <a:close/>
              </a:path>
            </a:pathLst>
          </a:custGeom>
          <a:blipFill>
            <a:blip r:embed="rId8"/>
            <a:stretch>
              <a:fillRect l="0" t="0" r="-128630" b="-174462"/>
            </a:stretch>
          </a:blipFill>
        </p:spPr>
      </p:sp>
      <p:sp>
        <p:nvSpPr>
          <p:cNvPr name="Freeform 15" id="15"/>
          <p:cNvSpPr/>
          <p:nvPr/>
        </p:nvSpPr>
        <p:spPr>
          <a:xfrm flipH="false" flipV="false" rot="1324171">
            <a:off x="11341769" y="7047652"/>
            <a:ext cx="1928968" cy="2002503"/>
          </a:xfrm>
          <a:custGeom>
            <a:avLst/>
            <a:gdLst/>
            <a:ahLst/>
            <a:cxnLst/>
            <a:rect r="r" b="b" t="t" l="l"/>
            <a:pathLst>
              <a:path h="2002503" w="1928968">
                <a:moveTo>
                  <a:pt x="0" y="0"/>
                </a:moveTo>
                <a:lnTo>
                  <a:pt x="1928968" y="0"/>
                </a:lnTo>
                <a:lnTo>
                  <a:pt x="1928968" y="2002503"/>
                </a:lnTo>
                <a:lnTo>
                  <a:pt x="0" y="2002503"/>
                </a:lnTo>
                <a:lnTo>
                  <a:pt x="0" y="0"/>
                </a:lnTo>
                <a:close/>
              </a:path>
            </a:pathLst>
          </a:custGeom>
          <a:blipFill>
            <a:blip r:embed="rId9"/>
            <a:stretch>
              <a:fillRect l="-129139" t="-163456" r="-121549" b="-83461"/>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8642"/>
        </a:solidFill>
      </p:bgPr>
    </p:bg>
    <p:spTree>
      <p:nvGrpSpPr>
        <p:cNvPr id="1" name=""/>
        <p:cNvGrpSpPr/>
        <p:nvPr/>
      </p:nvGrpSpPr>
      <p:grpSpPr>
        <a:xfrm>
          <a:off x="0" y="0"/>
          <a:ext cx="0" cy="0"/>
          <a:chOff x="0" y="0"/>
          <a:chExt cx="0" cy="0"/>
        </a:xfrm>
      </p:grpSpPr>
      <p:sp>
        <p:nvSpPr>
          <p:cNvPr name="Freeform 2" id="2"/>
          <p:cNvSpPr/>
          <p:nvPr/>
        </p:nvSpPr>
        <p:spPr>
          <a:xfrm flipH="false" flipV="false" rot="0">
            <a:off x="-1330824" y="-4647774"/>
            <a:ext cx="20266098" cy="20266098"/>
          </a:xfrm>
          <a:custGeom>
            <a:avLst/>
            <a:gdLst/>
            <a:ahLst/>
            <a:cxnLst/>
            <a:rect r="r" b="b" t="t" l="l"/>
            <a:pathLst>
              <a:path h="20266098" w="20266098">
                <a:moveTo>
                  <a:pt x="0" y="0"/>
                </a:moveTo>
                <a:lnTo>
                  <a:pt x="20266098" y="0"/>
                </a:lnTo>
                <a:lnTo>
                  <a:pt x="20266098" y="20266098"/>
                </a:lnTo>
                <a:lnTo>
                  <a:pt x="0" y="20266098"/>
                </a:lnTo>
                <a:lnTo>
                  <a:pt x="0" y="0"/>
                </a:lnTo>
                <a:close/>
              </a:path>
            </a:pathLst>
          </a:custGeom>
          <a:blipFill>
            <a:blip r:embed="rId2">
              <a:alphaModFix amt="20999"/>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9144000" y="1983835"/>
            <a:ext cx="8457075" cy="6319330"/>
            <a:chOff x="0" y="0"/>
            <a:chExt cx="2227378" cy="1664350"/>
          </a:xfrm>
        </p:grpSpPr>
        <p:sp>
          <p:nvSpPr>
            <p:cNvPr name="Freeform 4" id="4"/>
            <p:cNvSpPr/>
            <p:nvPr/>
          </p:nvSpPr>
          <p:spPr>
            <a:xfrm flipH="false" flipV="false" rot="0">
              <a:off x="0" y="0"/>
              <a:ext cx="2227378" cy="1664350"/>
            </a:xfrm>
            <a:custGeom>
              <a:avLst/>
              <a:gdLst/>
              <a:ahLst/>
              <a:cxnLst/>
              <a:rect r="r" b="b" t="t" l="l"/>
              <a:pathLst>
                <a:path h="1664350" w="2227378">
                  <a:moveTo>
                    <a:pt x="46687" y="0"/>
                  </a:moveTo>
                  <a:lnTo>
                    <a:pt x="2180691" y="0"/>
                  </a:lnTo>
                  <a:cubicBezTo>
                    <a:pt x="2206475" y="0"/>
                    <a:pt x="2227378" y="20903"/>
                    <a:pt x="2227378" y="46687"/>
                  </a:cubicBezTo>
                  <a:lnTo>
                    <a:pt x="2227378" y="1617663"/>
                  </a:lnTo>
                  <a:cubicBezTo>
                    <a:pt x="2227378" y="1643448"/>
                    <a:pt x="2206475" y="1664350"/>
                    <a:pt x="2180691" y="1664350"/>
                  </a:cubicBezTo>
                  <a:lnTo>
                    <a:pt x="46687" y="1664350"/>
                  </a:lnTo>
                  <a:cubicBezTo>
                    <a:pt x="20903" y="1664350"/>
                    <a:pt x="0" y="1643448"/>
                    <a:pt x="0" y="1617663"/>
                  </a:cubicBezTo>
                  <a:lnTo>
                    <a:pt x="0" y="46687"/>
                  </a:lnTo>
                  <a:cubicBezTo>
                    <a:pt x="0" y="20903"/>
                    <a:pt x="20903" y="0"/>
                    <a:pt x="46687" y="0"/>
                  </a:cubicBezTo>
                  <a:close/>
                </a:path>
              </a:pathLst>
            </a:custGeom>
            <a:solidFill>
              <a:srgbClr val="FFFFFF"/>
            </a:solidFill>
            <a:ln w="66675" cap="rnd">
              <a:solidFill>
                <a:srgbClr val="5B1117"/>
              </a:solidFill>
              <a:prstDash val="solid"/>
              <a:round/>
            </a:ln>
          </p:spPr>
        </p:sp>
        <p:sp>
          <p:nvSpPr>
            <p:cNvPr name="TextBox 5" id="5"/>
            <p:cNvSpPr txBox="true"/>
            <p:nvPr/>
          </p:nvSpPr>
          <p:spPr>
            <a:xfrm>
              <a:off x="0" y="-57150"/>
              <a:ext cx="2227378" cy="172150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6790046" y="605067"/>
            <a:ext cx="4707909" cy="867198"/>
            <a:chOff x="0" y="0"/>
            <a:chExt cx="1239943" cy="228398"/>
          </a:xfrm>
        </p:grpSpPr>
        <p:sp>
          <p:nvSpPr>
            <p:cNvPr name="Freeform 7" id="7"/>
            <p:cNvSpPr/>
            <p:nvPr/>
          </p:nvSpPr>
          <p:spPr>
            <a:xfrm flipH="false" flipV="false" rot="0">
              <a:off x="0" y="0"/>
              <a:ext cx="1239943" cy="228398"/>
            </a:xfrm>
            <a:custGeom>
              <a:avLst/>
              <a:gdLst/>
              <a:ahLst/>
              <a:cxnLst/>
              <a:rect r="r" b="b" t="t" l="l"/>
              <a:pathLst>
                <a:path h="228398" w="1239943">
                  <a:moveTo>
                    <a:pt x="83867" y="0"/>
                  </a:moveTo>
                  <a:lnTo>
                    <a:pt x="1156076" y="0"/>
                  </a:lnTo>
                  <a:cubicBezTo>
                    <a:pt x="1178319" y="0"/>
                    <a:pt x="1199651" y="8836"/>
                    <a:pt x="1215379" y="24564"/>
                  </a:cubicBezTo>
                  <a:cubicBezTo>
                    <a:pt x="1231107" y="40292"/>
                    <a:pt x="1239943" y="61624"/>
                    <a:pt x="1239943" y="83867"/>
                  </a:cubicBezTo>
                  <a:lnTo>
                    <a:pt x="1239943" y="144531"/>
                  </a:lnTo>
                  <a:cubicBezTo>
                    <a:pt x="1239943" y="166774"/>
                    <a:pt x="1231107" y="188106"/>
                    <a:pt x="1215379" y="203834"/>
                  </a:cubicBezTo>
                  <a:cubicBezTo>
                    <a:pt x="1199651" y="219562"/>
                    <a:pt x="1178319" y="228398"/>
                    <a:pt x="1156076" y="228398"/>
                  </a:cubicBezTo>
                  <a:lnTo>
                    <a:pt x="83867" y="228398"/>
                  </a:lnTo>
                  <a:cubicBezTo>
                    <a:pt x="61624" y="228398"/>
                    <a:pt x="40292" y="219562"/>
                    <a:pt x="24564" y="203834"/>
                  </a:cubicBezTo>
                  <a:cubicBezTo>
                    <a:pt x="8836" y="188106"/>
                    <a:pt x="0" y="166774"/>
                    <a:pt x="0" y="144531"/>
                  </a:cubicBezTo>
                  <a:lnTo>
                    <a:pt x="0" y="83867"/>
                  </a:lnTo>
                  <a:cubicBezTo>
                    <a:pt x="0" y="61624"/>
                    <a:pt x="8836" y="40292"/>
                    <a:pt x="24564" y="24564"/>
                  </a:cubicBezTo>
                  <a:cubicBezTo>
                    <a:pt x="40292" y="8836"/>
                    <a:pt x="61624" y="0"/>
                    <a:pt x="83867" y="0"/>
                  </a:cubicBezTo>
                  <a:close/>
                </a:path>
              </a:pathLst>
            </a:custGeom>
            <a:solidFill>
              <a:srgbClr val="EE5648"/>
            </a:solidFill>
            <a:ln w="66675" cap="rnd">
              <a:solidFill>
                <a:srgbClr val="5B1117"/>
              </a:solidFill>
              <a:prstDash val="solid"/>
              <a:round/>
            </a:ln>
          </p:spPr>
        </p:sp>
        <p:sp>
          <p:nvSpPr>
            <p:cNvPr name="TextBox 8" id="8"/>
            <p:cNvSpPr txBox="true"/>
            <p:nvPr/>
          </p:nvSpPr>
          <p:spPr>
            <a:xfrm>
              <a:off x="0" y="-66675"/>
              <a:ext cx="1239943" cy="295073"/>
            </a:xfrm>
            <a:prstGeom prst="rect">
              <a:avLst/>
            </a:prstGeom>
          </p:spPr>
          <p:txBody>
            <a:bodyPr anchor="ctr" rtlCol="false" tIns="50800" lIns="50800" bIns="50800" rIns="50800"/>
            <a:lstStyle/>
            <a:p>
              <a:pPr algn="ctr">
                <a:lnSpc>
                  <a:spcPts val="4759"/>
                </a:lnSpc>
              </a:pPr>
              <a:r>
                <a:rPr lang="en-US" sz="3399">
                  <a:solidFill>
                    <a:srgbClr val="FFFFFF"/>
                  </a:solidFill>
                  <a:latin typeface="Ara Hamah Homs"/>
                  <a:ea typeface="Ara Hamah Homs"/>
                  <a:cs typeface="Ara Hamah Homs"/>
                  <a:sym typeface="Ara Hamah Homs"/>
                </a:rPr>
                <a:t>Studio Shodwe</a:t>
              </a:r>
            </a:p>
          </p:txBody>
        </p:sp>
      </p:grpSp>
      <p:sp>
        <p:nvSpPr>
          <p:cNvPr name="Freeform 9" id="9"/>
          <p:cNvSpPr/>
          <p:nvPr/>
        </p:nvSpPr>
        <p:spPr>
          <a:xfrm flipH="false" flipV="false" rot="0">
            <a:off x="16211673" y="5485275"/>
            <a:ext cx="2095254" cy="7726766"/>
          </a:xfrm>
          <a:custGeom>
            <a:avLst/>
            <a:gdLst/>
            <a:ahLst/>
            <a:cxnLst/>
            <a:rect r="r" b="b" t="t" l="l"/>
            <a:pathLst>
              <a:path h="7726766" w="2095254">
                <a:moveTo>
                  <a:pt x="0" y="0"/>
                </a:moveTo>
                <a:lnTo>
                  <a:pt x="2095254" y="0"/>
                </a:lnTo>
                <a:lnTo>
                  <a:pt x="2095254" y="7726766"/>
                </a:lnTo>
                <a:lnTo>
                  <a:pt x="0" y="7726766"/>
                </a:lnTo>
                <a:lnTo>
                  <a:pt x="0" y="0"/>
                </a:lnTo>
                <a:close/>
              </a:path>
            </a:pathLst>
          </a:custGeom>
          <a:blipFill>
            <a:blip r:embed="rId4"/>
            <a:stretch>
              <a:fillRect l="-347758" t="-45193" r="0" b="0"/>
            </a:stretch>
          </a:blipFill>
        </p:spPr>
      </p:sp>
      <p:sp>
        <p:nvSpPr>
          <p:cNvPr name="Freeform 10" id="10"/>
          <p:cNvSpPr/>
          <p:nvPr/>
        </p:nvSpPr>
        <p:spPr>
          <a:xfrm flipH="false" flipV="false" rot="0">
            <a:off x="469768" y="2262106"/>
            <a:ext cx="8674232" cy="8908068"/>
          </a:xfrm>
          <a:custGeom>
            <a:avLst/>
            <a:gdLst/>
            <a:ahLst/>
            <a:cxnLst/>
            <a:rect r="r" b="b" t="t" l="l"/>
            <a:pathLst>
              <a:path h="8908068" w="8674232">
                <a:moveTo>
                  <a:pt x="0" y="0"/>
                </a:moveTo>
                <a:lnTo>
                  <a:pt x="8674232" y="0"/>
                </a:lnTo>
                <a:lnTo>
                  <a:pt x="8674232" y="8908069"/>
                </a:lnTo>
                <a:lnTo>
                  <a:pt x="0" y="8908069"/>
                </a:lnTo>
                <a:lnTo>
                  <a:pt x="0" y="0"/>
                </a:lnTo>
                <a:close/>
              </a:path>
            </a:pathLst>
          </a:custGeom>
          <a:blipFill>
            <a:blip r:embed="rId5"/>
            <a:stretch>
              <a:fillRect l="0" t="0" r="0" b="0"/>
            </a:stretch>
          </a:blipFill>
        </p:spPr>
      </p:sp>
      <p:sp>
        <p:nvSpPr>
          <p:cNvPr name="TextBox 11" id="11"/>
          <p:cNvSpPr txBox="true"/>
          <p:nvPr/>
        </p:nvSpPr>
        <p:spPr>
          <a:xfrm rot="0">
            <a:off x="10043616" y="2412044"/>
            <a:ext cx="5544151" cy="797180"/>
          </a:xfrm>
          <a:prstGeom prst="rect">
            <a:avLst/>
          </a:prstGeom>
        </p:spPr>
        <p:txBody>
          <a:bodyPr anchor="t" rtlCol="false" tIns="0" lIns="0" bIns="0" rIns="0">
            <a:spAutoFit/>
          </a:bodyPr>
          <a:lstStyle/>
          <a:p>
            <a:pPr algn="l">
              <a:lnSpc>
                <a:spcPts val="5858"/>
              </a:lnSpc>
            </a:pPr>
            <a:r>
              <a:rPr lang="en-US" sz="5800">
                <a:solidFill>
                  <a:srgbClr val="EE5648"/>
                </a:solidFill>
                <a:latin typeface="Bobby Jones"/>
                <a:ea typeface="Bobby Jones"/>
                <a:cs typeface="Bobby Jones"/>
                <a:sym typeface="Bobby Jones"/>
              </a:rPr>
              <a:t>masala mazmuni</a:t>
            </a:r>
          </a:p>
        </p:txBody>
      </p:sp>
      <p:sp>
        <p:nvSpPr>
          <p:cNvPr name="TextBox 12" id="12"/>
          <p:cNvSpPr txBox="true"/>
          <p:nvPr/>
        </p:nvSpPr>
        <p:spPr>
          <a:xfrm rot="0">
            <a:off x="9668312" y="3247324"/>
            <a:ext cx="7192068" cy="4827778"/>
          </a:xfrm>
          <a:prstGeom prst="rect">
            <a:avLst/>
          </a:prstGeom>
        </p:spPr>
        <p:txBody>
          <a:bodyPr anchor="t" rtlCol="false" tIns="0" lIns="0" bIns="0" rIns="0">
            <a:spAutoFit/>
          </a:bodyPr>
          <a:lstStyle/>
          <a:p>
            <a:pPr algn="just">
              <a:lnSpc>
                <a:spcPts val="3102"/>
              </a:lnSpc>
            </a:pPr>
            <a:r>
              <a:rPr lang="en-US" sz="2899">
                <a:solidFill>
                  <a:srgbClr val="004FFF"/>
                </a:solidFill>
                <a:latin typeface="Ara Hamah Homs"/>
                <a:ea typeface="Ara Hamah Homs"/>
                <a:cs typeface="Ara Hamah Homs"/>
                <a:sym typeface="Ara Hamah Homs"/>
              </a:rPr>
              <a:t>Bizda sales jadvali bor va unda har bir mijozning xaridlari saqlangan. Maqsad — har bir mijoz qancha umumiy pul sarflaganini topish va faqat katta xarid qilgan mijozlarni ajratib olish.</a:t>
            </a:r>
          </a:p>
          <a:p>
            <a:pPr algn="just">
              <a:lnSpc>
                <a:spcPts val="2888"/>
              </a:lnSpc>
            </a:pPr>
            <a:r>
              <a:rPr lang="en-US" sz="2699">
                <a:solidFill>
                  <a:srgbClr val="004FFF"/>
                </a:solidFill>
                <a:latin typeface="Ara Hamah Homs"/>
                <a:ea typeface="Ara Hamah Homs"/>
                <a:cs typeface="Ara Hamah Homs"/>
                <a:sym typeface="Ara Hamah Homs"/>
              </a:rPr>
              <a:t>SQL so‘rovi ishlaganda avval FROM bosqichi bajariladi va sales jadvalidagi barcha ma’lumotlar olinadi. Keyin GROUP BY customer ishlaydi va barcha yozuvlar mijozlar bo‘yicha guruhlarga ajratiladi. Har bir mijoz uchun alohida guruh hosil bo‘ladi.</a:t>
            </a:r>
          </a:p>
          <a:p>
            <a:pPr algn="just">
              <a:lnSpc>
                <a:spcPts val="2888"/>
              </a:lnSpc>
            </a:pPr>
            <a:r>
              <a:rPr lang="en-US" sz="2699">
                <a:solidFill>
                  <a:srgbClr val="004FFF"/>
                </a:solidFill>
                <a:latin typeface="Ara Hamah Homs"/>
                <a:ea typeface="Ara Hamah Homs"/>
                <a:cs typeface="Ara Hamah Homs"/>
                <a:sym typeface="Ara Hamah Homs"/>
              </a:rPr>
              <a:t>Shundan so‘ng SUM(amount) orqali har bir mijozning umumiy xarid summasi hisoblanadi. Keyin HAVING SUM(amount) &gt; 500 ishlaydi va faqat 500 dan katta xarid qilgan mijozlar qoladi. Oxirida SELECT natijani chiqaradi.</a:t>
            </a:r>
          </a:p>
          <a:p>
            <a:pPr algn="just" marL="0" indent="0" lvl="0">
              <a:lnSpc>
                <a:spcPts val="2888"/>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8642"/>
        </a:solidFill>
      </p:bgPr>
    </p:bg>
    <p:spTree>
      <p:nvGrpSpPr>
        <p:cNvPr id="1" name=""/>
        <p:cNvGrpSpPr/>
        <p:nvPr/>
      </p:nvGrpSpPr>
      <p:grpSpPr>
        <a:xfrm>
          <a:off x="0" y="0"/>
          <a:ext cx="0" cy="0"/>
          <a:chOff x="0" y="0"/>
          <a:chExt cx="0" cy="0"/>
        </a:xfrm>
      </p:grpSpPr>
      <p:sp>
        <p:nvSpPr>
          <p:cNvPr name="Freeform 2" id="2"/>
          <p:cNvSpPr/>
          <p:nvPr/>
        </p:nvSpPr>
        <p:spPr>
          <a:xfrm flipH="false" flipV="false" rot="0">
            <a:off x="-1330824" y="-4647774"/>
            <a:ext cx="20266098" cy="20266098"/>
          </a:xfrm>
          <a:custGeom>
            <a:avLst/>
            <a:gdLst/>
            <a:ahLst/>
            <a:cxnLst/>
            <a:rect r="r" b="b" t="t" l="l"/>
            <a:pathLst>
              <a:path h="20266098" w="20266098">
                <a:moveTo>
                  <a:pt x="0" y="0"/>
                </a:moveTo>
                <a:lnTo>
                  <a:pt x="20266098" y="0"/>
                </a:lnTo>
                <a:lnTo>
                  <a:pt x="20266098" y="20266098"/>
                </a:lnTo>
                <a:lnTo>
                  <a:pt x="0" y="20266098"/>
                </a:lnTo>
                <a:lnTo>
                  <a:pt x="0" y="0"/>
                </a:lnTo>
                <a:close/>
              </a:path>
            </a:pathLst>
          </a:custGeom>
          <a:blipFill>
            <a:blip r:embed="rId2">
              <a:alphaModFix amt="20999"/>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498439" y="1923016"/>
            <a:ext cx="15760861" cy="5583957"/>
            <a:chOff x="0" y="0"/>
            <a:chExt cx="4151009" cy="1470672"/>
          </a:xfrm>
        </p:grpSpPr>
        <p:sp>
          <p:nvSpPr>
            <p:cNvPr name="Freeform 4" id="4"/>
            <p:cNvSpPr/>
            <p:nvPr/>
          </p:nvSpPr>
          <p:spPr>
            <a:xfrm flipH="false" flipV="false" rot="0">
              <a:off x="0" y="0"/>
              <a:ext cx="4151009" cy="1470672"/>
            </a:xfrm>
            <a:custGeom>
              <a:avLst/>
              <a:gdLst/>
              <a:ahLst/>
              <a:cxnLst/>
              <a:rect r="r" b="b" t="t" l="l"/>
              <a:pathLst>
                <a:path h="1470672" w="4151009">
                  <a:moveTo>
                    <a:pt x="25052" y="0"/>
                  </a:moveTo>
                  <a:lnTo>
                    <a:pt x="4125957" y="0"/>
                  </a:lnTo>
                  <a:cubicBezTo>
                    <a:pt x="4139793" y="0"/>
                    <a:pt x="4151009" y="11216"/>
                    <a:pt x="4151009" y="25052"/>
                  </a:cubicBezTo>
                  <a:lnTo>
                    <a:pt x="4151009" y="1445620"/>
                  </a:lnTo>
                  <a:cubicBezTo>
                    <a:pt x="4151009" y="1459456"/>
                    <a:pt x="4139793" y="1470672"/>
                    <a:pt x="4125957" y="1470672"/>
                  </a:cubicBezTo>
                  <a:lnTo>
                    <a:pt x="25052" y="1470672"/>
                  </a:lnTo>
                  <a:cubicBezTo>
                    <a:pt x="11216" y="1470672"/>
                    <a:pt x="0" y="1459456"/>
                    <a:pt x="0" y="1445620"/>
                  </a:cubicBezTo>
                  <a:lnTo>
                    <a:pt x="0" y="25052"/>
                  </a:lnTo>
                  <a:cubicBezTo>
                    <a:pt x="0" y="11216"/>
                    <a:pt x="11216" y="0"/>
                    <a:pt x="25052" y="0"/>
                  </a:cubicBezTo>
                  <a:close/>
                </a:path>
              </a:pathLst>
            </a:custGeom>
            <a:solidFill>
              <a:srgbClr val="FFFFFF"/>
            </a:solidFill>
            <a:ln w="66675" cap="rnd">
              <a:solidFill>
                <a:srgbClr val="5B1117"/>
              </a:solidFill>
              <a:prstDash val="solid"/>
              <a:round/>
            </a:ln>
          </p:spPr>
        </p:sp>
        <p:sp>
          <p:nvSpPr>
            <p:cNvPr name="TextBox 5" id="5"/>
            <p:cNvSpPr txBox="true"/>
            <p:nvPr/>
          </p:nvSpPr>
          <p:spPr>
            <a:xfrm>
              <a:off x="0" y="-57150"/>
              <a:ext cx="4151009" cy="152782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6790046" y="605067"/>
            <a:ext cx="4707909" cy="867198"/>
            <a:chOff x="0" y="0"/>
            <a:chExt cx="1239943" cy="228398"/>
          </a:xfrm>
        </p:grpSpPr>
        <p:sp>
          <p:nvSpPr>
            <p:cNvPr name="Freeform 7" id="7"/>
            <p:cNvSpPr/>
            <p:nvPr/>
          </p:nvSpPr>
          <p:spPr>
            <a:xfrm flipH="false" flipV="false" rot="0">
              <a:off x="0" y="0"/>
              <a:ext cx="1239943" cy="228398"/>
            </a:xfrm>
            <a:custGeom>
              <a:avLst/>
              <a:gdLst/>
              <a:ahLst/>
              <a:cxnLst/>
              <a:rect r="r" b="b" t="t" l="l"/>
              <a:pathLst>
                <a:path h="228398" w="1239943">
                  <a:moveTo>
                    <a:pt x="83867" y="0"/>
                  </a:moveTo>
                  <a:lnTo>
                    <a:pt x="1156076" y="0"/>
                  </a:lnTo>
                  <a:cubicBezTo>
                    <a:pt x="1178319" y="0"/>
                    <a:pt x="1199651" y="8836"/>
                    <a:pt x="1215379" y="24564"/>
                  </a:cubicBezTo>
                  <a:cubicBezTo>
                    <a:pt x="1231107" y="40292"/>
                    <a:pt x="1239943" y="61624"/>
                    <a:pt x="1239943" y="83867"/>
                  </a:cubicBezTo>
                  <a:lnTo>
                    <a:pt x="1239943" y="144531"/>
                  </a:lnTo>
                  <a:cubicBezTo>
                    <a:pt x="1239943" y="166774"/>
                    <a:pt x="1231107" y="188106"/>
                    <a:pt x="1215379" y="203834"/>
                  </a:cubicBezTo>
                  <a:cubicBezTo>
                    <a:pt x="1199651" y="219562"/>
                    <a:pt x="1178319" y="228398"/>
                    <a:pt x="1156076" y="228398"/>
                  </a:cubicBezTo>
                  <a:lnTo>
                    <a:pt x="83867" y="228398"/>
                  </a:lnTo>
                  <a:cubicBezTo>
                    <a:pt x="61624" y="228398"/>
                    <a:pt x="40292" y="219562"/>
                    <a:pt x="24564" y="203834"/>
                  </a:cubicBezTo>
                  <a:cubicBezTo>
                    <a:pt x="8836" y="188106"/>
                    <a:pt x="0" y="166774"/>
                    <a:pt x="0" y="144531"/>
                  </a:cubicBezTo>
                  <a:lnTo>
                    <a:pt x="0" y="83867"/>
                  </a:lnTo>
                  <a:cubicBezTo>
                    <a:pt x="0" y="61624"/>
                    <a:pt x="8836" y="40292"/>
                    <a:pt x="24564" y="24564"/>
                  </a:cubicBezTo>
                  <a:cubicBezTo>
                    <a:pt x="40292" y="8836"/>
                    <a:pt x="61624" y="0"/>
                    <a:pt x="83867" y="0"/>
                  </a:cubicBezTo>
                  <a:close/>
                </a:path>
              </a:pathLst>
            </a:custGeom>
            <a:solidFill>
              <a:srgbClr val="EE5648"/>
            </a:solidFill>
            <a:ln w="66675" cap="rnd">
              <a:solidFill>
                <a:srgbClr val="5B1117"/>
              </a:solidFill>
              <a:prstDash val="solid"/>
              <a:round/>
            </a:ln>
          </p:spPr>
        </p:sp>
        <p:sp>
          <p:nvSpPr>
            <p:cNvPr name="TextBox 8" id="8"/>
            <p:cNvSpPr txBox="true"/>
            <p:nvPr/>
          </p:nvSpPr>
          <p:spPr>
            <a:xfrm>
              <a:off x="0" y="-66675"/>
              <a:ext cx="1239943" cy="295073"/>
            </a:xfrm>
            <a:prstGeom prst="rect">
              <a:avLst/>
            </a:prstGeom>
          </p:spPr>
          <p:txBody>
            <a:bodyPr anchor="ctr" rtlCol="false" tIns="50800" lIns="50800" bIns="50800" rIns="50800"/>
            <a:lstStyle/>
            <a:p>
              <a:pPr algn="ctr">
                <a:lnSpc>
                  <a:spcPts val="4759"/>
                </a:lnSpc>
              </a:pPr>
              <a:r>
                <a:rPr lang="en-US" sz="3399">
                  <a:solidFill>
                    <a:srgbClr val="FFFFFF"/>
                  </a:solidFill>
                  <a:latin typeface="Ara Hamah Homs"/>
                  <a:ea typeface="Ara Hamah Homs"/>
                  <a:cs typeface="Ara Hamah Homs"/>
                  <a:sym typeface="Ara Hamah Homs"/>
                </a:rPr>
                <a:t>Studio Shodwe</a:t>
              </a:r>
            </a:p>
          </p:txBody>
        </p:sp>
      </p:grpSp>
      <p:sp>
        <p:nvSpPr>
          <p:cNvPr name="Freeform 9" id="9"/>
          <p:cNvSpPr/>
          <p:nvPr/>
        </p:nvSpPr>
        <p:spPr>
          <a:xfrm flipH="false" flipV="false" rot="0">
            <a:off x="3693684" y="5143500"/>
            <a:ext cx="10900631" cy="11252264"/>
          </a:xfrm>
          <a:custGeom>
            <a:avLst/>
            <a:gdLst/>
            <a:ahLst/>
            <a:cxnLst/>
            <a:rect r="r" b="b" t="t" l="l"/>
            <a:pathLst>
              <a:path h="11252264" w="10900631">
                <a:moveTo>
                  <a:pt x="0" y="0"/>
                </a:moveTo>
                <a:lnTo>
                  <a:pt x="10900632" y="0"/>
                </a:lnTo>
                <a:lnTo>
                  <a:pt x="10900632" y="11252264"/>
                </a:lnTo>
                <a:lnTo>
                  <a:pt x="0" y="11252264"/>
                </a:lnTo>
                <a:lnTo>
                  <a:pt x="0" y="0"/>
                </a:lnTo>
                <a:close/>
              </a:path>
            </a:pathLst>
          </a:custGeom>
          <a:blipFill>
            <a:blip r:embed="rId4"/>
            <a:stretch>
              <a:fillRect l="0" t="0" r="0" b="0"/>
            </a:stretch>
          </a:blipFill>
        </p:spPr>
      </p:sp>
      <p:sp>
        <p:nvSpPr>
          <p:cNvPr name="Freeform 10" id="10"/>
          <p:cNvSpPr/>
          <p:nvPr/>
        </p:nvSpPr>
        <p:spPr>
          <a:xfrm flipH="false" flipV="false" rot="0">
            <a:off x="15669927" y="6314712"/>
            <a:ext cx="7366117" cy="6914943"/>
          </a:xfrm>
          <a:custGeom>
            <a:avLst/>
            <a:gdLst/>
            <a:ahLst/>
            <a:cxnLst/>
            <a:rect r="r" b="b" t="t" l="l"/>
            <a:pathLst>
              <a:path h="6914943" w="7366117">
                <a:moveTo>
                  <a:pt x="0" y="0"/>
                </a:moveTo>
                <a:lnTo>
                  <a:pt x="7366117" y="0"/>
                </a:lnTo>
                <a:lnTo>
                  <a:pt x="7366117" y="6914942"/>
                </a:lnTo>
                <a:lnTo>
                  <a:pt x="0" y="6914942"/>
                </a:lnTo>
                <a:lnTo>
                  <a:pt x="0" y="0"/>
                </a:lnTo>
                <a:close/>
              </a:path>
            </a:pathLst>
          </a:custGeom>
          <a:blipFill>
            <a:blip r:embed="rId5"/>
            <a:stretch>
              <a:fillRect l="0" t="0" r="0" b="0"/>
            </a:stretch>
          </a:blipFill>
        </p:spPr>
      </p:sp>
      <p:sp>
        <p:nvSpPr>
          <p:cNvPr name="Freeform 11" id="11"/>
          <p:cNvSpPr/>
          <p:nvPr/>
        </p:nvSpPr>
        <p:spPr>
          <a:xfrm flipH="false" flipV="false" rot="0">
            <a:off x="-1330824" y="6694083"/>
            <a:ext cx="4618186" cy="4075549"/>
          </a:xfrm>
          <a:custGeom>
            <a:avLst/>
            <a:gdLst/>
            <a:ahLst/>
            <a:cxnLst/>
            <a:rect r="r" b="b" t="t" l="l"/>
            <a:pathLst>
              <a:path h="4075549" w="4618186">
                <a:moveTo>
                  <a:pt x="0" y="0"/>
                </a:moveTo>
                <a:lnTo>
                  <a:pt x="4618186" y="0"/>
                </a:lnTo>
                <a:lnTo>
                  <a:pt x="4618186" y="4075549"/>
                </a:lnTo>
                <a:lnTo>
                  <a:pt x="0" y="4075549"/>
                </a:lnTo>
                <a:lnTo>
                  <a:pt x="0" y="0"/>
                </a:lnTo>
                <a:close/>
              </a:path>
            </a:pathLst>
          </a:custGeom>
          <a:blipFill>
            <a:blip r:embed="rId6"/>
            <a:stretch>
              <a:fillRect l="0" t="0" r="0" b="0"/>
            </a:stretch>
          </a:blipFill>
        </p:spPr>
      </p:sp>
      <p:sp>
        <p:nvSpPr>
          <p:cNvPr name="Freeform 12" id="12"/>
          <p:cNvSpPr/>
          <p:nvPr/>
        </p:nvSpPr>
        <p:spPr>
          <a:xfrm flipH="false" flipV="false" rot="1086025">
            <a:off x="14964576" y="5337636"/>
            <a:ext cx="1410701" cy="1010575"/>
          </a:xfrm>
          <a:custGeom>
            <a:avLst/>
            <a:gdLst/>
            <a:ahLst/>
            <a:cxnLst/>
            <a:rect r="r" b="b" t="t" l="l"/>
            <a:pathLst>
              <a:path h="1010575" w="1410701">
                <a:moveTo>
                  <a:pt x="0" y="0"/>
                </a:moveTo>
                <a:lnTo>
                  <a:pt x="1410702" y="0"/>
                </a:lnTo>
                <a:lnTo>
                  <a:pt x="1410702" y="1010575"/>
                </a:lnTo>
                <a:lnTo>
                  <a:pt x="0" y="101057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13" id="13"/>
          <p:cNvSpPr/>
          <p:nvPr/>
        </p:nvSpPr>
        <p:spPr>
          <a:xfrm flipH="false" flipV="false" rot="-1637983">
            <a:off x="2979844" y="5719519"/>
            <a:ext cx="1337384" cy="1300910"/>
          </a:xfrm>
          <a:custGeom>
            <a:avLst/>
            <a:gdLst/>
            <a:ahLst/>
            <a:cxnLst/>
            <a:rect r="r" b="b" t="t" l="l"/>
            <a:pathLst>
              <a:path h="1300910" w="1337384">
                <a:moveTo>
                  <a:pt x="0" y="0"/>
                </a:moveTo>
                <a:lnTo>
                  <a:pt x="1337384" y="0"/>
                </a:lnTo>
                <a:lnTo>
                  <a:pt x="1337384" y="1300910"/>
                </a:lnTo>
                <a:lnTo>
                  <a:pt x="0" y="130091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TextBox 14" id="14"/>
          <p:cNvSpPr txBox="true"/>
          <p:nvPr/>
        </p:nvSpPr>
        <p:spPr>
          <a:xfrm rot="0">
            <a:off x="2442443" y="2352731"/>
            <a:ext cx="5420133" cy="1845310"/>
          </a:xfrm>
          <a:prstGeom prst="rect">
            <a:avLst/>
          </a:prstGeom>
        </p:spPr>
        <p:txBody>
          <a:bodyPr anchor="t" rtlCol="false" tIns="0" lIns="0" bIns="0" rIns="0">
            <a:spAutoFit/>
          </a:bodyPr>
          <a:lstStyle/>
          <a:p>
            <a:pPr algn="l">
              <a:lnSpc>
                <a:spcPts val="7069"/>
              </a:lnSpc>
            </a:pPr>
            <a:r>
              <a:rPr lang="en-US" sz="6999">
                <a:solidFill>
                  <a:srgbClr val="EE5648"/>
                </a:solidFill>
                <a:latin typeface="Bobby Jones"/>
                <a:ea typeface="Bobby Jones"/>
                <a:cs typeface="Bobby Jones"/>
                <a:sym typeface="Bobby Jones"/>
              </a:rPr>
              <a:t>o’sishdan to’xtamang</a:t>
            </a:r>
          </a:p>
        </p:txBody>
      </p:sp>
      <p:sp>
        <p:nvSpPr>
          <p:cNvPr name="TextBox 15" id="15"/>
          <p:cNvSpPr txBox="true"/>
          <p:nvPr/>
        </p:nvSpPr>
        <p:spPr>
          <a:xfrm rot="0">
            <a:off x="6790046" y="4928870"/>
            <a:ext cx="7352192" cy="476885"/>
          </a:xfrm>
          <a:prstGeom prst="rect">
            <a:avLst/>
          </a:prstGeom>
        </p:spPr>
        <p:txBody>
          <a:bodyPr anchor="t" rtlCol="false" tIns="0" lIns="0" bIns="0" rIns="0">
            <a:spAutoFit/>
          </a:bodyPr>
          <a:lstStyle/>
          <a:p>
            <a:pPr algn="l" marL="0" indent="0" lvl="0">
              <a:lnSpc>
                <a:spcPts val="3744"/>
              </a:lnSpc>
            </a:pPr>
            <a:r>
              <a:rPr lang="en-US" sz="3499">
                <a:solidFill>
                  <a:srgbClr val="004FFF"/>
                </a:solidFill>
                <a:latin typeface="Ara Hamah Homs"/>
                <a:ea typeface="Ara Hamah Homs"/>
                <a:cs typeface="Ara Hamah Homs"/>
                <a:sym typeface="Ara Hamah Homs"/>
              </a:rPr>
              <a:t>HAMROALI SAFAROV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DAHHfJ3Odt8</dc:identifier>
  <dcterms:modified xsi:type="dcterms:W3CDTF">2011-08-01T06:04:30Z</dcterms:modified>
  <cp:revision>1</cp:revision>
  <dc:title>Red and Orange Illustration Data Analyst Presentation</dc:title>
</cp:coreProperties>
</file>