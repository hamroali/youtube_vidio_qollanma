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TT Hoves Bold" charset="1" panose="02000003020000060003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00" y="789280"/>
            <a:ext cx="8534270" cy="8708439"/>
          </a:xfrm>
          <a:custGeom>
            <a:avLst/>
            <a:gdLst/>
            <a:ahLst/>
            <a:cxnLst/>
            <a:rect r="r" b="b" t="t" l="l"/>
            <a:pathLst>
              <a:path h="8708439" w="8534270">
                <a:moveTo>
                  <a:pt x="0" y="0"/>
                </a:moveTo>
                <a:lnTo>
                  <a:pt x="8534270" y="0"/>
                </a:lnTo>
                <a:lnTo>
                  <a:pt x="8534270" y="8708440"/>
                </a:lnTo>
                <a:lnTo>
                  <a:pt x="0" y="8708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80112" y="844542"/>
            <a:ext cx="3254725" cy="2688172"/>
            <a:chOff x="0" y="0"/>
            <a:chExt cx="857212" cy="7079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7212" cy="707996"/>
            </a:xfrm>
            <a:custGeom>
              <a:avLst/>
              <a:gdLst/>
              <a:ahLst/>
              <a:cxnLst/>
              <a:rect r="r" b="b" t="t" l="l"/>
              <a:pathLst>
                <a:path h="707996" w="857212">
                  <a:moveTo>
                    <a:pt x="59467" y="0"/>
                  </a:moveTo>
                  <a:lnTo>
                    <a:pt x="797745" y="0"/>
                  </a:lnTo>
                  <a:cubicBezTo>
                    <a:pt x="813516" y="0"/>
                    <a:pt x="828642" y="6265"/>
                    <a:pt x="839794" y="17417"/>
                  </a:cubicBezTo>
                  <a:cubicBezTo>
                    <a:pt x="850946" y="28570"/>
                    <a:pt x="857212" y="43695"/>
                    <a:pt x="857212" y="59467"/>
                  </a:cubicBezTo>
                  <a:lnTo>
                    <a:pt x="857212" y="648529"/>
                  </a:lnTo>
                  <a:cubicBezTo>
                    <a:pt x="857212" y="664301"/>
                    <a:pt x="850946" y="679426"/>
                    <a:pt x="839794" y="690579"/>
                  </a:cubicBezTo>
                  <a:cubicBezTo>
                    <a:pt x="828642" y="701731"/>
                    <a:pt x="813516" y="707996"/>
                    <a:pt x="797745" y="707996"/>
                  </a:cubicBezTo>
                  <a:lnTo>
                    <a:pt x="59467" y="707996"/>
                  </a:lnTo>
                  <a:cubicBezTo>
                    <a:pt x="43695" y="707996"/>
                    <a:pt x="28570" y="701731"/>
                    <a:pt x="17417" y="690579"/>
                  </a:cubicBezTo>
                  <a:cubicBezTo>
                    <a:pt x="6265" y="679426"/>
                    <a:pt x="0" y="664301"/>
                    <a:pt x="0" y="648529"/>
                  </a:cubicBezTo>
                  <a:lnTo>
                    <a:pt x="0" y="59467"/>
                  </a:lnTo>
                  <a:cubicBezTo>
                    <a:pt x="0" y="43695"/>
                    <a:pt x="6265" y="28570"/>
                    <a:pt x="17417" y="17417"/>
                  </a:cubicBezTo>
                  <a:cubicBezTo>
                    <a:pt x="28570" y="6265"/>
                    <a:pt x="43695" y="0"/>
                    <a:pt x="594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857212" cy="72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980112" y="3799414"/>
            <a:ext cx="3254725" cy="2688172"/>
            <a:chOff x="0" y="0"/>
            <a:chExt cx="857212" cy="7079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7212" cy="707996"/>
            </a:xfrm>
            <a:custGeom>
              <a:avLst/>
              <a:gdLst/>
              <a:ahLst/>
              <a:cxnLst/>
              <a:rect r="r" b="b" t="t" l="l"/>
              <a:pathLst>
                <a:path h="707996" w="857212">
                  <a:moveTo>
                    <a:pt x="59467" y="0"/>
                  </a:moveTo>
                  <a:lnTo>
                    <a:pt x="797745" y="0"/>
                  </a:lnTo>
                  <a:cubicBezTo>
                    <a:pt x="813516" y="0"/>
                    <a:pt x="828642" y="6265"/>
                    <a:pt x="839794" y="17417"/>
                  </a:cubicBezTo>
                  <a:cubicBezTo>
                    <a:pt x="850946" y="28570"/>
                    <a:pt x="857212" y="43695"/>
                    <a:pt x="857212" y="59467"/>
                  </a:cubicBezTo>
                  <a:lnTo>
                    <a:pt x="857212" y="648529"/>
                  </a:lnTo>
                  <a:cubicBezTo>
                    <a:pt x="857212" y="664301"/>
                    <a:pt x="850946" y="679426"/>
                    <a:pt x="839794" y="690579"/>
                  </a:cubicBezTo>
                  <a:cubicBezTo>
                    <a:pt x="828642" y="701731"/>
                    <a:pt x="813516" y="707996"/>
                    <a:pt x="797745" y="707996"/>
                  </a:cubicBezTo>
                  <a:lnTo>
                    <a:pt x="59467" y="707996"/>
                  </a:lnTo>
                  <a:cubicBezTo>
                    <a:pt x="43695" y="707996"/>
                    <a:pt x="28570" y="701731"/>
                    <a:pt x="17417" y="690579"/>
                  </a:cubicBezTo>
                  <a:cubicBezTo>
                    <a:pt x="6265" y="679426"/>
                    <a:pt x="0" y="664301"/>
                    <a:pt x="0" y="648529"/>
                  </a:cubicBezTo>
                  <a:lnTo>
                    <a:pt x="0" y="59467"/>
                  </a:lnTo>
                  <a:cubicBezTo>
                    <a:pt x="0" y="43695"/>
                    <a:pt x="6265" y="28570"/>
                    <a:pt x="17417" y="17417"/>
                  </a:cubicBezTo>
                  <a:cubicBezTo>
                    <a:pt x="28570" y="6265"/>
                    <a:pt x="43695" y="0"/>
                    <a:pt x="594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857212" cy="72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856760" y="980573"/>
            <a:ext cx="2402157" cy="925922"/>
          </a:xfrm>
          <a:custGeom>
            <a:avLst/>
            <a:gdLst/>
            <a:ahLst/>
            <a:cxnLst/>
            <a:rect r="r" b="b" t="t" l="l"/>
            <a:pathLst>
              <a:path h="925922" w="2402157">
                <a:moveTo>
                  <a:pt x="0" y="0"/>
                </a:moveTo>
                <a:lnTo>
                  <a:pt x="2402157" y="0"/>
                </a:lnTo>
                <a:lnTo>
                  <a:pt x="2402157" y="925922"/>
                </a:lnTo>
                <a:lnTo>
                  <a:pt x="0" y="925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856760" y="3935445"/>
            <a:ext cx="2402157" cy="925922"/>
          </a:xfrm>
          <a:custGeom>
            <a:avLst/>
            <a:gdLst/>
            <a:ahLst/>
            <a:cxnLst/>
            <a:rect r="r" b="b" t="t" l="l"/>
            <a:pathLst>
              <a:path h="925922" w="2402157">
                <a:moveTo>
                  <a:pt x="0" y="0"/>
                </a:moveTo>
                <a:lnTo>
                  <a:pt x="2402157" y="0"/>
                </a:lnTo>
                <a:lnTo>
                  <a:pt x="2402157" y="925922"/>
                </a:lnTo>
                <a:lnTo>
                  <a:pt x="0" y="925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980112" y="6754286"/>
            <a:ext cx="3254725" cy="2688172"/>
            <a:chOff x="0" y="0"/>
            <a:chExt cx="857212" cy="7079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7212" cy="707996"/>
            </a:xfrm>
            <a:custGeom>
              <a:avLst/>
              <a:gdLst/>
              <a:ahLst/>
              <a:cxnLst/>
              <a:rect r="r" b="b" t="t" l="l"/>
              <a:pathLst>
                <a:path h="707996" w="857212">
                  <a:moveTo>
                    <a:pt x="59467" y="0"/>
                  </a:moveTo>
                  <a:lnTo>
                    <a:pt x="797745" y="0"/>
                  </a:lnTo>
                  <a:cubicBezTo>
                    <a:pt x="813516" y="0"/>
                    <a:pt x="828642" y="6265"/>
                    <a:pt x="839794" y="17417"/>
                  </a:cubicBezTo>
                  <a:cubicBezTo>
                    <a:pt x="850946" y="28570"/>
                    <a:pt x="857212" y="43695"/>
                    <a:pt x="857212" y="59467"/>
                  </a:cubicBezTo>
                  <a:lnTo>
                    <a:pt x="857212" y="648529"/>
                  </a:lnTo>
                  <a:cubicBezTo>
                    <a:pt x="857212" y="664301"/>
                    <a:pt x="850946" y="679426"/>
                    <a:pt x="839794" y="690579"/>
                  </a:cubicBezTo>
                  <a:cubicBezTo>
                    <a:pt x="828642" y="701731"/>
                    <a:pt x="813516" y="707996"/>
                    <a:pt x="797745" y="707996"/>
                  </a:cubicBezTo>
                  <a:lnTo>
                    <a:pt x="59467" y="707996"/>
                  </a:lnTo>
                  <a:cubicBezTo>
                    <a:pt x="43695" y="707996"/>
                    <a:pt x="28570" y="701731"/>
                    <a:pt x="17417" y="690579"/>
                  </a:cubicBezTo>
                  <a:cubicBezTo>
                    <a:pt x="6265" y="679426"/>
                    <a:pt x="0" y="664301"/>
                    <a:pt x="0" y="648529"/>
                  </a:cubicBezTo>
                  <a:lnTo>
                    <a:pt x="0" y="59467"/>
                  </a:lnTo>
                  <a:cubicBezTo>
                    <a:pt x="0" y="43695"/>
                    <a:pt x="6265" y="28570"/>
                    <a:pt x="17417" y="17417"/>
                  </a:cubicBezTo>
                  <a:cubicBezTo>
                    <a:pt x="28570" y="6265"/>
                    <a:pt x="43695" y="0"/>
                    <a:pt x="594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857212" cy="72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856760" y="6890317"/>
            <a:ext cx="2402157" cy="925922"/>
          </a:xfrm>
          <a:custGeom>
            <a:avLst/>
            <a:gdLst/>
            <a:ahLst/>
            <a:cxnLst/>
            <a:rect r="r" b="b" t="t" l="l"/>
            <a:pathLst>
              <a:path h="925922" w="2402157">
                <a:moveTo>
                  <a:pt x="0" y="0"/>
                </a:moveTo>
                <a:lnTo>
                  <a:pt x="2402157" y="0"/>
                </a:lnTo>
                <a:lnTo>
                  <a:pt x="2402157" y="925922"/>
                </a:lnTo>
                <a:lnTo>
                  <a:pt x="0" y="9259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3729664" y="2321978"/>
            <a:ext cx="3254725" cy="2688172"/>
            <a:chOff x="0" y="0"/>
            <a:chExt cx="857212" cy="7079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7212" cy="707996"/>
            </a:xfrm>
            <a:custGeom>
              <a:avLst/>
              <a:gdLst/>
              <a:ahLst/>
              <a:cxnLst/>
              <a:rect r="r" b="b" t="t" l="l"/>
              <a:pathLst>
                <a:path h="707996" w="857212">
                  <a:moveTo>
                    <a:pt x="59467" y="0"/>
                  </a:moveTo>
                  <a:lnTo>
                    <a:pt x="797745" y="0"/>
                  </a:lnTo>
                  <a:cubicBezTo>
                    <a:pt x="813516" y="0"/>
                    <a:pt x="828642" y="6265"/>
                    <a:pt x="839794" y="17417"/>
                  </a:cubicBezTo>
                  <a:cubicBezTo>
                    <a:pt x="850946" y="28570"/>
                    <a:pt x="857212" y="43695"/>
                    <a:pt x="857212" y="59467"/>
                  </a:cubicBezTo>
                  <a:lnTo>
                    <a:pt x="857212" y="648529"/>
                  </a:lnTo>
                  <a:cubicBezTo>
                    <a:pt x="857212" y="664301"/>
                    <a:pt x="850946" y="679426"/>
                    <a:pt x="839794" y="690579"/>
                  </a:cubicBezTo>
                  <a:cubicBezTo>
                    <a:pt x="828642" y="701731"/>
                    <a:pt x="813516" y="707996"/>
                    <a:pt x="797745" y="707996"/>
                  </a:cubicBezTo>
                  <a:lnTo>
                    <a:pt x="59467" y="707996"/>
                  </a:lnTo>
                  <a:cubicBezTo>
                    <a:pt x="43695" y="707996"/>
                    <a:pt x="28570" y="701731"/>
                    <a:pt x="17417" y="690579"/>
                  </a:cubicBezTo>
                  <a:cubicBezTo>
                    <a:pt x="6265" y="679426"/>
                    <a:pt x="0" y="664301"/>
                    <a:pt x="0" y="648529"/>
                  </a:cubicBezTo>
                  <a:lnTo>
                    <a:pt x="0" y="59467"/>
                  </a:lnTo>
                  <a:cubicBezTo>
                    <a:pt x="0" y="43695"/>
                    <a:pt x="6265" y="28570"/>
                    <a:pt x="17417" y="17417"/>
                  </a:cubicBezTo>
                  <a:cubicBezTo>
                    <a:pt x="28570" y="6265"/>
                    <a:pt x="43695" y="0"/>
                    <a:pt x="594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57212" cy="72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606312" y="2458009"/>
            <a:ext cx="2402157" cy="925922"/>
          </a:xfrm>
          <a:custGeom>
            <a:avLst/>
            <a:gdLst/>
            <a:ahLst/>
            <a:cxnLst/>
            <a:rect r="r" b="b" t="t" l="l"/>
            <a:pathLst>
              <a:path h="925922" w="2402157">
                <a:moveTo>
                  <a:pt x="0" y="0"/>
                </a:moveTo>
                <a:lnTo>
                  <a:pt x="2402157" y="0"/>
                </a:lnTo>
                <a:lnTo>
                  <a:pt x="2402157" y="925922"/>
                </a:lnTo>
                <a:lnTo>
                  <a:pt x="0" y="9259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3729664" y="5276850"/>
            <a:ext cx="3254725" cy="2688172"/>
            <a:chOff x="0" y="0"/>
            <a:chExt cx="857212" cy="7079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7212" cy="707996"/>
            </a:xfrm>
            <a:custGeom>
              <a:avLst/>
              <a:gdLst/>
              <a:ahLst/>
              <a:cxnLst/>
              <a:rect r="r" b="b" t="t" l="l"/>
              <a:pathLst>
                <a:path h="707996" w="857212">
                  <a:moveTo>
                    <a:pt x="59467" y="0"/>
                  </a:moveTo>
                  <a:lnTo>
                    <a:pt x="797745" y="0"/>
                  </a:lnTo>
                  <a:cubicBezTo>
                    <a:pt x="813516" y="0"/>
                    <a:pt x="828642" y="6265"/>
                    <a:pt x="839794" y="17417"/>
                  </a:cubicBezTo>
                  <a:cubicBezTo>
                    <a:pt x="850946" y="28570"/>
                    <a:pt x="857212" y="43695"/>
                    <a:pt x="857212" y="59467"/>
                  </a:cubicBezTo>
                  <a:lnTo>
                    <a:pt x="857212" y="648529"/>
                  </a:lnTo>
                  <a:cubicBezTo>
                    <a:pt x="857212" y="664301"/>
                    <a:pt x="850946" y="679426"/>
                    <a:pt x="839794" y="690579"/>
                  </a:cubicBezTo>
                  <a:cubicBezTo>
                    <a:pt x="828642" y="701731"/>
                    <a:pt x="813516" y="707996"/>
                    <a:pt x="797745" y="707996"/>
                  </a:cubicBezTo>
                  <a:lnTo>
                    <a:pt x="59467" y="707996"/>
                  </a:lnTo>
                  <a:cubicBezTo>
                    <a:pt x="43695" y="707996"/>
                    <a:pt x="28570" y="701731"/>
                    <a:pt x="17417" y="690579"/>
                  </a:cubicBezTo>
                  <a:cubicBezTo>
                    <a:pt x="6265" y="679426"/>
                    <a:pt x="0" y="664301"/>
                    <a:pt x="0" y="648529"/>
                  </a:cubicBezTo>
                  <a:lnTo>
                    <a:pt x="0" y="59467"/>
                  </a:lnTo>
                  <a:cubicBezTo>
                    <a:pt x="0" y="43695"/>
                    <a:pt x="6265" y="28570"/>
                    <a:pt x="17417" y="17417"/>
                  </a:cubicBezTo>
                  <a:cubicBezTo>
                    <a:pt x="28570" y="6265"/>
                    <a:pt x="43695" y="0"/>
                    <a:pt x="594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857212" cy="72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3606312" y="5412881"/>
            <a:ext cx="2402157" cy="925922"/>
          </a:xfrm>
          <a:custGeom>
            <a:avLst/>
            <a:gdLst/>
            <a:ahLst/>
            <a:cxnLst/>
            <a:rect r="r" b="b" t="t" l="l"/>
            <a:pathLst>
              <a:path h="925922" w="2402157">
                <a:moveTo>
                  <a:pt x="0" y="0"/>
                </a:moveTo>
                <a:lnTo>
                  <a:pt x="2402157" y="0"/>
                </a:lnTo>
                <a:lnTo>
                  <a:pt x="2402157" y="925922"/>
                </a:lnTo>
                <a:lnTo>
                  <a:pt x="0" y="9259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749291" y="6363569"/>
            <a:ext cx="610791" cy="610791"/>
          </a:xfrm>
          <a:custGeom>
            <a:avLst/>
            <a:gdLst/>
            <a:ahLst/>
            <a:cxnLst/>
            <a:rect r="r" b="b" t="t" l="l"/>
            <a:pathLst>
              <a:path h="610791" w="610791">
                <a:moveTo>
                  <a:pt x="0" y="0"/>
                </a:moveTo>
                <a:lnTo>
                  <a:pt x="610791" y="0"/>
                </a:lnTo>
                <a:lnTo>
                  <a:pt x="610791" y="610791"/>
                </a:lnTo>
                <a:lnTo>
                  <a:pt x="0" y="6107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60822" y="5652124"/>
            <a:ext cx="452487" cy="711446"/>
          </a:xfrm>
          <a:custGeom>
            <a:avLst/>
            <a:gdLst/>
            <a:ahLst/>
            <a:cxnLst/>
            <a:rect r="r" b="b" t="t" l="l"/>
            <a:pathLst>
              <a:path h="711446" w="452487">
                <a:moveTo>
                  <a:pt x="0" y="0"/>
                </a:moveTo>
                <a:lnTo>
                  <a:pt x="452487" y="0"/>
                </a:lnTo>
                <a:lnTo>
                  <a:pt x="452487" y="711445"/>
                </a:lnTo>
                <a:lnTo>
                  <a:pt x="0" y="7114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528432" y="8074294"/>
            <a:ext cx="427700" cy="427700"/>
          </a:xfrm>
          <a:custGeom>
            <a:avLst/>
            <a:gdLst/>
            <a:ahLst/>
            <a:cxnLst/>
            <a:rect r="r" b="b" t="t" l="l"/>
            <a:pathLst>
              <a:path h="427700" w="427700">
                <a:moveTo>
                  <a:pt x="0" y="0"/>
                </a:moveTo>
                <a:lnTo>
                  <a:pt x="427700" y="0"/>
                </a:lnTo>
                <a:lnTo>
                  <a:pt x="427700" y="427700"/>
                </a:lnTo>
                <a:lnTo>
                  <a:pt x="0" y="42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859268" y="2148050"/>
            <a:ext cx="708073" cy="681038"/>
          </a:xfrm>
          <a:custGeom>
            <a:avLst/>
            <a:gdLst/>
            <a:ahLst/>
            <a:cxnLst/>
            <a:rect r="r" b="b" t="t" l="l"/>
            <a:pathLst>
              <a:path h="681038" w="708073">
                <a:moveTo>
                  <a:pt x="0" y="0"/>
                </a:moveTo>
                <a:lnTo>
                  <a:pt x="708074" y="0"/>
                </a:lnTo>
                <a:lnTo>
                  <a:pt x="708074" y="681038"/>
                </a:lnTo>
                <a:lnTo>
                  <a:pt x="0" y="6810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457379" y="2730887"/>
            <a:ext cx="597308" cy="682992"/>
          </a:xfrm>
          <a:custGeom>
            <a:avLst/>
            <a:gdLst/>
            <a:ahLst/>
            <a:cxnLst/>
            <a:rect r="r" b="b" t="t" l="l"/>
            <a:pathLst>
              <a:path h="682992" w="597308">
                <a:moveTo>
                  <a:pt x="0" y="0"/>
                </a:moveTo>
                <a:lnTo>
                  <a:pt x="597307" y="0"/>
                </a:lnTo>
                <a:lnTo>
                  <a:pt x="597307" y="682992"/>
                </a:lnTo>
                <a:lnTo>
                  <a:pt x="0" y="68299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213309" y="4410075"/>
            <a:ext cx="5995626" cy="810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6"/>
              </a:lnSpc>
            </a:pPr>
            <a:r>
              <a:rPr lang="en-US" sz="2800" b="true">
                <a:solidFill>
                  <a:srgbClr val="FF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SELECT </a:t>
            </a:r>
            <a:r>
              <a:rPr lang="en-US" sz="2800" b="true">
                <a:solidFill>
                  <a:srgbClr val="F200FF"/>
                </a:solidFill>
                <a:latin typeface="TT Hoves Bold"/>
                <a:ea typeface="TT Hoves Bold"/>
                <a:cs typeface="TT Hoves Bold"/>
                <a:sym typeface="TT Hoves Bold"/>
              </a:rPr>
              <a:t>column1, column2</a:t>
            </a:r>
          </a:p>
          <a:p>
            <a:pPr algn="ctr">
              <a:lnSpc>
                <a:spcPts val="3360"/>
              </a:lnSpc>
            </a:pPr>
            <a:r>
              <a:rPr lang="en-US" b="true" sz="3000">
                <a:solidFill>
                  <a:srgbClr val="00C9FF"/>
                </a:solidFill>
                <a:latin typeface="TT Hoves Bold"/>
                <a:ea typeface="TT Hoves Bold"/>
                <a:cs typeface="TT Hoves Bold"/>
                <a:sym typeface="TT Hoves Bold"/>
              </a:rPr>
              <a:t>FROM </a:t>
            </a:r>
            <a:r>
              <a:rPr lang="en-US" b="true" sz="3000">
                <a:solidFill>
                  <a:srgbClr val="000AFF"/>
                </a:solidFill>
                <a:latin typeface="TT Hoves Bold"/>
                <a:ea typeface="TT Hoves Bold"/>
                <a:cs typeface="TT Hoves Bold"/>
                <a:sym typeface="TT Hoves Bold"/>
              </a:rPr>
              <a:t>table_name;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405323" y="2245778"/>
            <a:ext cx="2466673" cy="108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Bu SQL buyruq bo‘lib, jadvaldan ma’lumotlarni olish (o‘qish) uchun ishlatiladi.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05323" y="5200650"/>
            <a:ext cx="2466673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ma’lumot qaysi jadvaldan olinayotganini ko‘rsatadi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52842" y="1272975"/>
            <a:ext cx="210607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SELECT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152842" y="4218322"/>
            <a:ext cx="210607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From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72552" y="1216820"/>
            <a:ext cx="499444" cy="405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72552" y="4171692"/>
            <a:ext cx="499444" cy="405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405323" y="8155522"/>
            <a:ext cx="2466673" cy="108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Bu faqat misol uchun yozilgan nomlar, haqiqiy ustun nomlari boshqacha bo‘ladi.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152842" y="7182719"/>
            <a:ext cx="2106075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F200FF"/>
                </a:solidFill>
                <a:latin typeface="TT Hoves Bold"/>
                <a:ea typeface="TT Hoves Bold"/>
                <a:cs typeface="TT Hoves Bold"/>
                <a:sym typeface="TT Hoves Bold"/>
              </a:rPr>
              <a:t>Colum1, Colum2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72552" y="7126564"/>
            <a:ext cx="499444" cy="405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154875" y="3723214"/>
            <a:ext cx="2466673" cy="163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jadval nomini bildiradi.</a:t>
            </a:r>
          </a:p>
          <a:p>
            <a:pPr algn="l">
              <a:lnSpc>
                <a:spcPts val="2240"/>
              </a:lnSpc>
            </a:pPr>
            <a:r>
              <a:rPr lang="en-US" sz="1600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 SQL so‘rovlarida qaysi jadvaldan ma’lumot olinayotganini ko‘rsatadi.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  <a:spcBef>
                <a:spcPct val="0"/>
              </a:spcBef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3902394" y="2750411"/>
            <a:ext cx="2106075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TABLE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122104" y="2694256"/>
            <a:ext cx="499444" cy="405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154875" y="6678086"/>
            <a:ext cx="2466673" cy="80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SELECT, FROM, column, tabledan – ma’lumot olish.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902394" y="5724333"/>
            <a:ext cx="2106075" cy="25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XULOSA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122104" y="5649128"/>
            <a:ext cx="499444" cy="405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40941" y="1304022"/>
            <a:ext cx="4423560" cy="2601228"/>
            <a:chOff x="0" y="0"/>
            <a:chExt cx="1165053" cy="6850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5053" cy="685097"/>
            </a:xfrm>
            <a:custGeom>
              <a:avLst/>
              <a:gdLst/>
              <a:ahLst/>
              <a:cxnLst/>
              <a:rect r="r" b="b" t="t" l="l"/>
              <a:pathLst>
                <a:path h="685097" w="1165053">
                  <a:moveTo>
                    <a:pt x="43754" y="0"/>
                  </a:moveTo>
                  <a:lnTo>
                    <a:pt x="1121299" y="0"/>
                  </a:lnTo>
                  <a:cubicBezTo>
                    <a:pt x="1132903" y="0"/>
                    <a:pt x="1144032" y="4610"/>
                    <a:pt x="1152238" y="12815"/>
                  </a:cubicBezTo>
                  <a:cubicBezTo>
                    <a:pt x="1160443" y="21021"/>
                    <a:pt x="1165053" y="32150"/>
                    <a:pt x="1165053" y="43754"/>
                  </a:cubicBezTo>
                  <a:lnTo>
                    <a:pt x="1165053" y="641343"/>
                  </a:lnTo>
                  <a:cubicBezTo>
                    <a:pt x="1165053" y="652947"/>
                    <a:pt x="1160443" y="664076"/>
                    <a:pt x="1152238" y="672282"/>
                  </a:cubicBezTo>
                  <a:cubicBezTo>
                    <a:pt x="1144032" y="680487"/>
                    <a:pt x="1132903" y="685097"/>
                    <a:pt x="1121299" y="685097"/>
                  </a:cubicBezTo>
                  <a:lnTo>
                    <a:pt x="43754" y="685097"/>
                  </a:lnTo>
                  <a:cubicBezTo>
                    <a:pt x="32150" y="685097"/>
                    <a:pt x="21021" y="680487"/>
                    <a:pt x="12815" y="672282"/>
                  </a:cubicBezTo>
                  <a:cubicBezTo>
                    <a:pt x="4610" y="664076"/>
                    <a:pt x="0" y="652947"/>
                    <a:pt x="0" y="641343"/>
                  </a:cubicBezTo>
                  <a:lnTo>
                    <a:pt x="0" y="43754"/>
                  </a:lnTo>
                  <a:cubicBezTo>
                    <a:pt x="0" y="32150"/>
                    <a:pt x="4610" y="21021"/>
                    <a:pt x="12815" y="12815"/>
                  </a:cubicBezTo>
                  <a:cubicBezTo>
                    <a:pt x="21021" y="4610"/>
                    <a:pt x="32150" y="0"/>
                    <a:pt x="4375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165053" cy="70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40941" y="6319386"/>
            <a:ext cx="4423560" cy="2601228"/>
            <a:chOff x="0" y="0"/>
            <a:chExt cx="1165053" cy="6850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65053" cy="685097"/>
            </a:xfrm>
            <a:custGeom>
              <a:avLst/>
              <a:gdLst/>
              <a:ahLst/>
              <a:cxnLst/>
              <a:rect r="r" b="b" t="t" l="l"/>
              <a:pathLst>
                <a:path h="685097" w="1165053">
                  <a:moveTo>
                    <a:pt x="43754" y="0"/>
                  </a:moveTo>
                  <a:lnTo>
                    <a:pt x="1121299" y="0"/>
                  </a:lnTo>
                  <a:cubicBezTo>
                    <a:pt x="1132903" y="0"/>
                    <a:pt x="1144032" y="4610"/>
                    <a:pt x="1152238" y="12815"/>
                  </a:cubicBezTo>
                  <a:cubicBezTo>
                    <a:pt x="1160443" y="21021"/>
                    <a:pt x="1165053" y="32150"/>
                    <a:pt x="1165053" y="43754"/>
                  </a:cubicBezTo>
                  <a:lnTo>
                    <a:pt x="1165053" y="641343"/>
                  </a:lnTo>
                  <a:cubicBezTo>
                    <a:pt x="1165053" y="652947"/>
                    <a:pt x="1160443" y="664076"/>
                    <a:pt x="1152238" y="672282"/>
                  </a:cubicBezTo>
                  <a:cubicBezTo>
                    <a:pt x="1144032" y="680487"/>
                    <a:pt x="1132903" y="685097"/>
                    <a:pt x="1121299" y="685097"/>
                  </a:cubicBezTo>
                  <a:lnTo>
                    <a:pt x="43754" y="685097"/>
                  </a:lnTo>
                  <a:cubicBezTo>
                    <a:pt x="32150" y="685097"/>
                    <a:pt x="21021" y="680487"/>
                    <a:pt x="12815" y="672282"/>
                  </a:cubicBezTo>
                  <a:cubicBezTo>
                    <a:pt x="4610" y="664076"/>
                    <a:pt x="0" y="652947"/>
                    <a:pt x="0" y="641343"/>
                  </a:cubicBezTo>
                  <a:lnTo>
                    <a:pt x="0" y="43754"/>
                  </a:lnTo>
                  <a:cubicBezTo>
                    <a:pt x="0" y="32150"/>
                    <a:pt x="4610" y="21021"/>
                    <a:pt x="12815" y="12815"/>
                  </a:cubicBezTo>
                  <a:cubicBezTo>
                    <a:pt x="21021" y="4610"/>
                    <a:pt x="32150" y="0"/>
                    <a:pt x="4375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165053" cy="70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067900" y="952500"/>
            <a:ext cx="9446926" cy="8382000"/>
          </a:xfrm>
          <a:custGeom>
            <a:avLst/>
            <a:gdLst/>
            <a:ahLst/>
            <a:cxnLst/>
            <a:rect r="r" b="b" t="t" l="l"/>
            <a:pathLst>
              <a:path h="8382000" w="9446926">
                <a:moveTo>
                  <a:pt x="0" y="0"/>
                </a:moveTo>
                <a:lnTo>
                  <a:pt x="9446926" y="0"/>
                </a:lnTo>
                <a:lnTo>
                  <a:pt x="9446926" y="8382000"/>
                </a:lnTo>
                <a:lnTo>
                  <a:pt x="0" y="838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38676" y="1948845"/>
            <a:ext cx="1048991" cy="1311583"/>
          </a:xfrm>
          <a:custGeom>
            <a:avLst/>
            <a:gdLst/>
            <a:ahLst/>
            <a:cxnLst/>
            <a:rect r="r" b="b" t="t" l="l"/>
            <a:pathLst>
              <a:path h="1311583" w="1048991">
                <a:moveTo>
                  <a:pt x="0" y="0"/>
                </a:moveTo>
                <a:lnTo>
                  <a:pt x="1048991" y="0"/>
                </a:lnTo>
                <a:lnTo>
                  <a:pt x="1048991" y="1311583"/>
                </a:lnTo>
                <a:lnTo>
                  <a:pt x="0" y="1311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838676" y="6964209"/>
            <a:ext cx="1048991" cy="1311583"/>
          </a:xfrm>
          <a:custGeom>
            <a:avLst/>
            <a:gdLst/>
            <a:ahLst/>
            <a:cxnLst/>
            <a:rect r="r" b="b" t="t" l="l"/>
            <a:pathLst>
              <a:path h="1311583" w="1048991">
                <a:moveTo>
                  <a:pt x="0" y="0"/>
                </a:moveTo>
                <a:lnTo>
                  <a:pt x="1048991" y="0"/>
                </a:lnTo>
                <a:lnTo>
                  <a:pt x="1048991" y="1311582"/>
                </a:lnTo>
                <a:lnTo>
                  <a:pt x="0" y="1311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597089" y="1304022"/>
            <a:ext cx="4423560" cy="2601228"/>
            <a:chOff x="0" y="0"/>
            <a:chExt cx="1165053" cy="6850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5053" cy="685097"/>
            </a:xfrm>
            <a:custGeom>
              <a:avLst/>
              <a:gdLst/>
              <a:ahLst/>
              <a:cxnLst/>
              <a:rect r="r" b="b" t="t" l="l"/>
              <a:pathLst>
                <a:path h="685097" w="1165053">
                  <a:moveTo>
                    <a:pt x="43754" y="0"/>
                  </a:moveTo>
                  <a:lnTo>
                    <a:pt x="1121299" y="0"/>
                  </a:lnTo>
                  <a:cubicBezTo>
                    <a:pt x="1132903" y="0"/>
                    <a:pt x="1144032" y="4610"/>
                    <a:pt x="1152238" y="12815"/>
                  </a:cubicBezTo>
                  <a:cubicBezTo>
                    <a:pt x="1160443" y="21021"/>
                    <a:pt x="1165053" y="32150"/>
                    <a:pt x="1165053" y="43754"/>
                  </a:cubicBezTo>
                  <a:lnTo>
                    <a:pt x="1165053" y="641343"/>
                  </a:lnTo>
                  <a:cubicBezTo>
                    <a:pt x="1165053" y="652947"/>
                    <a:pt x="1160443" y="664076"/>
                    <a:pt x="1152238" y="672282"/>
                  </a:cubicBezTo>
                  <a:cubicBezTo>
                    <a:pt x="1144032" y="680487"/>
                    <a:pt x="1132903" y="685097"/>
                    <a:pt x="1121299" y="685097"/>
                  </a:cubicBezTo>
                  <a:lnTo>
                    <a:pt x="43754" y="685097"/>
                  </a:lnTo>
                  <a:cubicBezTo>
                    <a:pt x="32150" y="685097"/>
                    <a:pt x="21021" y="680487"/>
                    <a:pt x="12815" y="672282"/>
                  </a:cubicBezTo>
                  <a:cubicBezTo>
                    <a:pt x="4610" y="664076"/>
                    <a:pt x="0" y="652947"/>
                    <a:pt x="0" y="641343"/>
                  </a:cubicBezTo>
                  <a:lnTo>
                    <a:pt x="0" y="43754"/>
                  </a:lnTo>
                  <a:cubicBezTo>
                    <a:pt x="0" y="32150"/>
                    <a:pt x="4610" y="21021"/>
                    <a:pt x="12815" y="12815"/>
                  </a:cubicBezTo>
                  <a:cubicBezTo>
                    <a:pt x="21021" y="4610"/>
                    <a:pt x="32150" y="0"/>
                    <a:pt x="4375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65053" cy="70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94824" y="1948845"/>
            <a:ext cx="1048991" cy="1311583"/>
          </a:xfrm>
          <a:custGeom>
            <a:avLst/>
            <a:gdLst/>
            <a:ahLst/>
            <a:cxnLst/>
            <a:rect r="r" b="b" t="t" l="l"/>
            <a:pathLst>
              <a:path h="1311583" w="1048991">
                <a:moveTo>
                  <a:pt x="0" y="0"/>
                </a:moveTo>
                <a:lnTo>
                  <a:pt x="1048991" y="0"/>
                </a:lnTo>
                <a:lnTo>
                  <a:pt x="1048991" y="1311583"/>
                </a:lnTo>
                <a:lnTo>
                  <a:pt x="0" y="1311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571564" y="6041672"/>
            <a:ext cx="1332084" cy="1181922"/>
          </a:xfrm>
          <a:custGeom>
            <a:avLst/>
            <a:gdLst/>
            <a:ahLst/>
            <a:cxnLst/>
            <a:rect r="r" b="b" t="t" l="l"/>
            <a:pathLst>
              <a:path h="1181922" w="1332084">
                <a:moveTo>
                  <a:pt x="0" y="0"/>
                </a:moveTo>
                <a:lnTo>
                  <a:pt x="1332083" y="0"/>
                </a:lnTo>
                <a:lnTo>
                  <a:pt x="1332083" y="1181922"/>
                </a:lnTo>
                <a:lnTo>
                  <a:pt x="0" y="11819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974895" y="1971972"/>
            <a:ext cx="928585" cy="896506"/>
          </a:xfrm>
          <a:custGeom>
            <a:avLst/>
            <a:gdLst/>
            <a:ahLst/>
            <a:cxnLst/>
            <a:rect r="r" b="b" t="t" l="l"/>
            <a:pathLst>
              <a:path h="896506" w="928585">
                <a:moveTo>
                  <a:pt x="0" y="0"/>
                </a:moveTo>
                <a:lnTo>
                  <a:pt x="928585" y="0"/>
                </a:lnTo>
                <a:lnTo>
                  <a:pt x="928585" y="896506"/>
                </a:lnTo>
                <a:lnTo>
                  <a:pt x="0" y="8965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990746" y="6263508"/>
            <a:ext cx="760537" cy="618109"/>
          </a:xfrm>
          <a:custGeom>
            <a:avLst/>
            <a:gdLst/>
            <a:ahLst/>
            <a:cxnLst/>
            <a:rect r="r" b="b" t="t" l="l"/>
            <a:pathLst>
              <a:path h="618109" w="760537">
                <a:moveTo>
                  <a:pt x="0" y="0"/>
                </a:moveTo>
                <a:lnTo>
                  <a:pt x="760537" y="0"/>
                </a:lnTo>
                <a:lnTo>
                  <a:pt x="760537" y="618110"/>
                </a:lnTo>
                <a:lnTo>
                  <a:pt x="0" y="61811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766635" y="2240510"/>
            <a:ext cx="2919573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SQLda jadval yoki ustunga yangi nom berish mumkin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766635" y="1828154"/>
            <a:ext cx="2813778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00AFF"/>
                </a:solidFill>
                <a:latin typeface="TT Hoves Bold"/>
                <a:ea typeface="TT Hoves Bold"/>
                <a:cs typeface="TT Hoves Bold"/>
                <a:sym typeface="TT Hoves Bold"/>
              </a:rPr>
              <a:t>Alies  =  Qisqa nom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3887667" y="2230985"/>
            <a:ext cx="3156678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DFF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SELECT s.name AS Student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DFF00"/>
                </a:solidFill>
                <a:latin typeface="TT Hoves Bold"/>
                <a:ea typeface="TT Hoves Bold"/>
                <a:cs typeface="TT Hoves Bold"/>
                <a:sym typeface="TT Hoves Bold"/>
              </a:rPr>
              <a:t>FROM students AS s;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30567" y="7255874"/>
            <a:ext cx="3233934" cy="1471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SQL orqali YouTube yoki Netflix kabi platformalarda “kim eng faol foydalanuvchi?” yoki “qaysi video eng mashhur?” tez topish mumkin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30567" y="6833993"/>
            <a:ext cx="281377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Bonus fun fact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10711" y="2225346"/>
            <a:ext cx="845766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54563" y="2225346"/>
            <a:ext cx="845766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54563" y="7240710"/>
            <a:ext cx="845766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11532" y="3095050"/>
            <a:ext cx="7864936" cy="6163250"/>
          </a:xfrm>
          <a:custGeom>
            <a:avLst/>
            <a:gdLst/>
            <a:ahLst/>
            <a:cxnLst/>
            <a:rect r="r" b="b" t="t" l="l"/>
            <a:pathLst>
              <a:path h="6163250" w="7864936">
                <a:moveTo>
                  <a:pt x="0" y="0"/>
                </a:moveTo>
                <a:lnTo>
                  <a:pt x="7864936" y="0"/>
                </a:lnTo>
                <a:lnTo>
                  <a:pt x="7864936" y="6163250"/>
                </a:lnTo>
                <a:lnTo>
                  <a:pt x="0" y="616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69078" y="3793156"/>
            <a:ext cx="477719" cy="751118"/>
          </a:xfrm>
          <a:custGeom>
            <a:avLst/>
            <a:gdLst/>
            <a:ahLst/>
            <a:cxnLst/>
            <a:rect r="r" b="b" t="t" l="l"/>
            <a:pathLst>
              <a:path h="751118" w="477719">
                <a:moveTo>
                  <a:pt x="0" y="0"/>
                </a:moveTo>
                <a:lnTo>
                  <a:pt x="477719" y="0"/>
                </a:lnTo>
                <a:lnTo>
                  <a:pt x="477719" y="751118"/>
                </a:lnTo>
                <a:lnTo>
                  <a:pt x="0" y="7511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75064" y="5206741"/>
            <a:ext cx="652738" cy="799568"/>
          </a:xfrm>
          <a:custGeom>
            <a:avLst/>
            <a:gdLst/>
            <a:ahLst/>
            <a:cxnLst/>
            <a:rect r="r" b="b" t="t" l="l"/>
            <a:pathLst>
              <a:path h="799568" w="652738">
                <a:moveTo>
                  <a:pt x="0" y="0"/>
                </a:moveTo>
                <a:lnTo>
                  <a:pt x="652738" y="0"/>
                </a:lnTo>
                <a:lnTo>
                  <a:pt x="652738" y="799568"/>
                </a:lnTo>
                <a:lnTo>
                  <a:pt x="0" y="799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24443" y="885825"/>
            <a:ext cx="11639114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Table = ma’lumotning uyasi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24443" y="1706418"/>
            <a:ext cx="11639114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Jadval = ma’lumotlarni tartibli saqlash</a:t>
            </a:r>
          </a:p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Qiziq fakt: bir table millionlab satrlarni saqlashi mumkin</a:t>
            </a:r>
          </a:p>
          <a:p>
            <a:pPr algn="ctr">
              <a:lnSpc>
                <a:spcPts val="266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846249" y="3351458"/>
            <a:ext cx="2956387" cy="251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1970-yillarda yaratilgan va hozirgi kunda butun dunyo ma’lumotlarini boshqaradi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YouTube, Instagram, Netflix – hammasi SQL ishlatadi!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931295" y="6502624"/>
            <a:ext cx="2956387" cy="220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Faqat ma’lumot olish emas, hisoblash, guruhlash va filtrlash ham mumkin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Masalan, eng mashhur foydalanuvchi kimligini tez topish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46249" y="2843852"/>
            <a:ext cx="2956387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56E11B"/>
                </a:solidFill>
                <a:latin typeface="TT Hoves Bold"/>
                <a:ea typeface="TT Hoves Bold"/>
                <a:cs typeface="TT Hoves Bold"/>
                <a:sym typeface="TT Hoves Bold"/>
              </a:rPr>
              <a:t>SQL dunyosi juda katta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46249" y="5824391"/>
            <a:ext cx="295638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354465"/>
                </a:solidFill>
                <a:latin typeface="TT Hoves Bold"/>
                <a:ea typeface="TT Hoves Bold"/>
                <a:cs typeface="TT Hoves Bold"/>
                <a:sym typeface="TT Hoves Bold"/>
              </a:rPr>
              <a:t>SELECT “super qurolli”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85364" y="4277249"/>
            <a:ext cx="2956387" cy="279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Har bir SELECT so‘rovi uchun “manba” kerak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Qiziq: bir nechta jadvalni birlashtirib, katta ma’lumot hikoyasi yaratish mumkin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485364" y="7835009"/>
            <a:ext cx="3429088" cy="167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Har bir ustun – ma’lumot hikoyasining bir qismi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Misol: name → kim? age → nechida?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486043" y="4130615"/>
            <a:ext cx="319205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C9FF"/>
                </a:solidFill>
                <a:latin typeface="TT Hoves Bold"/>
                <a:ea typeface="TT Hoves Bold"/>
                <a:cs typeface="TT Hoves Bold"/>
                <a:sym typeface="TT Hoves Bold"/>
              </a:rPr>
              <a:t>FROM = ma’lumot manbai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85364" y="7024894"/>
            <a:ext cx="3429088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200FF"/>
                </a:solidFill>
                <a:latin typeface="TT Hoves Bold"/>
                <a:ea typeface="TT Hoves Bold"/>
                <a:cs typeface="TT Hoves Bold"/>
                <a:sym typeface="TT Hoves Bold"/>
              </a:rPr>
              <a:t>Column = kichik qahramon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39632" y="3466026"/>
            <a:ext cx="1661868" cy="107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b="true" sz="6300">
                <a:solidFill>
                  <a:srgbClr val="56E11B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86500" y="4942247"/>
            <a:ext cx="1661868" cy="107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b="true" sz="6300">
                <a:solidFill>
                  <a:srgbClr val="007B80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39632" y="6418469"/>
            <a:ext cx="1661868" cy="107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b="true" sz="6300">
                <a:solidFill>
                  <a:srgbClr val="004259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86500" y="7894690"/>
            <a:ext cx="1661868" cy="107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b="true" sz="6300">
                <a:solidFill>
                  <a:srgbClr val="000038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272554" y="6638771"/>
            <a:ext cx="828178" cy="799568"/>
          </a:xfrm>
          <a:custGeom>
            <a:avLst/>
            <a:gdLst/>
            <a:ahLst/>
            <a:cxnLst/>
            <a:rect r="r" b="b" t="t" l="l"/>
            <a:pathLst>
              <a:path h="799568" w="828178">
                <a:moveTo>
                  <a:pt x="0" y="0"/>
                </a:moveTo>
                <a:lnTo>
                  <a:pt x="828178" y="0"/>
                </a:lnTo>
                <a:lnTo>
                  <a:pt x="828178" y="799568"/>
                </a:lnTo>
                <a:lnTo>
                  <a:pt x="0" y="7995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239250" y="8178229"/>
            <a:ext cx="866451" cy="768778"/>
          </a:xfrm>
          <a:custGeom>
            <a:avLst/>
            <a:gdLst/>
            <a:ahLst/>
            <a:cxnLst/>
            <a:rect r="r" b="b" t="t" l="l"/>
            <a:pathLst>
              <a:path h="768778" w="866451">
                <a:moveTo>
                  <a:pt x="0" y="0"/>
                </a:moveTo>
                <a:lnTo>
                  <a:pt x="866451" y="0"/>
                </a:lnTo>
                <a:lnTo>
                  <a:pt x="866451" y="768779"/>
                </a:lnTo>
                <a:lnTo>
                  <a:pt x="0" y="7687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DAHFtckjvEQ</dc:identifier>
  <dcterms:modified xsi:type="dcterms:W3CDTF">2011-08-01T06:04:30Z</dcterms:modified>
  <cp:revision>1</cp:revision>
  <dc:title>Corporate Agile Project Workflow Infographic Presentation</dc:title>
</cp:coreProperties>
</file>