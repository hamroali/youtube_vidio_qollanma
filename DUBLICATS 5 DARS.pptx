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embeddedFont>
    <p:embeddedFont>
      <p:font typeface="Times New Roman MT" panose="020B0604020202020204" charset="0"/>
      <p:regular r:id="rId13"/>
    </p:embeddedFont>
    <p:embeddedFont>
      <p:font typeface="Times New Roman MT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9" d="100"/>
          <a:sy n="39" d="100"/>
        </p:scale>
        <p:origin x="940" y="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grpSp>
        <p:nvGrpSpPr>
          <p:cNvPr id="2" name="Group 2"/>
          <p:cNvGrpSpPr/>
          <p:nvPr/>
        </p:nvGrpSpPr>
        <p:grpSpPr>
          <a:xfrm>
            <a:off x="12028714" y="3722115"/>
            <a:ext cx="7780564" cy="778056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5889171" y="7910666"/>
            <a:ext cx="7315200" cy="2576332"/>
          </a:xfrm>
          <a:custGeom>
            <a:avLst/>
            <a:gdLst/>
            <a:ahLst/>
            <a:cxnLst/>
            <a:rect l="l" t="t" r="r" b="b"/>
            <a:pathLst>
              <a:path w="7315200" h="2576332">
                <a:moveTo>
                  <a:pt x="7315200" y="0"/>
                </a:moveTo>
                <a:lnTo>
                  <a:pt x="0" y="0"/>
                </a:lnTo>
                <a:lnTo>
                  <a:pt x="0" y="2576332"/>
                </a:lnTo>
                <a:lnTo>
                  <a:pt x="7315200" y="2576332"/>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9546771" y="2025842"/>
            <a:ext cx="8246138" cy="8261158"/>
          </a:xfrm>
          <a:custGeom>
            <a:avLst/>
            <a:gdLst/>
            <a:ahLst/>
            <a:cxnLst/>
            <a:rect l="l" t="t" r="r" b="b"/>
            <a:pathLst>
              <a:path w="8246138" h="8261158">
                <a:moveTo>
                  <a:pt x="0" y="0"/>
                </a:moveTo>
                <a:lnTo>
                  <a:pt x="8246138" y="0"/>
                </a:lnTo>
                <a:lnTo>
                  <a:pt x="8246138" y="8261158"/>
                </a:lnTo>
                <a:lnTo>
                  <a:pt x="0" y="82611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813707" y="1028700"/>
            <a:ext cx="9957707" cy="1308484"/>
            <a:chOff x="0" y="0"/>
            <a:chExt cx="3092749" cy="406400"/>
          </a:xfrm>
        </p:grpSpPr>
        <p:sp>
          <p:nvSpPr>
            <p:cNvPr id="8" name="Freeform 8"/>
            <p:cNvSpPr/>
            <p:nvPr/>
          </p:nvSpPr>
          <p:spPr>
            <a:xfrm>
              <a:off x="0" y="0"/>
              <a:ext cx="3092749" cy="406400"/>
            </a:xfrm>
            <a:custGeom>
              <a:avLst/>
              <a:gdLst/>
              <a:ahLst/>
              <a:cxnLst/>
              <a:rect l="l" t="t" r="r" b="b"/>
              <a:pathLst>
                <a:path w="3092749" h="406400">
                  <a:moveTo>
                    <a:pt x="2889549" y="0"/>
                  </a:moveTo>
                  <a:cubicBezTo>
                    <a:pt x="3001773" y="0"/>
                    <a:pt x="3092749" y="90976"/>
                    <a:pt x="3092749" y="203200"/>
                  </a:cubicBezTo>
                  <a:cubicBezTo>
                    <a:pt x="3092749" y="315424"/>
                    <a:pt x="3001773" y="406400"/>
                    <a:pt x="2889549" y="406400"/>
                  </a:cubicBezTo>
                  <a:lnTo>
                    <a:pt x="203200" y="406400"/>
                  </a:lnTo>
                  <a:cubicBezTo>
                    <a:pt x="90976" y="406400"/>
                    <a:pt x="0" y="315424"/>
                    <a:pt x="0" y="203200"/>
                  </a:cubicBezTo>
                  <a:cubicBezTo>
                    <a:pt x="0" y="90976"/>
                    <a:pt x="90976" y="0"/>
                    <a:pt x="203200" y="0"/>
                  </a:cubicBezTo>
                  <a:close/>
                </a:path>
              </a:pathLst>
            </a:custGeom>
            <a:solidFill>
              <a:srgbClr val="FFF9FF"/>
            </a:solidFill>
          </p:spPr>
          <p:txBody>
            <a:bodyPr/>
            <a:lstStyle/>
            <a:p>
              <a:endParaRPr lang="en-US"/>
            </a:p>
          </p:txBody>
        </p:sp>
        <p:sp>
          <p:nvSpPr>
            <p:cNvPr id="9" name="TextBox 9"/>
            <p:cNvSpPr txBox="1"/>
            <p:nvPr/>
          </p:nvSpPr>
          <p:spPr>
            <a:xfrm>
              <a:off x="0" y="-57150"/>
              <a:ext cx="3092749" cy="46355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028700" y="1340042"/>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10041862" y="6583697"/>
            <a:ext cx="1623476" cy="2057400"/>
          </a:xfrm>
          <a:custGeom>
            <a:avLst/>
            <a:gdLst/>
            <a:ahLst/>
            <a:cxnLst/>
            <a:rect l="l" t="t" r="r" b="b"/>
            <a:pathLst>
              <a:path w="1623476" h="2057400">
                <a:moveTo>
                  <a:pt x="0" y="0"/>
                </a:moveTo>
                <a:lnTo>
                  <a:pt x="1623476" y="0"/>
                </a:lnTo>
                <a:lnTo>
                  <a:pt x="1623476" y="2057400"/>
                </a:lnTo>
                <a:lnTo>
                  <a:pt x="0" y="20574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6212404" y="-746643"/>
            <a:ext cx="2093791" cy="2653422"/>
          </a:xfrm>
          <a:custGeom>
            <a:avLst/>
            <a:gdLst/>
            <a:ahLst/>
            <a:cxnLst/>
            <a:rect l="l" t="t" r="r" b="b"/>
            <a:pathLst>
              <a:path w="2093791" h="2653422">
                <a:moveTo>
                  <a:pt x="0" y="0"/>
                </a:moveTo>
                <a:lnTo>
                  <a:pt x="2093792" y="0"/>
                </a:lnTo>
                <a:lnTo>
                  <a:pt x="2093792" y="2653423"/>
                </a:lnTo>
                <a:lnTo>
                  <a:pt x="0" y="265342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0" y="3184965"/>
            <a:ext cx="11129723" cy="2531900"/>
          </a:xfrm>
          <a:prstGeom prst="rect">
            <a:avLst/>
          </a:prstGeom>
        </p:spPr>
        <p:txBody>
          <a:bodyPr lIns="0" tIns="0" rIns="0" bIns="0" rtlCol="0" anchor="t">
            <a:spAutoFit/>
          </a:bodyPr>
          <a:lstStyle/>
          <a:p>
            <a:pPr algn="l">
              <a:lnSpc>
                <a:spcPts val="9990"/>
              </a:lnSpc>
            </a:pPr>
            <a:r>
              <a:rPr lang="en-US" sz="8188">
                <a:solidFill>
                  <a:srgbClr val="FCDD05"/>
                </a:solidFill>
                <a:latin typeface="League Spartan"/>
                <a:ea typeface="League Spartan"/>
                <a:cs typeface="League Spartan"/>
                <a:sym typeface="League Spartan"/>
              </a:rPr>
              <a:t>DUPLICATES AND EXPRESSIONS </a:t>
            </a:r>
          </a:p>
        </p:txBody>
      </p:sp>
      <p:sp>
        <p:nvSpPr>
          <p:cNvPr id="14" name="TextBox 14"/>
          <p:cNvSpPr txBox="1"/>
          <p:nvPr/>
        </p:nvSpPr>
        <p:spPr>
          <a:xfrm>
            <a:off x="1028700" y="6074109"/>
            <a:ext cx="7097155" cy="847726"/>
          </a:xfrm>
          <a:prstGeom prst="rect">
            <a:avLst/>
          </a:prstGeom>
        </p:spPr>
        <p:txBody>
          <a:bodyPr lIns="0" tIns="0" rIns="0" bIns="0" rtlCol="0" anchor="t">
            <a:spAutoFit/>
          </a:bodyPr>
          <a:lstStyle/>
          <a:p>
            <a:pPr algn="l">
              <a:lnSpc>
                <a:spcPts val="6299"/>
              </a:lnSpc>
            </a:pPr>
            <a:r>
              <a:rPr lang="en-US" sz="4499" b="1">
                <a:solidFill>
                  <a:srgbClr val="FFF9FF"/>
                </a:solidFill>
                <a:latin typeface="Times New Roman MT Bold"/>
                <a:ea typeface="Times New Roman MT Bold"/>
                <a:cs typeface="Times New Roman MT Bold"/>
                <a:sym typeface="Times New Roman MT Bold"/>
              </a:rPr>
              <a:t>5 - dars</a:t>
            </a:r>
          </a:p>
        </p:txBody>
      </p:sp>
      <p:sp>
        <p:nvSpPr>
          <p:cNvPr id="15" name="TextBox 15"/>
          <p:cNvSpPr txBox="1"/>
          <p:nvPr/>
        </p:nvSpPr>
        <p:spPr>
          <a:xfrm>
            <a:off x="1999213" y="1344804"/>
            <a:ext cx="3889959" cy="561975"/>
          </a:xfrm>
          <a:prstGeom prst="rect">
            <a:avLst/>
          </a:prstGeom>
        </p:spPr>
        <p:txBody>
          <a:bodyPr lIns="0" tIns="0" rIns="0" bIns="0" rtlCol="0" anchor="t">
            <a:spAutoFit/>
          </a:bodyPr>
          <a:lstStyle/>
          <a:p>
            <a:pPr algn="l">
              <a:lnSpc>
                <a:spcPts val="4199"/>
              </a:lnSpc>
            </a:pPr>
            <a:r>
              <a:rPr lang="en-US" sz="2999" b="1">
                <a:solidFill>
                  <a:srgbClr val="154438"/>
                </a:solidFill>
                <a:latin typeface="Times New Roman MT Bold"/>
                <a:ea typeface="Times New Roman MT Bold"/>
                <a:cs typeface="Times New Roman MT Bold"/>
                <a:sym typeface="Times New Roman MT Bold"/>
              </a:rPr>
              <a:t>Aliy_datadewloper</a:t>
            </a: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grpSp>
        <p:nvGrpSpPr>
          <p:cNvPr id="2" name="Group 2"/>
          <p:cNvGrpSpPr/>
          <p:nvPr/>
        </p:nvGrpSpPr>
        <p:grpSpPr>
          <a:xfrm>
            <a:off x="12729725" y="5143500"/>
            <a:ext cx="6809654" cy="680965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1106249" y="543063"/>
            <a:ext cx="1623476" cy="2057400"/>
          </a:xfrm>
          <a:custGeom>
            <a:avLst/>
            <a:gdLst/>
            <a:ahLst/>
            <a:cxnLst/>
            <a:rect l="l" t="t" r="r" b="b"/>
            <a:pathLst>
              <a:path w="1623476" h="2057400">
                <a:moveTo>
                  <a:pt x="0" y="0"/>
                </a:moveTo>
                <a:lnTo>
                  <a:pt x="1623476" y="0"/>
                </a:lnTo>
                <a:lnTo>
                  <a:pt x="1623476" y="2057400"/>
                </a:lnTo>
                <a:lnTo>
                  <a:pt x="0" y="2057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0140007" y="3313435"/>
            <a:ext cx="7946907" cy="7990492"/>
          </a:xfrm>
          <a:custGeom>
            <a:avLst/>
            <a:gdLst/>
            <a:ahLst/>
            <a:cxnLst/>
            <a:rect l="l" t="t" r="r" b="b"/>
            <a:pathLst>
              <a:path w="7946907" h="7990492">
                <a:moveTo>
                  <a:pt x="0" y="0"/>
                </a:moveTo>
                <a:lnTo>
                  <a:pt x="7946907" y="0"/>
                </a:lnTo>
                <a:lnTo>
                  <a:pt x="7946907" y="7990491"/>
                </a:lnTo>
                <a:lnTo>
                  <a:pt x="0" y="79904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028700" y="1155468"/>
            <a:ext cx="11002745" cy="1444994"/>
          </a:xfrm>
          <a:prstGeom prst="rect">
            <a:avLst/>
          </a:prstGeom>
        </p:spPr>
        <p:txBody>
          <a:bodyPr lIns="0" tIns="0" rIns="0" bIns="0" rtlCol="0" anchor="t">
            <a:spAutoFit/>
          </a:bodyPr>
          <a:lstStyle/>
          <a:p>
            <a:pPr algn="l">
              <a:lnSpc>
                <a:spcPts val="11429"/>
              </a:lnSpc>
            </a:pPr>
            <a:r>
              <a:rPr lang="en-US" sz="9368">
                <a:solidFill>
                  <a:srgbClr val="FCDD05"/>
                </a:solidFill>
                <a:latin typeface="League Spartan"/>
                <a:ea typeface="League Spartan"/>
                <a:cs typeface="League Spartan"/>
                <a:sym typeface="League Spartan"/>
              </a:rPr>
              <a:t>DISTINCT </a:t>
            </a:r>
          </a:p>
        </p:txBody>
      </p:sp>
      <p:sp>
        <p:nvSpPr>
          <p:cNvPr id="8" name="TextBox 8"/>
          <p:cNvSpPr txBox="1"/>
          <p:nvPr/>
        </p:nvSpPr>
        <p:spPr>
          <a:xfrm>
            <a:off x="1028700" y="3740390"/>
            <a:ext cx="8762573" cy="4500880"/>
          </a:xfrm>
          <a:prstGeom prst="rect">
            <a:avLst/>
          </a:prstGeom>
        </p:spPr>
        <p:txBody>
          <a:bodyPr lIns="0" tIns="0" rIns="0" bIns="0" rtlCol="0" anchor="t">
            <a:spAutoFit/>
          </a:bodyPr>
          <a:lstStyle/>
          <a:p>
            <a:pPr algn="l">
              <a:lnSpc>
                <a:spcPts val="3919"/>
              </a:lnSpc>
            </a:pPr>
            <a:r>
              <a:rPr lang="en-US" sz="2799" b="1">
                <a:solidFill>
                  <a:srgbClr val="FFF9FF"/>
                </a:solidFill>
                <a:latin typeface="Times New Roman MT Bold"/>
                <a:ea typeface="Times New Roman MT Bold"/>
                <a:cs typeface="Times New Roman MT Bold"/>
                <a:sym typeface="Times New Roman MT Bold"/>
              </a:rPr>
              <a:t>DISTINCT — bu SELECT so'rovi natijasida paydo bo'ladigan bir xil (dublikat) qatorlarni olib tashlash uchun ishlatiladigan kalit so'z. U faqat unikal (takrorlanmas) qiymatlarni qaytaradi.  Tasavvur qiling, sizda bir savat meva bor: Olma, Olma, Banan, Olma, Nok. Agar siz: "Menga qanday mevalar borligini ayt" desangiz, javob: Olma, Banan, Nok bo'ladi. Mana shu DISTINCTning vazifasi.</a:t>
            </a:r>
          </a:p>
          <a:p>
            <a:pPr algn="l">
              <a:lnSpc>
                <a:spcPts val="3919"/>
              </a:lnSpc>
            </a:pPr>
            <a:endParaRPr lang="en-US" sz="2799" b="1">
              <a:solidFill>
                <a:srgbClr val="FFF9FF"/>
              </a:solidFill>
              <a:latin typeface="Times New Roman MT Bold"/>
              <a:ea typeface="Times New Roman MT Bold"/>
              <a:cs typeface="Times New Roman MT Bold"/>
              <a:sym typeface="Times New Roman MT Bold"/>
            </a:endParaRPr>
          </a:p>
        </p:txBody>
      </p:sp>
      <p:grpSp>
        <p:nvGrpSpPr>
          <p:cNvPr id="9" name="Group 9"/>
          <p:cNvGrpSpPr/>
          <p:nvPr/>
        </p:nvGrpSpPr>
        <p:grpSpPr>
          <a:xfrm>
            <a:off x="13545459" y="2223258"/>
            <a:ext cx="5741142" cy="754410"/>
            <a:chOff x="0" y="0"/>
            <a:chExt cx="3092749" cy="406400"/>
          </a:xfrm>
        </p:grpSpPr>
        <p:sp>
          <p:nvSpPr>
            <p:cNvPr id="10" name="Freeform 10"/>
            <p:cNvSpPr/>
            <p:nvPr/>
          </p:nvSpPr>
          <p:spPr>
            <a:xfrm>
              <a:off x="0" y="0"/>
              <a:ext cx="3092749" cy="406400"/>
            </a:xfrm>
            <a:custGeom>
              <a:avLst/>
              <a:gdLst/>
              <a:ahLst/>
              <a:cxnLst/>
              <a:rect l="l" t="t" r="r" b="b"/>
              <a:pathLst>
                <a:path w="3092749" h="406400">
                  <a:moveTo>
                    <a:pt x="2889549" y="0"/>
                  </a:moveTo>
                  <a:cubicBezTo>
                    <a:pt x="3001773" y="0"/>
                    <a:pt x="3092749" y="90976"/>
                    <a:pt x="3092749" y="203200"/>
                  </a:cubicBezTo>
                  <a:cubicBezTo>
                    <a:pt x="3092749" y="315424"/>
                    <a:pt x="3001773" y="406400"/>
                    <a:pt x="2889549" y="406400"/>
                  </a:cubicBezTo>
                  <a:lnTo>
                    <a:pt x="203200" y="406400"/>
                  </a:lnTo>
                  <a:cubicBezTo>
                    <a:pt x="90976" y="406400"/>
                    <a:pt x="0" y="315424"/>
                    <a:pt x="0" y="203200"/>
                  </a:cubicBezTo>
                  <a:cubicBezTo>
                    <a:pt x="0" y="90976"/>
                    <a:pt x="90976" y="0"/>
                    <a:pt x="203200" y="0"/>
                  </a:cubicBezTo>
                  <a:close/>
                </a:path>
              </a:pathLst>
            </a:custGeom>
            <a:solidFill>
              <a:srgbClr val="FFF9FF"/>
            </a:solidFill>
          </p:spPr>
          <p:txBody>
            <a:bodyPr/>
            <a:lstStyle/>
            <a:p>
              <a:endParaRPr lang="en-US"/>
            </a:p>
          </p:txBody>
        </p:sp>
        <p:sp>
          <p:nvSpPr>
            <p:cNvPr id="11" name="TextBox 11"/>
            <p:cNvSpPr txBox="1"/>
            <p:nvPr/>
          </p:nvSpPr>
          <p:spPr>
            <a:xfrm>
              <a:off x="0" y="-57150"/>
              <a:ext cx="3092749" cy="4635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134552" y="1340042"/>
            <a:ext cx="3995319" cy="754410"/>
            <a:chOff x="0" y="0"/>
            <a:chExt cx="2152275" cy="406400"/>
          </a:xfrm>
        </p:grpSpPr>
        <p:sp>
          <p:nvSpPr>
            <p:cNvPr id="13" name="Freeform 13"/>
            <p:cNvSpPr/>
            <p:nvPr/>
          </p:nvSpPr>
          <p:spPr>
            <a:xfrm>
              <a:off x="0" y="0"/>
              <a:ext cx="2152275" cy="406400"/>
            </a:xfrm>
            <a:custGeom>
              <a:avLst/>
              <a:gdLst/>
              <a:ahLst/>
              <a:cxnLst/>
              <a:rect l="l" t="t" r="r" b="b"/>
              <a:pathLst>
                <a:path w="2152275" h="406400">
                  <a:moveTo>
                    <a:pt x="1949075" y="0"/>
                  </a:moveTo>
                  <a:cubicBezTo>
                    <a:pt x="2061300" y="0"/>
                    <a:pt x="2152275" y="90976"/>
                    <a:pt x="2152275" y="203200"/>
                  </a:cubicBezTo>
                  <a:cubicBezTo>
                    <a:pt x="2152275" y="315424"/>
                    <a:pt x="2061300" y="406400"/>
                    <a:pt x="1949075" y="406400"/>
                  </a:cubicBezTo>
                  <a:lnTo>
                    <a:pt x="203200" y="406400"/>
                  </a:lnTo>
                  <a:cubicBezTo>
                    <a:pt x="90976" y="406400"/>
                    <a:pt x="0" y="315424"/>
                    <a:pt x="0" y="203200"/>
                  </a:cubicBezTo>
                  <a:cubicBezTo>
                    <a:pt x="0" y="90976"/>
                    <a:pt x="90976" y="0"/>
                    <a:pt x="203200" y="0"/>
                  </a:cubicBezTo>
                  <a:close/>
                </a:path>
              </a:pathLst>
            </a:custGeom>
            <a:solidFill>
              <a:srgbClr val="FFF9FF"/>
            </a:solidFill>
          </p:spPr>
          <p:txBody>
            <a:bodyPr/>
            <a:lstStyle/>
            <a:p>
              <a:endParaRPr lang="en-US"/>
            </a:p>
          </p:txBody>
        </p:sp>
        <p:sp>
          <p:nvSpPr>
            <p:cNvPr id="14" name="TextBox 14"/>
            <p:cNvSpPr txBox="1"/>
            <p:nvPr/>
          </p:nvSpPr>
          <p:spPr>
            <a:xfrm>
              <a:off x="0" y="-57150"/>
              <a:ext cx="2152275" cy="46355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grpSp>
        <p:nvGrpSpPr>
          <p:cNvPr id="2" name="Group 2"/>
          <p:cNvGrpSpPr/>
          <p:nvPr/>
        </p:nvGrpSpPr>
        <p:grpSpPr>
          <a:xfrm>
            <a:off x="-927742" y="4496227"/>
            <a:ext cx="7456928" cy="745692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711448" y="2639649"/>
            <a:ext cx="6465488" cy="7647351"/>
          </a:xfrm>
          <a:custGeom>
            <a:avLst/>
            <a:gdLst/>
            <a:ahLst/>
            <a:cxnLst/>
            <a:rect l="l" t="t" r="r" b="b"/>
            <a:pathLst>
              <a:path w="6465488" h="7647351">
                <a:moveTo>
                  <a:pt x="0" y="0"/>
                </a:moveTo>
                <a:lnTo>
                  <a:pt x="6465488" y="0"/>
                </a:lnTo>
                <a:lnTo>
                  <a:pt x="6465488" y="7647351"/>
                </a:lnTo>
                <a:lnTo>
                  <a:pt x="0" y="76473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6447562" y="8602772"/>
            <a:ext cx="1623476" cy="2057400"/>
          </a:xfrm>
          <a:custGeom>
            <a:avLst/>
            <a:gdLst/>
            <a:ahLst/>
            <a:cxnLst/>
            <a:rect l="l" t="t" r="r" b="b"/>
            <a:pathLst>
              <a:path w="1623476" h="2057400">
                <a:moveTo>
                  <a:pt x="0" y="0"/>
                </a:moveTo>
                <a:lnTo>
                  <a:pt x="1623476" y="0"/>
                </a:lnTo>
                <a:lnTo>
                  <a:pt x="1623476"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6174921" y="551911"/>
            <a:ext cx="1203565" cy="1602811"/>
          </a:xfrm>
          <a:custGeom>
            <a:avLst/>
            <a:gdLst/>
            <a:ahLst/>
            <a:cxnLst/>
            <a:rect l="l" t="t" r="r" b="b"/>
            <a:pathLst>
              <a:path w="1203565" h="1602811">
                <a:moveTo>
                  <a:pt x="0" y="0"/>
                </a:moveTo>
                <a:lnTo>
                  <a:pt x="1203566" y="0"/>
                </a:lnTo>
                <a:lnTo>
                  <a:pt x="1203566" y="1602811"/>
                </a:lnTo>
                <a:lnTo>
                  <a:pt x="0" y="16028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7988369" y="1704975"/>
            <a:ext cx="9176645" cy="1936612"/>
          </a:xfrm>
          <a:prstGeom prst="rect">
            <a:avLst/>
          </a:prstGeom>
        </p:spPr>
        <p:txBody>
          <a:bodyPr lIns="0" tIns="0" rIns="0" bIns="0" rtlCol="0" anchor="t">
            <a:spAutoFit/>
          </a:bodyPr>
          <a:lstStyle/>
          <a:p>
            <a:pPr algn="l">
              <a:lnSpc>
                <a:spcPts val="7691"/>
              </a:lnSpc>
            </a:pPr>
            <a:r>
              <a:rPr lang="en-US" sz="6304">
                <a:solidFill>
                  <a:srgbClr val="FCDD05"/>
                </a:solidFill>
                <a:latin typeface="League Spartan"/>
                <a:ea typeface="League Spartan"/>
                <a:cs typeface="League Spartan"/>
                <a:sym typeface="League Spartan"/>
              </a:rPr>
              <a:t>DISTINCT QANDAY ISHLAYDI</a:t>
            </a:r>
          </a:p>
        </p:txBody>
      </p:sp>
      <p:sp>
        <p:nvSpPr>
          <p:cNvPr id="9" name="TextBox 9"/>
          <p:cNvSpPr txBox="1"/>
          <p:nvPr/>
        </p:nvSpPr>
        <p:spPr>
          <a:xfrm>
            <a:off x="8324860" y="3723640"/>
            <a:ext cx="8503664" cy="5986780"/>
          </a:xfrm>
          <a:prstGeom prst="rect">
            <a:avLst/>
          </a:prstGeom>
        </p:spPr>
        <p:txBody>
          <a:bodyPr lIns="0" tIns="0" rIns="0" bIns="0" rtlCol="0" anchor="t">
            <a:spAutoFit/>
          </a:bodyPr>
          <a:lstStyle/>
          <a:p>
            <a:pPr algn="l">
              <a:lnSpc>
                <a:spcPts val="3919"/>
              </a:lnSpc>
            </a:pPr>
            <a:r>
              <a:rPr lang="en-US" sz="2799" b="1">
                <a:solidFill>
                  <a:srgbClr val="FFFFFF"/>
                </a:solidFill>
                <a:latin typeface="Times New Roman MT Bold"/>
                <a:ea typeface="Times New Roman MT Bold"/>
                <a:cs typeface="Times New Roman MT Bold"/>
                <a:sym typeface="Times New Roman MT Bold"/>
              </a:rPr>
              <a:t>PostgreSQL so'rovni bajarganda quyidagi bosqichlardan o'tadi:</a:t>
            </a:r>
          </a:p>
          <a:p>
            <a:pPr marL="604518" lvl="1" indent="-302259" algn="l">
              <a:lnSpc>
                <a:spcPts val="3919"/>
              </a:lnSpc>
              <a:buAutoNum type="arabicPeriod"/>
            </a:pPr>
            <a:r>
              <a:rPr lang="en-US" sz="2799" b="1">
                <a:solidFill>
                  <a:srgbClr val="FFFFFF"/>
                </a:solidFill>
                <a:latin typeface="Times New Roman MT Bold"/>
                <a:ea typeface="Times New Roman MT Bold"/>
                <a:cs typeface="Times New Roman MT Bold"/>
                <a:sym typeface="Times New Roman MT Bold"/>
              </a:rPr>
              <a:t>Ma'lumotni yig'adi: Berilgan jadvaldan barcha qatorlarni olib chiqadi.</a:t>
            </a:r>
          </a:p>
          <a:p>
            <a:pPr marL="604518" lvl="1" indent="-302259" algn="l">
              <a:lnSpc>
                <a:spcPts val="3919"/>
              </a:lnSpc>
              <a:buAutoNum type="arabicPeriod"/>
            </a:pPr>
            <a:r>
              <a:rPr lang="en-US" sz="2799" b="1">
                <a:solidFill>
                  <a:srgbClr val="FFFFFF"/>
                </a:solidFill>
                <a:latin typeface="Times New Roman MT Bold"/>
                <a:ea typeface="Times New Roman MT Bold"/>
                <a:cs typeface="Times New Roman MT Bold"/>
                <a:sym typeface="Times New Roman MT Bold"/>
              </a:rPr>
              <a:t>Saralaydi (Sorting): Bir xil qiymatlarni yonma-yon qo'yish uchun ma'lumotlarni ichki tizimda saralaydi.</a:t>
            </a:r>
          </a:p>
          <a:p>
            <a:pPr marL="604518" lvl="1" indent="-302259" algn="l">
              <a:lnSpc>
                <a:spcPts val="3919"/>
              </a:lnSpc>
              <a:buAutoNum type="arabicPeriod"/>
            </a:pPr>
            <a:r>
              <a:rPr lang="en-US" sz="2799" b="1">
                <a:solidFill>
                  <a:srgbClr val="FFFFFF"/>
                </a:solidFill>
                <a:latin typeface="Times New Roman MT Bold"/>
                <a:ea typeface="Times New Roman MT Bold"/>
                <a:cs typeface="Times New Roman MT Bold"/>
                <a:sym typeface="Times New Roman MT Bold"/>
              </a:rPr>
              <a:t>Taqqoslaydi: Yonma-yon turgan qatorlarni bir-biri bilan solishtiradi.</a:t>
            </a:r>
          </a:p>
          <a:p>
            <a:pPr marL="604518" lvl="1" indent="-302259" algn="l">
              <a:lnSpc>
                <a:spcPts val="3919"/>
              </a:lnSpc>
              <a:buAutoNum type="arabicPeriod"/>
            </a:pPr>
            <a:r>
              <a:rPr lang="en-US" sz="2799" b="1">
                <a:solidFill>
                  <a:srgbClr val="FFFFFF"/>
                </a:solidFill>
                <a:latin typeface="Times New Roman MT Bold"/>
                <a:ea typeface="Times New Roman MT Bold"/>
                <a:cs typeface="Times New Roman MT Bold"/>
                <a:sym typeface="Times New Roman MT Bold"/>
              </a:rPr>
              <a:t>O'chiradi: Agar ikki yoki undan ortiq qator bir xil bo'lsa, ulardan faqat birinchisini qoldirib, qolganlarini natijadan olib tashlaydi.</a:t>
            </a:r>
          </a:p>
          <a:p>
            <a:pPr algn="l">
              <a:lnSpc>
                <a:spcPts val="3919"/>
              </a:lnSpc>
            </a:pPr>
            <a:endParaRPr lang="en-US" sz="2799" b="1">
              <a:solidFill>
                <a:srgbClr val="FFFFFF"/>
              </a:solidFill>
              <a:latin typeface="Times New Roman MT Bold"/>
              <a:ea typeface="Times New Roman MT Bold"/>
              <a:cs typeface="Times New Roman MT Bold"/>
              <a:sym typeface="Times New Roman MT Bold"/>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sp>
        <p:nvSpPr>
          <p:cNvPr id="2" name="Freeform 2"/>
          <p:cNvSpPr/>
          <p:nvPr/>
        </p:nvSpPr>
        <p:spPr>
          <a:xfrm>
            <a:off x="15800378" y="287327"/>
            <a:ext cx="3397961" cy="741373"/>
          </a:xfrm>
          <a:custGeom>
            <a:avLst/>
            <a:gdLst/>
            <a:ahLst/>
            <a:cxnLst/>
            <a:rect l="l" t="t" r="r" b="b"/>
            <a:pathLst>
              <a:path w="3397961" h="741373">
                <a:moveTo>
                  <a:pt x="0" y="0"/>
                </a:moveTo>
                <a:lnTo>
                  <a:pt x="3397961" y="0"/>
                </a:lnTo>
                <a:lnTo>
                  <a:pt x="3397961" y="741373"/>
                </a:lnTo>
                <a:lnTo>
                  <a:pt x="0" y="7413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927742" y="5353864"/>
            <a:ext cx="6599290" cy="65992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6174921" y="551911"/>
            <a:ext cx="1203565" cy="1602811"/>
          </a:xfrm>
          <a:custGeom>
            <a:avLst/>
            <a:gdLst/>
            <a:ahLst/>
            <a:cxnLst/>
            <a:rect l="l" t="t" r="r" b="b"/>
            <a:pathLst>
              <a:path w="1203565" h="1602811">
                <a:moveTo>
                  <a:pt x="0" y="0"/>
                </a:moveTo>
                <a:lnTo>
                  <a:pt x="1203566" y="0"/>
                </a:lnTo>
                <a:lnTo>
                  <a:pt x="1203566" y="1602811"/>
                </a:lnTo>
                <a:lnTo>
                  <a:pt x="0" y="16028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6052109" y="8697934"/>
            <a:ext cx="1623476" cy="2057400"/>
          </a:xfrm>
          <a:custGeom>
            <a:avLst/>
            <a:gdLst/>
            <a:ahLst/>
            <a:cxnLst/>
            <a:rect l="l" t="t" r="r" b="b"/>
            <a:pathLst>
              <a:path w="1623476" h="2057400">
                <a:moveTo>
                  <a:pt x="0" y="0"/>
                </a:moveTo>
                <a:lnTo>
                  <a:pt x="1623475" y="0"/>
                </a:lnTo>
                <a:lnTo>
                  <a:pt x="1623475"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flipH="1">
            <a:off x="785883" y="2279321"/>
            <a:ext cx="5990821" cy="7557228"/>
          </a:xfrm>
          <a:custGeom>
            <a:avLst/>
            <a:gdLst/>
            <a:ahLst/>
            <a:cxnLst/>
            <a:rect l="l" t="t" r="r" b="b"/>
            <a:pathLst>
              <a:path w="5990821" h="7557228">
                <a:moveTo>
                  <a:pt x="5990821" y="0"/>
                </a:moveTo>
                <a:lnTo>
                  <a:pt x="0" y="0"/>
                </a:lnTo>
                <a:lnTo>
                  <a:pt x="0" y="7557228"/>
                </a:lnTo>
                <a:lnTo>
                  <a:pt x="5990821" y="7557228"/>
                </a:lnTo>
                <a:lnTo>
                  <a:pt x="599082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8835103" y="1585913"/>
            <a:ext cx="8046542" cy="693409"/>
          </a:xfrm>
          <a:prstGeom prst="rect">
            <a:avLst/>
          </a:prstGeom>
        </p:spPr>
        <p:txBody>
          <a:bodyPr lIns="0" tIns="0" rIns="0" bIns="0" rtlCol="0" anchor="t">
            <a:spAutoFit/>
          </a:bodyPr>
          <a:lstStyle/>
          <a:p>
            <a:pPr algn="l">
              <a:lnSpc>
                <a:spcPts val="5495"/>
              </a:lnSpc>
            </a:pPr>
            <a:r>
              <a:rPr lang="en-US" sz="4504">
                <a:solidFill>
                  <a:srgbClr val="FCDD05"/>
                </a:solidFill>
                <a:latin typeface="League Spartan"/>
                <a:ea typeface="League Spartan"/>
                <a:cs typeface="League Spartan"/>
                <a:sym typeface="League Spartan"/>
              </a:rPr>
              <a:t>MASALA</a:t>
            </a:r>
          </a:p>
        </p:txBody>
      </p:sp>
      <p:sp>
        <p:nvSpPr>
          <p:cNvPr id="10" name="TextBox 10"/>
          <p:cNvSpPr txBox="1"/>
          <p:nvPr/>
        </p:nvSpPr>
        <p:spPr>
          <a:xfrm>
            <a:off x="8835103" y="2734074"/>
            <a:ext cx="5780399" cy="1529080"/>
          </a:xfrm>
          <a:prstGeom prst="rect">
            <a:avLst/>
          </a:prstGeom>
        </p:spPr>
        <p:txBody>
          <a:bodyPr lIns="0" tIns="0" rIns="0" bIns="0" rtlCol="0" anchor="t">
            <a:spAutoFit/>
          </a:bodyPr>
          <a:lstStyle/>
          <a:p>
            <a:pPr algn="l">
              <a:lnSpc>
                <a:spcPts val="3919"/>
              </a:lnSpc>
            </a:pPr>
            <a:r>
              <a:rPr lang="en-US" sz="2799" b="1">
                <a:solidFill>
                  <a:srgbClr val="00FFFF"/>
                </a:solidFill>
                <a:latin typeface="Times New Roman MT Bold"/>
                <a:ea typeface="Times New Roman MT Bold"/>
                <a:cs typeface="Times New Roman MT Bold"/>
                <a:sym typeface="Times New Roman MT Bold"/>
              </a:rPr>
              <a:t>SELECT DISTINCT user_name </a:t>
            </a:r>
          </a:p>
          <a:p>
            <a:pPr algn="l">
              <a:lnSpc>
                <a:spcPts val="3919"/>
              </a:lnSpc>
            </a:pPr>
            <a:r>
              <a:rPr lang="en-US" sz="2799" b="1">
                <a:solidFill>
                  <a:srgbClr val="00FFFF"/>
                </a:solidFill>
                <a:latin typeface="Times New Roman MT Bold"/>
                <a:ea typeface="Times New Roman MT Bold"/>
                <a:cs typeface="Times New Roman MT Bold"/>
                <a:sym typeface="Times New Roman MT Bold"/>
              </a:rPr>
              <a:t>FROM library_logs; </a:t>
            </a:r>
          </a:p>
          <a:p>
            <a:pPr algn="l">
              <a:lnSpc>
                <a:spcPts val="3919"/>
              </a:lnSpc>
            </a:pPr>
            <a:endParaRPr lang="en-US" sz="2799" b="1">
              <a:solidFill>
                <a:srgbClr val="00FFFF"/>
              </a:solidFill>
              <a:latin typeface="Times New Roman MT Bold"/>
              <a:ea typeface="Times New Roman MT Bold"/>
              <a:cs typeface="Times New Roman MT Bold"/>
              <a:sym typeface="Times New Roman MT Bold"/>
            </a:endParaRPr>
          </a:p>
        </p:txBody>
      </p:sp>
      <p:sp>
        <p:nvSpPr>
          <p:cNvPr id="11" name="TextBox 11"/>
          <p:cNvSpPr txBox="1"/>
          <p:nvPr/>
        </p:nvSpPr>
        <p:spPr>
          <a:xfrm>
            <a:off x="8835103" y="4058684"/>
            <a:ext cx="8028743" cy="5289550"/>
          </a:xfrm>
          <a:prstGeom prst="rect">
            <a:avLst/>
          </a:prstGeom>
        </p:spPr>
        <p:txBody>
          <a:bodyPr lIns="0" tIns="0" rIns="0" bIns="0" rtlCol="0" anchor="t">
            <a:spAutoFit/>
          </a:bodyPr>
          <a:lstStyle/>
          <a:p>
            <a:pPr algn="l">
              <a:lnSpc>
                <a:spcPts val="3499"/>
              </a:lnSpc>
            </a:pPr>
            <a:r>
              <a:rPr lang="en-US" sz="2499" b="1">
                <a:solidFill>
                  <a:srgbClr val="FFF9FF"/>
                </a:solidFill>
                <a:latin typeface="Times New Roman MT Bold"/>
                <a:ea typeface="Times New Roman MT Bold"/>
                <a:cs typeface="Times New Roman MT Bold"/>
                <a:sym typeface="Times New Roman MT Bold"/>
              </a:rPr>
              <a:t>Bu kod nima ish qiladi? (Bosqichma-bosqich)</a:t>
            </a:r>
          </a:p>
          <a:p>
            <a:pPr marL="539749" lvl="1" indent="-269875" algn="l">
              <a:lnSpc>
                <a:spcPts val="3499"/>
              </a:lnSpc>
              <a:buAutoNum type="arabicPeriod"/>
            </a:pPr>
            <a:r>
              <a:rPr lang="en-US" sz="2499" b="1">
                <a:solidFill>
                  <a:srgbClr val="FFF9FF"/>
                </a:solidFill>
                <a:latin typeface="Times New Roman MT Bold"/>
                <a:ea typeface="Times New Roman MT Bold"/>
                <a:cs typeface="Times New Roman MT Bold"/>
                <a:sym typeface="Times New Roman MT Bold"/>
              </a:rPr>
              <a:t>Topadi: Jadvalga kiradi va hamma ismlarni ko‘rib chiqadi.</a:t>
            </a:r>
          </a:p>
          <a:p>
            <a:pPr marL="539749" lvl="1" indent="-269875" algn="l">
              <a:lnSpc>
                <a:spcPts val="3499"/>
              </a:lnSpc>
              <a:buAutoNum type="arabicPeriod"/>
            </a:pPr>
            <a:r>
              <a:rPr lang="en-US" sz="2499" b="1">
                <a:solidFill>
                  <a:srgbClr val="FFF9FF"/>
                </a:solidFill>
                <a:latin typeface="Times New Roman MT Bold"/>
                <a:ea typeface="Times New Roman MT Bold"/>
                <a:cs typeface="Times New Roman MT Bold"/>
                <a:sym typeface="Times New Roman MT Bold"/>
              </a:rPr>
              <a:t>Solishtiradi: Masalan, "Alisher" ismini bir marta ko‘rdimi, uni eslab qoladi. Keyingi safar yana "Alisher" chiqsa, uni ro‘yxatga qo‘shmaydi.</a:t>
            </a:r>
          </a:p>
          <a:p>
            <a:pPr marL="539749" lvl="1" indent="-269875" algn="l">
              <a:lnSpc>
                <a:spcPts val="3499"/>
              </a:lnSpc>
              <a:buAutoNum type="arabicPeriod"/>
            </a:pPr>
            <a:r>
              <a:rPr lang="en-US" sz="2499" b="1">
                <a:solidFill>
                  <a:srgbClr val="FFF9FF"/>
                </a:solidFill>
                <a:latin typeface="Times New Roman MT Bold"/>
                <a:ea typeface="Times New Roman MT Bold"/>
                <a:cs typeface="Times New Roman MT Bold"/>
                <a:sym typeface="Times New Roman MT Bold"/>
              </a:rPr>
              <a:t>Natija beradi: Oxirida bizga faqat kimlar kelganini ko‘rsatadi (necha marta kelgani muhim emas).</a:t>
            </a:r>
          </a:p>
          <a:p>
            <a:pPr marL="539749" lvl="1" indent="-269875" algn="l">
              <a:lnSpc>
                <a:spcPts val="3499"/>
              </a:lnSpc>
              <a:buAutoNum type="arabicPeriod"/>
            </a:pPr>
            <a:r>
              <a:rPr lang="en-US" sz="2499" b="1">
                <a:solidFill>
                  <a:srgbClr val="FFF9FF"/>
                </a:solidFill>
                <a:latin typeface="Times New Roman MT Bold"/>
                <a:ea typeface="Times New Roman MT Bold"/>
                <a:cs typeface="Times New Roman MT Bold"/>
                <a:sym typeface="Times New Roman MT Bold"/>
              </a:rPr>
              <a:t>Agar jadvalda Ali, Ali, Vali bo‘lsa, bu kod bizga faqat Ali, Vali deb javob qaytaradi. Ortiqcha "Ali"ni o‘chirib tashlaydi.</a:t>
            </a:r>
          </a:p>
          <a:p>
            <a:pPr algn="l">
              <a:lnSpc>
                <a:spcPts val="3499"/>
              </a:lnSpc>
            </a:pPr>
            <a:endParaRPr lang="en-US" sz="2499" b="1">
              <a:solidFill>
                <a:srgbClr val="FFF9FF"/>
              </a:solidFill>
              <a:latin typeface="Times New Roman MT Bold"/>
              <a:ea typeface="Times New Roman MT Bold"/>
              <a:cs typeface="Times New Roman MT Bold"/>
              <a:sym typeface="Times New Roman MT Bold"/>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sp>
        <p:nvSpPr>
          <p:cNvPr id="2" name="Freeform 2"/>
          <p:cNvSpPr/>
          <p:nvPr/>
        </p:nvSpPr>
        <p:spPr>
          <a:xfrm>
            <a:off x="6690242" y="4381082"/>
            <a:ext cx="4907517" cy="5117639"/>
          </a:xfrm>
          <a:custGeom>
            <a:avLst/>
            <a:gdLst/>
            <a:ahLst/>
            <a:cxnLst/>
            <a:rect l="l" t="t" r="r" b="b"/>
            <a:pathLst>
              <a:path w="4907517" h="5117639">
                <a:moveTo>
                  <a:pt x="0" y="0"/>
                </a:moveTo>
                <a:lnTo>
                  <a:pt x="4907516" y="0"/>
                </a:lnTo>
                <a:lnTo>
                  <a:pt x="4907516" y="5117638"/>
                </a:lnTo>
                <a:lnTo>
                  <a:pt x="0" y="51176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295865" y="820325"/>
            <a:ext cx="2832637" cy="1550225"/>
          </a:xfrm>
          <a:custGeom>
            <a:avLst/>
            <a:gdLst/>
            <a:ahLst/>
            <a:cxnLst/>
            <a:rect l="l" t="t" r="r" b="b"/>
            <a:pathLst>
              <a:path w="2832637" h="1550225">
                <a:moveTo>
                  <a:pt x="0" y="0"/>
                </a:moveTo>
                <a:lnTo>
                  <a:pt x="2832636" y="0"/>
                </a:lnTo>
                <a:lnTo>
                  <a:pt x="2832636" y="1550225"/>
                </a:lnTo>
                <a:lnTo>
                  <a:pt x="0" y="15502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3527870" y="2138363"/>
            <a:ext cx="11232260" cy="1124447"/>
          </a:xfrm>
          <a:prstGeom prst="rect">
            <a:avLst/>
          </a:prstGeom>
        </p:spPr>
        <p:txBody>
          <a:bodyPr lIns="0" tIns="0" rIns="0" bIns="0" rtlCol="0" anchor="t">
            <a:spAutoFit/>
          </a:bodyPr>
          <a:lstStyle/>
          <a:p>
            <a:pPr algn="ctr">
              <a:lnSpc>
                <a:spcPts val="8911"/>
              </a:lnSpc>
            </a:pPr>
            <a:r>
              <a:rPr lang="en-US" sz="7304">
                <a:solidFill>
                  <a:srgbClr val="FCDD05"/>
                </a:solidFill>
                <a:latin typeface="League Spartan"/>
                <a:ea typeface="League Spartan"/>
                <a:cs typeface="League Spartan"/>
                <a:sym typeface="League Spartan"/>
              </a:rPr>
              <a:t>EXPRESSION</a:t>
            </a:r>
          </a:p>
        </p:txBody>
      </p:sp>
      <p:sp>
        <p:nvSpPr>
          <p:cNvPr id="5" name="TextBox 5"/>
          <p:cNvSpPr txBox="1"/>
          <p:nvPr/>
        </p:nvSpPr>
        <p:spPr>
          <a:xfrm>
            <a:off x="12483796" y="3372295"/>
            <a:ext cx="5228387" cy="6227445"/>
          </a:xfrm>
          <a:prstGeom prst="rect">
            <a:avLst/>
          </a:prstGeom>
        </p:spPr>
        <p:txBody>
          <a:bodyPr lIns="0" tIns="0" rIns="0" bIns="0" rtlCol="0" anchor="t">
            <a:spAutoFit/>
          </a:bodyPr>
          <a:lstStyle/>
          <a:p>
            <a:pPr algn="just">
              <a:lnSpc>
                <a:spcPts val="3779"/>
              </a:lnSpc>
            </a:pPr>
            <a:r>
              <a:rPr lang="en-US" sz="2699" b="1">
                <a:solidFill>
                  <a:srgbClr val="FFF9FF"/>
                </a:solidFill>
                <a:latin typeface="Times New Roman MT Bold"/>
                <a:ea typeface="Times New Roman MT Bold"/>
                <a:cs typeface="Times New Roman MT Bold"/>
                <a:sym typeface="Times New Roman MT Bold"/>
              </a:rPr>
              <a:t>Ifodalar — bu ma’lumotlar ustida bajariladigan har qanday matematik yoki mantiqiy amaldir. Masalan, jadvalda mahsulotning narxi va soni alohida ustunlarda turishi mumkin. Lekin xaridorga umumiy summani ko‘rsatish uchun bizga ularning ko‘paytmasi kerak. Shu paytda price * count kabi matematik ifoda yordamga keladi. Biz bazadagi raqamlarni shunchaki o‘qimaymiz, ularni bir-biriga urushtirib, yangi natija hosil qilamiz.</a:t>
            </a:r>
          </a:p>
        </p:txBody>
      </p:sp>
      <p:sp>
        <p:nvSpPr>
          <p:cNvPr id="6" name="TextBox 6"/>
          <p:cNvSpPr txBox="1"/>
          <p:nvPr/>
        </p:nvSpPr>
        <p:spPr>
          <a:xfrm>
            <a:off x="1028700" y="3148510"/>
            <a:ext cx="5355317" cy="6324600"/>
          </a:xfrm>
          <a:prstGeom prst="rect">
            <a:avLst/>
          </a:prstGeom>
        </p:spPr>
        <p:txBody>
          <a:bodyPr lIns="0" tIns="0" rIns="0" bIns="0" rtlCol="0" anchor="t">
            <a:spAutoFit/>
          </a:bodyPr>
          <a:lstStyle/>
          <a:p>
            <a:pPr algn="l">
              <a:lnSpc>
                <a:spcPts val="4199"/>
              </a:lnSpc>
              <a:spcBef>
                <a:spcPct val="0"/>
              </a:spcBef>
            </a:pPr>
            <a:r>
              <a:rPr lang="en-US" sz="2999" b="1">
                <a:solidFill>
                  <a:srgbClr val="FFF9FF"/>
                </a:solidFill>
                <a:latin typeface="Times New Roman MT Bold"/>
                <a:ea typeface="Times New Roman MT Bold"/>
                <a:cs typeface="Times New Roman MT Bold"/>
                <a:sym typeface="Times New Roman MT Bold"/>
              </a:rPr>
              <a:t>Ma’lumotlar bazasi — bu shunchaki raqamlar va so‘zlar saqlanadigan o‘lik ombor emas. Agar biz bazadagi ma’lumotlarni xomashyo deb tasavvur qilsak, Expressions (Ifodalar) — bu xomashyodan tayyor mahsulot yasaydigan uskunadir. Ular SQL so‘rovlarining eng kreativ qismi bo‘lib, ma’lumotlarni qayta ishlash va yangi qiymatlar yaratishga xizmat qiladi.</a:t>
            </a: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295865" y="820325"/>
            <a:ext cx="2832637" cy="1550225"/>
          </a:xfrm>
          <a:custGeom>
            <a:avLst/>
            <a:gdLst/>
            <a:ahLst/>
            <a:cxnLst/>
            <a:rect l="l" t="t" r="r" b="b"/>
            <a:pathLst>
              <a:path w="2832637" h="1550225">
                <a:moveTo>
                  <a:pt x="0" y="0"/>
                </a:moveTo>
                <a:lnTo>
                  <a:pt x="2832636" y="0"/>
                </a:lnTo>
                <a:lnTo>
                  <a:pt x="2832636" y="1550225"/>
                </a:lnTo>
                <a:lnTo>
                  <a:pt x="0" y="15502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3513860" y="2055749"/>
            <a:ext cx="860665" cy="1146164"/>
          </a:xfrm>
          <a:custGeom>
            <a:avLst/>
            <a:gdLst/>
            <a:ahLst/>
            <a:cxnLst/>
            <a:rect l="l" t="t" r="r" b="b"/>
            <a:pathLst>
              <a:path w="860665" h="1146164">
                <a:moveTo>
                  <a:pt x="0" y="0"/>
                </a:moveTo>
                <a:lnTo>
                  <a:pt x="860665" y="0"/>
                </a:lnTo>
                <a:lnTo>
                  <a:pt x="860665" y="1146164"/>
                </a:lnTo>
                <a:lnTo>
                  <a:pt x="0" y="11461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2630455" y="5548046"/>
            <a:ext cx="6599290" cy="65992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669190" y="4509839"/>
            <a:ext cx="4107319" cy="4114800"/>
          </a:xfrm>
          <a:custGeom>
            <a:avLst/>
            <a:gdLst/>
            <a:ahLst/>
            <a:cxnLst/>
            <a:rect l="l" t="t" r="r" b="b"/>
            <a:pathLst>
              <a:path w="4107319" h="4114800">
                <a:moveTo>
                  <a:pt x="0" y="0"/>
                </a:moveTo>
                <a:lnTo>
                  <a:pt x="4107319" y="0"/>
                </a:lnTo>
                <a:lnTo>
                  <a:pt x="4107319"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999213" y="1033462"/>
            <a:ext cx="3889959" cy="561975"/>
          </a:xfrm>
          <a:prstGeom prst="rect">
            <a:avLst/>
          </a:prstGeom>
        </p:spPr>
        <p:txBody>
          <a:bodyPr lIns="0" tIns="0" rIns="0" bIns="0" rtlCol="0" anchor="t">
            <a:spAutoFit/>
          </a:bodyPr>
          <a:lstStyle/>
          <a:p>
            <a:pPr algn="l">
              <a:lnSpc>
                <a:spcPts val="4199"/>
              </a:lnSpc>
            </a:pPr>
            <a:r>
              <a:rPr lang="en-US" sz="2999" b="1">
                <a:solidFill>
                  <a:srgbClr val="FFFFFF"/>
                </a:solidFill>
                <a:latin typeface="Times New Roman MT Bold"/>
                <a:ea typeface="Times New Roman MT Bold"/>
                <a:cs typeface="Times New Roman MT Bold"/>
                <a:sym typeface="Times New Roman MT Bold"/>
              </a:rPr>
              <a:t>Arowwai Industries</a:t>
            </a:r>
          </a:p>
        </p:txBody>
      </p:sp>
      <p:sp>
        <p:nvSpPr>
          <p:cNvPr id="10" name="TextBox 10"/>
          <p:cNvSpPr txBox="1"/>
          <p:nvPr/>
        </p:nvSpPr>
        <p:spPr>
          <a:xfrm>
            <a:off x="3527870" y="2199259"/>
            <a:ext cx="11232260" cy="1002654"/>
          </a:xfrm>
          <a:prstGeom prst="rect">
            <a:avLst/>
          </a:prstGeom>
        </p:spPr>
        <p:txBody>
          <a:bodyPr lIns="0" tIns="0" rIns="0" bIns="0" rtlCol="0" anchor="t">
            <a:spAutoFit/>
          </a:bodyPr>
          <a:lstStyle/>
          <a:p>
            <a:pPr algn="ctr">
              <a:lnSpc>
                <a:spcPts val="7935"/>
              </a:lnSpc>
            </a:pPr>
            <a:r>
              <a:rPr lang="en-US" sz="6504">
                <a:solidFill>
                  <a:srgbClr val="FCDD05"/>
                </a:solidFill>
                <a:latin typeface="League Spartan"/>
                <a:ea typeface="League Spartan"/>
                <a:cs typeface="League Spartan"/>
                <a:sym typeface="League Spartan"/>
              </a:rPr>
              <a:t>AMALLAR</a:t>
            </a:r>
          </a:p>
        </p:txBody>
      </p:sp>
      <p:sp>
        <p:nvSpPr>
          <p:cNvPr id="11" name="TextBox 11"/>
          <p:cNvSpPr txBox="1"/>
          <p:nvPr/>
        </p:nvSpPr>
        <p:spPr>
          <a:xfrm>
            <a:off x="5249287" y="3706738"/>
            <a:ext cx="7908476" cy="4996180"/>
          </a:xfrm>
          <a:prstGeom prst="rect">
            <a:avLst/>
          </a:prstGeom>
        </p:spPr>
        <p:txBody>
          <a:bodyPr lIns="0" tIns="0" rIns="0" bIns="0" rtlCol="0" anchor="t">
            <a:spAutoFit/>
          </a:bodyPr>
          <a:lstStyle/>
          <a:p>
            <a:pPr algn="just">
              <a:lnSpc>
                <a:spcPts val="3919"/>
              </a:lnSpc>
            </a:pPr>
            <a:r>
              <a:rPr lang="en-US" sz="2799" b="1">
                <a:solidFill>
                  <a:srgbClr val="FFF9FF"/>
                </a:solidFill>
                <a:latin typeface="Times New Roman MT Bold"/>
                <a:ea typeface="Times New Roman MT Bold"/>
                <a:cs typeface="Times New Roman MT Bold"/>
                <a:sym typeface="Times New Roman MT Bold"/>
              </a:rPr>
              <a:t>1. Matematik amallar (Arithmetic Expressions)</a:t>
            </a:r>
          </a:p>
          <a:p>
            <a:pPr algn="just">
              <a:lnSpc>
                <a:spcPts val="3919"/>
              </a:lnSpc>
            </a:pPr>
            <a:r>
              <a:rPr lang="en-US" sz="2799" b="1">
                <a:solidFill>
                  <a:srgbClr val="FFF9FF"/>
                </a:solidFill>
                <a:latin typeface="Times New Roman MT Bold"/>
                <a:ea typeface="Times New Roman MT Bold"/>
                <a:cs typeface="Times New Roman MT Bold"/>
                <a:sym typeface="Times New Roman MT Bold"/>
              </a:rPr>
              <a:t>Bu amallar raqamli ma'lumotlar bilan ishlash uchun ishlatiladi.</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(Qo‘shish): price + tax</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(Ayirish): salary - fine</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(Ko‘paytirish): count * unit_price</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(Bo‘lish): total / days</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(Qoldiqli bo‘lish): 10 % 3 (natija: 1)</a:t>
            </a:r>
          </a:p>
          <a:p>
            <a:pPr marL="604518" lvl="1" indent="-302259" algn="just">
              <a:lnSpc>
                <a:spcPts val="3919"/>
              </a:lnSpc>
              <a:buFont typeface="Arial"/>
              <a:buChar char="•"/>
            </a:pPr>
            <a:r>
              <a:rPr lang="en-US" sz="2799" b="1">
                <a:solidFill>
                  <a:srgbClr val="FFF9FF"/>
                </a:solidFill>
                <a:latin typeface="Times New Roman MT Bold"/>
                <a:ea typeface="Times New Roman MT Bold"/>
                <a:cs typeface="Times New Roman MT Bold"/>
                <a:sym typeface="Times New Roman MT Bold"/>
              </a:rPr>
              <a:t>^ (Darajaga ko‘tarish): 2 ^ 3 (natija: 8)</a:t>
            </a:r>
          </a:p>
          <a:p>
            <a:pPr algn="just">
              <a:lnSpc>
                <a:spcPts val="3919"/>
              </a:lnSpc>
            </a:pPr>
            <a:endParaRPr lang="en-US" sz="2799" b="1">
              <a:solidFill>
                <a:srgbClr val="FFF9FF"/>
              </a:solidFill>
              <a:latin typeface="Times New Roman MT Bold"/>
              <a:ea typeface="Times New Roman MT Bold"/>
              <a:cs typeface="Times New Roman MT Bold"/>
              <a:sym typeface="Times New Roman MT Bold"/>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sp>
        <p:nvSpPr>
          <p:cNvPr id="2" name="Freeform 2"/>
          <p:cNvSpPr/>
          <p:nvPr/>
        </p:nvSpPr>
        <p:spPr>
          <a:xfrm>
            <a:off x="15800378" y="658013"/>
            <a:ext cx="3397961" cy="741373"/>
          </a:xfrm>
          <a:custGeom>
            <a:avLst/>
            <a:gdLst/>
            <a:ahLst/>
            <a:cxnLst/>
            <a:rect l="l" t="t" r="r" b="b"/>
            <a:pathLst>
              <a:path w="3397961" h="741373">
                <a:moveTo>
                  <a:pt x="0" y="0"/>
                </a:moveTo>
                <a:lnTo>
                  <a:pt x="3397961" y="0"/>
                </a:lnTo>
                <a:lnTo>
                  <a:pt x="3397961" y="741374"/>
                </a:lnTo>
                <a:lnTo>
                  <a:pt x="0" y="74137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3534831" y="5548046"/>
            <a:ext cx="6599290" cy="65992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2939954" y="1977043"/>
            <a:ext cx="4319346" cy="7945286"/>
          </a:xfrm>
          <a:custGeom>
            <a:avLst/>
            <a:gdLst/>
            <a:ahLst/>
            <a:cxnLst/>
            <a:rect l="l" t="t" r="r" b="b"/>
            <a:pathLst>
              <a:path w="4319346" h="7945286">
                <a:moveTo>
                  <a:pt x="0" y="0"/>
                </a:moveTo>
                <a:lnTo>
                  <a:pt x="4319346" y="0"/>
                </a:lnTo>
                <a:lnTo>
                  <a:pt x="4319346" y="7945286"/>
                </a:lnTo>
                <a:lnTo>
                  <a:pt x="0" y="79452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028700" y="4473305"/>
            <a:ext cx="9368926" cy="4199255"/>
          </a:xfrm>
          <a:prstGeom prst="rect">
            <a:avLst/>
          </a:prstGeom>
        </p:spPr>
        <p:txBody>
          <a:bodyPr lIns="0" tIns="0" rIns="0" bIns="0" rtlCol="0" anchor="t">
            <a:spAutoFit/>
          </a:bodyPr>
          <a:lstStyle/>
          <a:p>
            <a:pPr algn="l">
              <a:lnSpc>
                <a:spcPts val="4059"/>
              </a:lnSpc>
            </a:pPr>
            <a:r>
              <a:rPr lang="en-US" sz="2899">
                <a:solidFill>
                  <a:srgbClr val="FFFFFF"/>
                </a:solidFill>
                <a:latin typeface="Times New Roman MT"/>
                <a:ea typeface="Times New Roman MT"/>
                <a:cs typeface="Times New Roman MT"/>
                <a:sym typeface="Times New Roman MT"/>
              </a:rPr>
              <a:t>Matnlarni birlashtirish va tahrirlash uchun ishlatiladi.</a:t>
            </a:r>
          </a:p>
          <a:p>
            <a:pPr marL="626107" lvl="1" indent="-313054" algn="l">
              <a:lnSpc>
                <a:spcPts val="4059"/>
              </a:lnSpc>
              <a:buFont typeface="Arial"/>
              <a:buChar char="•"/>
            </a:pPr>
            <a:r>
              <a:rPr lang="en-US" sz="2899">
                <a:solidFill>
                  <a:srgbClr val="FFFFFF"/>
                </a:solidFill>
                <a:latin typeface="Times New Roman MT"/>
                <a:ea typeface="Times New Roman MT"/>
                <a:cs typeface="Times New Roman MT"/>
                <a:sym typeface="Times New Roman MT"/>
              </a:rPr>
              <a:t>|| (Birlashtirish - Concatenation): Ikki yoki undan ko‘p matnni bitta qiladi.</a:t>
            </a:r>
          </a:p>
          <a:p>
            <a:pPr marL="1252215" lvl="2" indent="-417405" algn="l">
              <a:lnSpc>
                <a:spcPts val="4059"/>
              </a:lnSpc>
              <a:buFont typeface="Arial"/>
              <a:buChar char="⚬"/>
            </a:pPr>
            <a:r>
              <a:rPr lang="en-US" sz="2899">
                <a:solidFill>
                  <a:srgbClr val="FFFFFF"/>
                </a:solidFill>
                <a:latin typeface="Times New Roman MT"/>
                <a:ea typeface="Times New Roman MT"/>
                <a:cs typeface="Times New Roman MT"/>
                <a:sym typeface="Times New Roman MT"/>
              </a:rPr>
              <a:t>Misol: 'Salom ' || 'Dunyo'</a:t>
            </a:r>
          </a:p>
          <a:p>
            <a:pPr marL="626107" lvl="1" indent="-313054" algn="l">
              <a:lnSpc>
                <a:spcPts val="4059"/>
              </a:lnSpc>
              <a:buFont typeface="Arial"/>
              <a:buChar char="•"/>
            </a:pPr>
            <a:r>
              <a:rPr lang="en-US" sz="2899">
                <a:solidFill>
                  <a:srgbClr val="FFFFFF"/>
                </a:solidFill>
                <a:latin typeface="Times New Roman MT"/>
                <a:ea typeface="Times New Roman MT"/>
                <a:cs typeface="Times New Roman MT"/>
                <a:sym typeface="Times New Roman MT"/>
              </a:rPr>
              <a:t>UPPER() / LOWER(): Harflarni katta yoki kichik qilish.</a:t>
            </a:r>
          </a:p>
          <a:p>
            <a:pPr marL="626107" lvl="1" indent="-313054" algn="l">
              <a:lnSpc>
                <a:spcPts val="4059"/>
              </a:lnSpc>
              <a:buFont typeface="Arial"/>
              <a:buChar char="•"/>
            </a:pPr>
            <a:r>
              <a:rPr lang="en-US" sz="2899">
                <a:solidFill>
                  <a:srgbClr val="FFFFFF"/>
                </a:solidFill>
                <a:latin typeface="Times New Roman MT"/>
                <a:ea typeface="Times New Roman MT"/>
                <a:cs typeface="Times New Roman MT"/>
                <a:sym typeface="Times New Roman MT"/>
              </a:rPr>
              <a:t>LENGTH(): Matndagi harflar sonini hisoblash.</a:t>
            </a:r>
          </a:p>
          <a:p>
            <a:pPr algn="l">
              <a:lnSpc>
                <a:spcPts val="4479"/>
              </a:lnSpc>
            </a:pPr>
            <a:endParaRPr lang="en-US" sz="2899">
              <a:solidFill>
                <a:srgbClr val="FFFFFF"/>
              </a:solidFill>
              <a:latin typeface="Times New Roman MT"/>
              <a:ea typeface="Times New Roman MT"/>
              <a:cs typeface="Times New Roman MT"/>
              <a:sym typeface="Times New Roman MT"/>
            </a:endParaRPr>
          </a:p>
        </p:txBody>
      </p:sp>
      <p:sp>
        <p:nvSpPr>
          <p:cNvPr id="8" name="TextBox 8"/>
          <p:cNvSpPr txBox="1"/>
          <p:nvPr/>
        </p:nvSpPr>
        <p:spPr>
          <a:xfrm>
            <a:off x="1028700" y="2797720"/>
            <a:ext cx="11232260" cy="1124447"/>
          </a:xfrm>
          <a:prstGeom prst="rect">
            <a:avLst/>
          </a:prstGeom>
        </p:spPr>
        <p:txBody>
          <a:bodyPr lIns="0" tIns="0" rIns="0" bIns="0" rtlCol="0" anchor="t">
            <a:spAutoFit/>
          </a:bodyPr>
          <a:lstStyle/>
          <a:p>
            <a:pPr algn="l">
              <a:lnSpc>
                <a:spcPts val="8911"/>
              </a:lnSpc>
            </a:pPr>
            <a:r>
              <a:rPr lang="en-US" sz="7304">
                <a:solidFill>
                  <a:srgbClr val="FCDD05"/>
                </a:solidFill>
                <a:latin typeface="League Spartan"/>
                <a:ea typeface="League Spartan"/>
                <a:cs typeface="League Spartan"/>
                <a:sym typeface="League Spartan"/>
              </a:rPr>
              <a:t>STRING AMMALLAR</a:t>
            </a: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grpSp>
        <p:nvGrpSpPr>
          <p:cNvPr id="2" name="Group 2"/>
          <p:cNvGrpSpPr/>
          <p:nvPr/>
        </p:nvGrpSpPr>
        <p:grpSpPr>
          <a:xfrm>
            <a:off x="13704409" y="-1432745"/>
            <a:ext cx="6599290" cy="65992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270945" y="6366898"/>
            <a:ext cx="6599290" cy="65992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754544" y="5143500"/>
            <a:ext cx="4671724" cy="4697346"/>
          </a:xfrm>
          <a:custGeom>
            <a:avLst/>
            <a:gdLst/>
            <a:ahLst/>
            <a:cxnLst/>
            <a:rect l="l" t="t" r="r" b="b"/>
            <a:pathLst>
              <a:path w="4671724" h="4697346">
                <a:moveTo>
                  <a:pt x="0" y="0"/>
                </a:moveTo>
                <a:lnTo>
                  <a:pt x="4671724" y="0"/>
                </a:lnTo>
                <a:lnTo>
                  <a:pt x="4671724" y="4697346"/>
                </a:lnTo>
                <a:lnTo>
                  <a:pt x="0" y="46973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p:cNvSpPr/>
          <p:nvPr/>
        </p:nvSpPr>
        <p:spPr>
          <a:xfrm>
            <a:off x="13007468" y="271435"/>
            <a:ext cx="4383524" cy="5454611"/>
          </a:xfrm>
          <a:custGeom>
            <a:avLst/>
            <a:gdLst/>
            <a:ahLst/>
            <a:cxnLst/>
            <a:rect l="l" t="t" r="r" b="b"/>
            <a:pathLst>
              <a:path w="4383524" h="5454611">
                <a:moveTo>
                  <a:pt x="0" y="0"/>
                </a:moveTo>
                <a:lnTo>
                  <a:pt x="4383524" y="0"/>
                </a:lnTo>
                <a:lnTo>
                  <a:pt x="4383524" y="5454611"/>
                </a:lnTo>
                <a:lnTo>
                  <a:pt x="0" y="5454611"/>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1028700" y="1009650"/>
            <a:ext cx="9096258" cy="1124447"/>
          </a:xfrm>
          <a:prstGeom prst="rect">
            <a:avLst/>
          </a:prstGeom>
        </p:spPr>
        <p:txBody>
          <a:bodyPr lIns="0" tIns="0" rIns="0" bIns="0" rtlCol="0" anchor="t">
            <a:spAutoFit/>
          </a:bodyPr>
          <a:lstStyle/>
          <a:p>
            <a:pPr algn="l">
              <a:lnSpc>
                <a:spcPts val="8911"/>
              </a:lnSpc>
            </a:pPr>
            <a:r>
              <a:rPr lang="en-US" sz="7304">
                <a:solidFill>
                  <a:srgbClr val="FCDD05"/>
                </a:solidFill>
                <a:latin typeface="League Spartan"/>
                <a:ea typeface="League Spartan"/>
                <a:cs typeface="League Spartan"/>
                <a:sym typeface="League Spartan"/>
              </a:rPr>
              <a:t>MASALA</a:t>
            </a:r>
          </a:p>
        </p:txBody>
      </p:sp>
      <p:sp>
        <p:nvSpPr>
          <p:cNvPr id="11" name="TextBox 11"/>
          <p:cNvSpPr txBox="1"/>
          <p:nvPr/>
        </p:nvSpPr>
        <p:spPr>
          <a:xfrm>
            <a:off x="6025526" y="2995295"/>
            <a:ext cx="8503664" cy="6263005"/>
          </a:xfrm>
          <a:prstGeom prst="rect">
            <a:avLst/>
          </a:prstGeom>
        </p:spPr>
        <p:txBody>
          <a:bodyPr lIns="0" tIns="0" rIns="0" bIns="0" rtlCol="0" anchor="t">
            <a:spAutoFit/>
          </a:bodyPr>
          <a:lstStyle/>
          <a:p>
            <a:pPr algn="l">
              <a:lnSpc>
                <a:spcPts val="3779"/>
              </a:lnSpc>
            </a:pPr>
            <a:r>
              <a:rPr lang="en-US" sz="2699">
                <a:solidFill>
                  <a:srgbClr val="FFFFFF"/>
                </a:solidFill>
                <a:latin typeface="Times New Roman MT"/>
                <a:ea typeface="Times New Roman MT"/>
                <a:cs typeface="Times New Roman MT"/>
                <a:sym typeface="Times New Roman MT"/>
              </a:rPr>
              <a:t>SELECT </a:t>
            </a:r>
          </a:p>
          <a:p>
            <a:pPr algn="l">
              <a:lnSpc>
                <a:spcPts val="3779"/>
              </a:lnSpc>
            </a:pPr>
            <a:r>
              <a:rPr lang="en-US" sz="2699">
                <a:solidFill>
                  <a:srgbClr val="FFFFFF"/>
                </a:solidFill>
                <a:latin typeface="Times New Roman MT"/>
                <a:ea typeface="Times New Roman MT"/>
                <a:cs typeface="Times New Roman MT"/>
                <a:sym typeface="Times New Roman MT"/>
              </a:rPr>
              <a:t>    product_name,</a:t>
            </a:r>
          </a:p>
          <a:p>
            <a:pPr algn="l">
              <a:lnSpc>
                <a:spcPts val="3779"/>
              </a:lnSpc>
            </a:pPr>
            <a:r>
              <a:rPr lang="en-US" sz="2699">
                <a:solidFill>
                  <a:srgbClr val="FFFFFF"/>
                </a:solidFill>
                <a:latin typeface="Times New Roman MT"/>
                <a:ea typeface="Times New Roman MT"/>
                <a:cs typeface="Times New Roman MT"/>
                <a:sym typeface="Times New Roman MT"/>
              </a:rPr>
              <a:t>    -- 1. Ko'paytirish: Umumiy qiymatni hisoblash</a:t>
            </a:r>
          </a:p>
          <a:p>
            <a:pPr algn="l">
              <a:lnSpc>
                <a:spcPts val="3779"/>
              </a:lnSpc>
            </a:pPr>
            <a:r>
              <a:rPr lang="en-US" sz="2699">
                <a:solidFill>
                  <a:srgbClr val="FFFFFF"/>
                </a:solidFill>
                <a:latin typeface="Times New Roman MT"/>
                <a:ea typeface="Times New Roman MT"/>
                <a:cs typeface="Times New Roman MT"/>
                <a:sym typeface="Times New Roman MT"/>
              </a:rPr>
              <a:t>    price * quantity AS total_stock_value,</a:t>
            </a:r>
          </a:p>
          <a:p>
            <a:pPr algn="l">
              <a:lnSpc>
                <a:spcPts val="3779"/>
              </a:lnSpc>
            </a:pPr>
            <a:endParaRPr lang="en-US" sz="2699">
              <a:solidFill>
                <a:srgbClr val="FFFFFF"/>
              </a:solidFill>
              <a:latin typeface="Times New Roman MT"/>
              <a:ea typeface="Times New Roman MT"/>
              <a:cs typeface="Times New Roman MT"/>
              <a:sym typeface="Times New Roman MT"/>
            </a:endParaRPr>
          </a:p>
          <a:p>
            <a:pPr algn="l">
              <a:lnSpc>
                <a:spcPts val="3779"/>
              </a:lnSpc>
            </a:pPr>
            <a:r>
              <a:rPr lang="en-US" sz="2699">
                <a:solidFill>
                  <a:srgbClr val="FFFFFF"/>
                </a:solidFill>
                <a:latin typeface="Times New Roman MT"/>
                <a:ea typeface="Times New Roman MT"/>
                <a:cs typeface="Times New Roman MT"/>
                <a:sym typeface="Times New Roman MT"/>
              </a:rPr>
              <a:t>    -- 2. Ko'paytirish va Bo'lish: 10% chegirmali narxni topish</a:t>
            </a:r>
          </a:p>
          <a:p>
            <a:pPr algn="l">
              <a:lnSpc>
                <a:spcPts val="3779"/>
              </a:lnSpc>
            </a:pPr>
            <a:r>
              <a:rPr lang="en-US" sz="2699">
                <a:solidFill>
                  <a:srgbClr val="FFFFFF"/>
                </a:solidFill>
                <a:latin typeface="Times New Roman MT"/>
                <a:ea typeface="Times New Roman MT"/>
                <a:cs typeface="Times New Roman MT"/>
                <a:sym typeface="Times New Roman MT"/>
              </a:rPr>
              <a:t>    price * 0.90 AS discounted_price,</a:t>
            </a:r>
          </a:p>
          <a:p>
            <a:pPr algn="l">
              <a:lnSpc>
                <a:spcPts val="3779"/>
              </a:lnSpc>
            </a:pPr>
            <a:endParaRPr lang="en-US" sz="2699">
              <a:solidFill>
                <a:srgbClr val="FFFFFF"/>
              </a:solidFill>
              <a:latin typeface="Times New Roman MT"/>
              <a:ea typeface="Times New Roman MT"/>
              <a:cs typeface="Times New Roman MT"/>
              <a:sym typeface="Times New Roman MT"/>
            </a:endParaRPr>
          </a:p>
          <a:p>
            <a:pPr algn="l">
              <a:lnSpc>
                <a:spcPts val="3779"/>
              </a:lnSpc>
            </a:pPr>
            <a:r>
              <a:rPr lang="en-US" sz="2699">
                <a:solidFill>
                  <a:srgbClr val="FFFFFF"/>
                </a:solidFill>
                <a:latin typeface="Times New Roman MT"/>
                <a:ea typeface="Times New Roman MT"/>
                <a:cs typeface="Times New Roman MT"/>
                <a:sym typeface="Times New Roman MT"/>
              </a:rPr>
              <a:t>    -- 3. Ayirish: Chegirmali narxdan yetkazib berishni ayirish</a:t>
            </a:r>
          </a:p>
          <a:p>
            <a:pPr algn="l">
              <a:lnSpc>
                <a:spcPts val="3779"/>
              </a:lnSpc>
            </a:pPr>
            <a:r>
              <a:rPr lang="en-US" sz="2699">
                <a:solidFill>
                  <a:srgbClr val="FFFFFF"/>
                </a:solidFill>
                <a:latin typeface="Times New Roman MT"/>
                <a:ea typeface="Times New Roman MT"/>
                <a:cs typeface="Times New Roman MT"/>
                <a:sym typeface="Times New Roman MT"/>
              </a:rPr>
              <a:t>    (price * 0.90) - 5 AS final_profit_per_item</a:t>
            </a:r>
          </a:p>
          <a:p>
            <a:pPr algn="l">
              <a:lnSpc>
                <a:spcPts val="4059"/>
              </a:lnSpc>
            </a:pPr>
            <a:r>
              <a:rPr lang="en-US" sz="2899">
                <a:solidFill>
                  <a:srgbClr val="FFFFFF"/>
                </a:solidFill>
                <a:latin typeface="Times New Roman MT"/>
                <a:ea typeface="Times New Roman MT"/>
                <a:cs typeface="Times New Roman MT"/>
                <a:sym typeface="Times New Roman MT"/>
              </a:rPr>
              <a:t>FROM products;</a:t>
            </a:r>
          </a:p>
        </p:txBody>
      </p:sp>
      <p:sp>
        <p:nvSpPr>
          <p:cNvPr id="12" name="Freeform 12"/>
          <p:cNvSpPr/>
          <p:nvPr/>
        </p:nvSpPr>
        <p:spPr>
          <a:xfrm>
            <a:off x="8542217" y="570195"/>
            <a:ext cx="1203565" cy="1602811"/>
          </a:xfrm>
          <a:custGeom>
            <a:avLst/>
            <a:gdLst/>
            <a:ahLst/>
            <a:cxnLst/>
            <a:rect l="l" t="t" r="r" b="b"/>
            <a:pathLst>
              <a:path w="1203565" h="1602811">
                <a:moveTo>
                  <a:pt x="0" y="0"/>
                </a:moveTo>
                <a:lnTo>
                  <a:pt x="1203566" y="0"/>
                </a:lnTo>
                <a:lnTo>
                  <a:pt x="1203566" y="1602810"/>
                </a:lnTo>
                <a:lnTo>
                  <a:pt x="0" y="16028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sp>
        <p:nvSpPr>
          <p:cNvPr id="2" name="Freeform 2"/>
          <p:cNvSpPr/>
          <p:nvPr/>
        </p:nvSpPr>
        <p:spPr>
          <a:xfrm>
            <a:off x="16055735" y="570195"/>
            <a:ext cx="1013047" cy="1349094"/>
          </a:xfrm>
          <a:custGeom>
            <a:avLst/>
            <a:gdLst/>
            <a:ahLst/>
            <a:cxnLst/>
            <a:rect l="l" t="t" r="r" b="b"/>
            <a:pathLst>
              <a:path w="1013047" h="1349094">
                <a:moveTo>
                  <a:pt x="0" y="0"/>
                </a:moveTo>
                <a:lnTo>
                  <a:pt x="1013047" y="0"/>
                </a:lnTo>
                <a:lnTo>
                  <a:pt x="1013047" y="1349094"/>
                </a:lnTo>
                <a:lnTo>
                  <a:pt x="0" y="134909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2270945" y="5450955"/>
            <a:ext cx="6599290" cy="65992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028700" y="5143500"/>
            <a:ext cx="3797514" cy="4501364"/>
          </a:xfrm>
          <a:custGeom>
            <a:avLst/>
            <a:gdLst/>
            <a:ahLst/>
            <a:cxnLst/>
            <a:rect l="l" t="t" r="r" b="b"/>
            <a:pathLst>
              <a:path w="3797514" h="4501364">
                <a:moveTo>
                  <a:pt x="0" y="0"/>
                </a:moveTo>
                <a:lnTo>
                  <a:pt x="3797514" y="0"/>
                </a:lnTo>
                <a:lnTo>
                  <a:pt x="3797514" y="4501364"/>
                </a:lnTo>
                <a:lnTo>
                  <a:pt x="0" y="45013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4826214" y="1347540"/>
            <a:ext cx="7251529" cy="1124447"/>
          </a:xfrm>
          <a:prstGeom prst="rect">
            <a:avLst/>
          </a:prstGeom>
        </p:spPr>
        <p:txBody>
          <a:bodyPr lIns="0" tIns="0" rIns="0" bIns="0" rtlCol="0" anchor="t">
            <a:spAutoFit/>
          </a:bodyPr>
          <a:lstStyle/>
          <a:p>
            <a:pPr algn="l">
              <a:lnSpc>
                <a:spcPts val="8911"/>
              </a:lnSpc>
            </a:pPr>
            <a:r>
              <a:rPr lang="en-US" sz="7304">
                <a:solidFill>
                  <a:srgbClr val="FCDD05"/>
                </a:solidFill>
                <a:latin typeface="League Spartan"/>
                <a:ea typeface="League Spartan"/>
                <a:cs typeface="League Spartan"/>
                <a:sym typeface="League Spartan"/>
              </a:rPr>
              <a:t>MAZMUNI</a:t>
            </a:r>
          </a:p>
        </p:txBody>
      </p:sp>
      <p:sp>
        <p:nvSpPr>
          <p:cNvPr id="8" name="TextBox 8"/>
          <p:cNvSpPr txBox="1"/>
          <p:nvPr/>
        </p:nvSpPr>
        <p:spPr>
          <a:xfrm>
            <a:off x="5679150" y="3906992"/>
            <a:ext cx="11389632" cy="5751195"/>
          </a:xfrm>
          <a:prstGeom prst="rect">
            <a:avLst/>
          </a:prstGeom>
        </p:spPr>
        <p:txBody>
          <a:bodyPr lIns="0" tIns="0" rIns="0" bIns="0" rtlCol="0" anchor="t">
            <a:spAutoFit/>
          </a:bodyPr>
          <a:lstStyle/>
          <a:p>
            <a:pPr algn="l">
              <a:lnSpc>
                <a:spcPts val="3779"/>
              </a:lnSpc>
            </a:pPr>
            <a:r>
              <a:rPr lang="en-US" sz="2699">
                <a:solidFill>
                  <a:srgbClr val="FFFFFF"/>
                </a:solidFill>
                <a:latin typeface="Times New Roman MT"/>
                <a:ea typeface="Times New Roman MT"/>
                <a:cs typeface="Times New Roman MT"/>
                <a:sym typeface="Times New Roman MT"/>
              </a:rPr>
              <a:t>Ma'lumotlar bazasida biz shunchaki sonlarni saqlamaymiz, biz ularni "ishlatamiz". Yuqoridagi masalada ko‘rib turganingizdek, SQL matematik ifodalari bizga jadvalda yo‘q bo‘lgan ma’lumotlarni bir soniyada hisoblab beradi.</a:t>
            </a:r>
          </a:p>
          <a:p>
            <a:pPr marL="582928" lvl="1" indent="-291464" algn="l">
              <a:lnSpc>
                <a:spcPts val="3779"/>
              </a:lnSpc>
              <a:buFont typeface="Arial"/>
              <a:buChar char="•"/>
            </a:pPr>
            <a:r>
              <a:rPr lang="en-US" sz="2699">
                <a:solidFill>
                  <a:srgbClr val="FFFFFF"/>
                </a:solidFill>
                <a:latin typeface="Times New Roman MT"/>
                <a:ea typeface="Times New Roman MT"/>
                <a:cs typeface="Times New Roman MT"/>
                <a:sym typeface="Times New Roman MT"/>
              </a:rPr>
              <a:t>* (Yulduzcha) operatori orqali biz omborimizdagi jami boylikni bildik.</a:t>
            </a:r>
          </a:p>
          <a:p>
            <a:pPr marL="582928" lvl="1" indent="-291464" algn="l">
              <a:lnSpc>
                <a:spcPts val="3779"/>
              </a:lnSpc>
              <a:buFont typeface="Arial"/>
              <a:buChar char="•"/>
            </a:pPr>
            <a:r>
              <a:rPr lang="en-US" sz="2699">
                <a:solidFill>
                  <a:srgbClr val="FFFFFF"/>
                </a:solidFill>
                <a:latin typeface="Times New Roman MT"/>
                <a:ea typeface="Times New Roman MT"/>
                <a:cs typeface="Times New Roman MT"/>
                <a:sym typeface="Times New Roman MT"/>
              </a:rPr>
              <a:t>0.90 ga ko'paytirish orqali esa murakkab foiz hisob-kitoblarini oddiygina amalga oshirdik.</a:t>
            </a:r>
          </a:p>
          <a:p>
            <a:pPr algn="l">
              <a:lnSpc>
                <a:spcPts val="3779"/>
              </a:lnSpc>
            </a:pPr>
            <a:r>
              <a:rPr lang="en-US" sz="2699">
                <a:solidFill>
                  <a:srgbClr val="FFFFFF"/>
                </a:solidFill>
                <a:latin typeface="Times New Roman MT"/>
                <a:ea typeface="Times New Roman MT"/>
                <a:cs typeface="Times New Roman MT"/>
                <a:sym typeface="Times New Roman MT"/>
              </a:rPr>
              <a:t>Eng qizig'i shundaki, biz bu hisob-kitoblarni qilsak ham, bazadagi asl narxlar o'zgarmaydi. Biz shunchaki Expression (Ifoda) yordamida yangi natijani ekranda "chizib" ko'rsatamiz. Bu xuddi xomashyodan tayyor ovqat pishirishga o'xshaydi: raqamlar — masalliq, matematik amallar esa — oshpazdir.</a:t>
            </a:r>
          </a:p>
          <a:p>
            <a:pPr algn="l">
              <a:lnSpc>
                <a:spcPts val="3779"/>
              </a:lnSpc>
            </a:pPr>
            <a:endParaRPr lang="en-US" sz="2699">
              <a:solidFill>
                <a:srgbClr val="FFFFFF"/>
              </a:solidFill>
              <a:latin typeface="Times New Roman MT"/>
              <a:ea typeface="Times New Roman MT"/>
              <a:cs typeface="Times New Roman MT"/>
              <a:sym typeface="Times New Roman MT"/>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4438"/>
        </a:solidFill>
        <a:effectLst/>
      </p:bgPr>
    </p:bg>
    <p:spTree>
      <p:nvGrpSpPr>
        <p:cNvPr id="1" name=""/>
        <p:cNvGrpSpPr/>
        <p:nvPr/>
      </p:nvGrpSpPr>
      <p:grpSpPr>
        <a:xfrm>
          <a:off x="0" y="0"/>
          <a:ext cx="0" cy="0"/>
          <a:chOff x="0" y="0"/>
          <a:chExt cx="0" cy="0"/>
        </a:xfrm>
      </p:grpSpPr>
      <p:grpSp>
        <p:nvGrpSpPr>
          <p:cNvPr id="2" name="Group 2"/>
          <p:cNvGrpSpPr/>
          <p:nvPr/>
        </p:nvGrpSpPr>
        <p:grpSpPr>
          <a:xfrm>
            <a:off x="13639682" y="4942897"/>
            <a:ext cx="6599290" cy="65992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131601" y="2010211"/>
            <a:ext cx="8156399" cy="8276789"/>
          </a:xfrm>
          <a:custGeom>
            <a:avLst/>
            <a:gdLst/>
            <a:ahLst/>
            <a:cxnLst/>
            <a:rect l="l" t="t" r="r" b="b"/>
            <a:pathLst>
              <a:path w="8156399" h="8276789">
                <a:moveTo>
                  <a:pt x="0" y="0"/>
                </a:moveTo>
                <a:lnTo>
                  <a:pt x="8156399" y="0"/>
                </a:lnTo>
                <a:lnTo>
                  <a:pt x="8156399" y="8276789"/>
                </a:lnTo>
                <a:lnTo>
                  <a:pt x="0" y="827678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1028700" y="3943731"/>
            <a:ext cx="8378166" cy="2390014"/>
          </a:xfrm>
          <a:prstGeom prst="rect">
            <a:avLst/>
          </a:prstGeom>
        </p:spPr>
        <p:txBody>
          <a:bodyPr lIns="0" tIns="0" rIns="0" bIns="0" rtlCol="0" anchor="t">
            <a:spAutoFit/>
          </a:bodyPr>
          <a:lstStyle/>
          <a:p>
            <a:pPr algn="l">
              <a:lnSpc>
                <a:spcPts val="9515"/>
              </a:lnSpc>
            </a:pPr>
            <a:r>
              <a:rPr lang="en-US" sz="7799">
                <a:solidFill>
                  <a:srgbClr val="FCDD05"/>
                </a:solidFill>
                <a:latin typeface="League Spartan"/>
                <a:ea typeface="League Spartan"/>
                <a:cs typeface="League Spartan"/>
                <a:sym typeface="League Spartan"/>
              </a:rPr>
              <a:t>O’SISHDAN TO’XTAMANG</a:t>
            </a:r>
          </a:p>
        </p:txBody>
      </p:sp>
      <p:sp>
        <p:nvSpPr>
          <p:cNvPr id="7" name="Freeform 7"/>
          <p:cNvSpPr/>
          <p:nvPr/>
        </p:nvSpPr>
        <p:spPr>
          <a:xfrm>
            <a:off x="7770636" y="1595438"/>
            <a:ext cx="1013047" cy="1349094"/>
          </a:xfrm>
          <a:custGeom>
            <a:avLst/>
            <a:gdLst/>
            <a:ahLst/>
            <a:cxnLst/>
            <a:rect l="l" t="t" r="r" b="b"/>
            <a:pathLst>
              <a:path w="1013047" h="1349094">
                <a:moveTo>
                  <a:pt x="0" y="0"/>
                </a:moveTo>
                <a:lnTo>
                  <a:pt x="1013047" y="0"/>
                </a:lnTo>
                <a:lnTo>
                  <a:pt x="1013047" y="1349094"/>
                </a:lnTo>
                <a:lnTo>
                  <a:pt x="0" y="13490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722</Words>
  <Application>Microsoft Office PowerPoint</Application>
  <PresentationFormat>Custom</PresentationFormat>
  <Paragraphs>56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League Spartan</vt:lpstr>
      <vt:lpstr>Times New Roman MT</vt:lpstr>
      <vt:lpstr>Calibri</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Yellow White Illustration Data Analyst Presentation</dc:title>
  <cp:lastModifiedBy>safarovhamroali@outlook.com</cp:lastModifiedBy>
  <cp:revision>2</cp:revision>
  <dcterms:created xsi:type="dcterms:W3CDTF">2006-08-16T00:00:00Z</dcterms:created>
  <dcterms:modified xsi:type="dcterms:W3CDTF">2026-04-08T18:12:41Z</dcterms:modified>
  <dc:identifier>DAHGRwaucuk</dc:identifier>
</cp:coreProperties>
</file>